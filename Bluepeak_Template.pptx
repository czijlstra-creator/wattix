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4"/>
  </p:sldMasterIdLst>
  <p:notesMasterIdLst>
    <p:notesMasterId r:id="rId19"/>
  </p:notesMasterIdLst>
  <p:sldIdLst>
    <p:sldId id="279" r:id="rId5"/>
    <p:sldId id="3283" r:id="rId6"/>
    <p:sldId id="3321" r:id="rId7"/>
    <p:sldId id="3319" r:id="rId8"/>
    <p:sldId id="3318" r:id="rId9"/>
    <p:sldId id="3320" r:id="rId10"/>
    <p:sldId id="3285" r:id="rId11"/>
    <p:sldId id="3322" r:id="rId12"/>
    <p:sldId id="3323" r:id="rId13"/>
    <p:sldId id="3324" r:id="rId14"/>
    <p:sldId id="3325" r:id="rId15"/>
    <p:sldId id="3326" r:id="rId16"/>
    <p:sldId id="3315" r:id="rId17"/>
    <p:sldId id="3316" r:id="rId18"/>
  </p:sldIdLst>
  <p:sldSz cx="12192000" cy="6858000"/>
  <p:notesSz cx="9144000" cy="6858000"/>
  <p:embeddedFontLst>
    <p:embeddedFont>
      <p:font typeface="Poppins" panose="00000500000000000000" pitchFamily="2" charset="0"/>
      <p:regular r:id="rId20"/>
      <p:bold r:id="rId21"/>
      <p:italic r:id="rId22"/>
      <p:boldItalic r:id="rId23"/>
    </p:embeddedFont>
    <p:embeddedFont>
      <p:font typeface="Poppins Light" panose="00000400000000000000" pitchFamily="2" charset="0"/>
      <p:regular r:id="rId24"/>
      <p:bold r:id="rId25"/>
      <p:italic r:id="rId26"/>
      <p:boldItalic r:id="rId27"/>
    </p:embeddedFont>
    <p:embeddedFont>
      <p:font typeface="Segoe UI" panose="020B0502040204020203"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7" roundtripDataSignature="AMtx7mjv31BtnY3bDUqgjw+eDNgE0K8oq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02FE70B-2E87-1427-B0A8-0E90B14FB1F8}" name="Jered Heesters" initials="JH" userId="S::j.heesters@bluepeak.energy::02aea818-6014-48d9-8763-e1114e54f3eb" providerId="AD"/>
  <p188:author id="{9AD4CD2B-50B2-31CE-04E5-F619067FEECF}" name="Wiebe Jan Emsbroek" initials="WE" userId="S::w.emsbroek@bluepeak.energy::7573b7df-afd1-4d9e-8c22-b2529937283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C81"/>
    <a:srgbClr val="0026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9D3B49-F2EF-1DC3-B7D6-11FE9A3C0AC7}" v="143" dt="2026-03-26T14:30:37.0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07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7.fntdata"/><Relationship Id="rId21" Type="http://schemas.openxmlformats.org/officeDocument/2006/relationships/font" Target="fonts/font2.fntdata"/><Relationship Id="rId68"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67" Type="http://customschemas.google.com/relationships/presentationmetadata" Target="metadata"/><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font" Target="fonts/font10.fntdata"/><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7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notesMaster" Target="notesMasters/notesMaster1.xml"/><Relationship Id="rId31" Type="http://schemas.openxmlformats.org/officeDocument/2006/relationships/font" Target="fonts/font12.fntdata"/><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69" Type="http://schemas.openxmlformats.org/officeDocument/2006/relationships/viewProps" Target="viewProps.xml"/><Relationship Id="rId8" Type="http://schemas.openxmlformats.org/officeDocument/2006/relationships/slide" Target="slides/slide4.xml"/><Relationship Id="rId72" Type="http://schemas.microsoft.com/office/2016/11/relationships/changesInfo" Target="changesInfos/changesInfo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n Zijlstra" userId="S::c.zijlstra@bluepeak.energy::545b4b9d-66d8-44b2-9521-bd251152aa41" providerId="AD" clId="Web-{219D3B49-F2EF-1DC3-B7D6-11FE9A3C0AC7}"/>
    <pc:docChg chg="addSld delSld modSld">
      <pc:chgData name="Coen Zijlstra" userId="S::c.zijlstra@bluepeak.energy::545b4b9d-66d8-44b2-9521-bd251152aa41" providerId="AD" clId="Web-{219D3B49-F2EF-1DC3-B7D6-11FE9A3C0AC7}" dt="2026-03-26T14:30:37.013" v="128" actId="20577"/>
      <pc:docMkLst>
        <pc:docMk/>
      </pc:docMkLst>
      <pc:sldChg chg="modSp">
        <pc:chgData name="Coen Zijlstra" userId="S::c.zijlstra@bluepeak.energy::545b4b9d-66d8-44b2-9521-bd251152aa41" providerId="AD" clId="Web-{219D3B49-F2EF-1DC3-B7D6-11FE9A3C0AC7}" dt="2026-03-26T14:21:54.474" v="77"/>
        <pc:sldMkLst>
          <pc:docMk/>
          <pc:sldMk cId="481222763" sldId="279"/>
        </pc:sldMkLst>
        <pc:spChg chg="mod">
          <ac:chgData name="Coen Zijlstra" userId="S::c.zijlstra@bluepeak.energy::545b4b9d-66d8-44b2-9521-bd251152aa41" providerId="AD" clId="Web-{219D3B49-F2EF-1DC3-B7D6-11FE9A3C0AC7}" dt="2026-03-26T14:21:54.474" v="77"/>
          <ac:spMkLst>
            <pc:docMk/>
            <pc:sldMk cId="481222763" sldId="279"/>
            <ac:spMk id="4" creationId="{3D593A48-C60E-519F-C1F2-3AB958FB4E17}"/>
          </ac:spMkLst>
        </pc:spChg>
      </pc:sldChg>
      <pc:sldChg chg="addSp delSp modSp">
        <pc:chgData name="Coen Zijlstra" userId="S::c.zijlstra@bluepeak.energy::545b4b9d-66d8-44b2-9521-bd251152aa41" providerId="AD" clId="Web-{219D3B49-F2EF-1DC3-B7D6-11FE9A3C0AC7}" dt="2026-03-26T14:30:37.013" v="128" actId="20577"/>
        <pc:sldMkLst>
          <pc:docMk/>
          <pc:sldMk cId="0" sldId="3283"/>
        </pc:sldMkLst>
        <pc:spChg chg="add del">
          <ac:chgData name="Coen Zijlstra" userId="S::c.zijlstra@bluepeak.energy::545b4b9d-66d8-44b2-9521-bd251152aa41" providerId="AD" clId="Web-{219D3B49-F2EF-1DC3-B7D6-11FE9A3C0AC7}" dt="2026-03-26T14:18:56.034" v="45"/>
          <ac:spMkLst>
            <pc:docMk/>
            <pc:sldMk cId="0" sldId="3283"/>
            <ac:spMk id="3" creationId="{6F69A677-CA99-43CA-66CD-EB986639DE06}"/>
          </ac:spMkLst>
        </pc:spChg>
        <pc:spChg chg="add del">
          <ac:chgData name="Coen Zijlstra" userId="S::c.zijlstra@bluepeak.energy::545b4b9d-66d8-44b2-9521-bd251152aa41" providerId="AD" clId="Web-{219D3B49-F2EF-1DC3-B7D6-11FE9A3C0AC7}" dt="2026-03-26T14:18:56.034" v="44"/>
          <ac:spMkLst>
            <pc:docMk/>
            <pc:sldMk cId="0" sldId="3283"/>
            <ac:spMk id="5" creationId="{E8AAEDE4-648E-43FD-7216-04C56F280599}"/>
          </ac:spMkLst>
        </pc:spChg>
        <pc:spChg chg="mod">
          <ac:chgData name="Coen Zijlstra" userId="S::c.zijlstra@bluepeak.energy::545b4b9d-66d8-44b2-9521-bd251152aa41" providerId="AD" clId="Web-{219D3B49-F2EF-1DC3-B7D6-11FE9A3C0AC7}" dt="2026-03-26T14:18:45.034" v="18" actId="1076"/>
          <ac:spMkLst>
            <pc:docMk/>
            <pc:sldMk cId="0" sldId="3283"/>
            <ac:spMk id="7" creationId="{00000000-0000-0000-0000-000000000000}"/>
          </ac:spMkLst>
        </pc:spChg>
        <pc:spChg chg="add del">
          <ac:chgData name="Coen Zijlstra" userId="S::c.zijlstra@bluepeak.energy::545b4b9d-66d8-44b2-9521-bd251152aa41" providerId="AD" clId="Web-{219D3B49-F2EF-1DC3-B7D6-11FE9A3C0AC7}" dt="2026-03-26T14:18:56.034" v="43"/>
          <ac:spMkLst>
            <pc:docMk/>
            <pc:sldMk cId="0" sldId="3283"/>
            <ac:spMk id="9" creationId="{F251BA8D-F60B-508F-E530-0FE5D56E201E}"/>
          </ac:spMkLst>
        </pc:spChg>
        <pc:spChg chg="add del">
          <ac:chgData name="Coen Zijlstra" userId="S::c.zijlstra@bluepeak.energy::545b4b9d-66d8-44b2-9521-bd251152aa41" providerId="AD" clId="Web-{219D3B49-F2EF-1DC3-B7D6-11FE9A3C0AC7}" dt="2026-03-26T14:18:56.034" v="42"/>
          <ac:spMkLst>
            <pc:docMk/>
            <pc:sldMk cId="0" sldId="3283"/>
            <ac:spMk id="11" creationId="{EFE81BB6-015F-3ACA-B4CF-AD597870BBE9}"/>
          </ac:spMkLst>
        </pc:spChg>
        <pc:spChg chg="mod">
          <ac:chgData name="Coen Zijlstra" userId="S::c.zijlstra@bluepeak.energy::545b4b9d-66d8-44b2-9521-bd251152aa41" providerId="AD" clId="Web-{219D3B49-F2EF-1DC3-B7D6-11FE9A3C0AC7}" dt="2026-03-26T14:18:45.205" v="36" actId="1076"/>
          <ac:spMkLst>
            <pc:docMk/>
            <pc:sldMk cId="0" sldId="3283"/>
            <ac:spMk id="12" creationId="{60804CBC-BBD8-96BE-8E0F-7E176E31ACE7}"/>
          </ac:spMkLst>
        </pc:spChg>
        <pc:spChg chg="mod">
          <ac:chgData name="Coen Zijlstra" userId="S::c.zijlstra@bluepeak.energy::545b4b9d-66d8-44b2-9521-bd251152aa41" providerId="AD" clId="Web-{219D3B49-F2EF-1DC3-B7D6-11FE9A3C0AC7}" dt="2026-03-26T14:18:45.205" v="37" actId="1076"/>
          <ac:spMkLst>
            <pc:docMk/>
            <pc:sldMk cId="0" sldId="3283"/>
            <ac:spMk id="13" creationId="{579CCF7B-0037-8CE8-86DD-AE1BDE507F12}"/>
          </ac:spMkLst>
        </pc:spChg>
        <pc:spChg chg="add mod">
          <ac:chgData name="Coen Zijlstra" userId="S::c.zijlstra@bluepeak.energy::545b4b9d-66d8-44b2-9521-bd251152aa41" providerId="AD" clId="Web-{219D3B49-F2EF-1DC3-B7D6-11FE9A3C0AC7}" dt="2026-03-26T14:19:37.285" v="53" actId="1076"/>
          <ac:spMkLst>
            <pc:docMk/>
            <pc:sldMk cId="0" sldId="3283"/>
            <ac:spMk id="18" creationId="{B0E58A93-6D21-7662-41FB-350EFDBBA651}"/>
          </ac:spMkLst>
        </pc:spChg>
        <pc:spChg chg="add">
          <ac:chgData name="Coen Zijlstra" userId="S::c.zijlstra@bluepeak.energy::545b4b9d-66d8-44b2-9521-bd251152aa41" providerId="AD" clId="Web-{219D3B49-F2EF-1DC3-B7D6-11FE9A3C0AC7}" dt="2026-03-26T14:19:06.003" v="46"/>
          <ac:spMkLst>
            <pc:docMk/>
            <pc:sldMk cId="0" sldId="3283"/>
            <ac:spMk id="19" creationId="{EE944B65-8BB5-905A-FB5D-296AA71BFF5C}"/>
          </ac:spMkLst>
        </pc:spChg>
        <pc:spChg chg="add mod">
          <ac:chgData name="Coen Zijlstra" userId="S::c.zijlstra@bluepeak.energy::545b4b9d-66d8-44b2-9521-bd251152aa41" providerId="AD" clId="Web-{219D3B49-F2EF-1DC3-B7D6-11FE9A3C0AC7}" dt="2026-03-26T14:30:33.231" v="125" actId="20577"/>
          <ac:spMkLst>
            <pc:docMk/>
            <pc:sldMk cId="0" sldId="3283"/>
            <ac:spMk id="20" creationId="{11E9A7EC-88AC-F322-9F54-0622183D93CD}"/>
          </ac:spMkLst>
        </pc:spChg>
        <pc:spChg chg="add mod">
          <ac:chgData name="Coen Zijlstra" userId="S::c.zijlstra@bluepeak.energy::545b4b9d-66d8-44b2-9521-bd251152aa41" providerId="AD" clId="Web-{219D3B49-F2EF-1DC3-B7D6-11FE9A3C0AC7}" dt="2026-03-26T14:30:37.013" v="128" actId="20577"/>
          <ac:spMkLst>
            <pc:docMk/>
            <pc:sldMk cId="0" sldId="3283"/>
            <ac:spMk id="21" creationId="{4EC50209-54E6-4018-A2BF-C3B9EC46BF1F}"/>
          </ac:spMkLst>
        </pc:spChg>
        <pc:spChg chg="mod">
          <ac:chgData name="Coen Zijlstra" userId="S::c.zijlstra@bluepeak.energy::545b4b9d-66d8-44b2-9521-bd251152aa41" providerId="AD" clId="Web-{219D3B49-F2EF-1DC3-B7D6-11FE9A3C0AC7}" dt="2026-03-26T14:19:21.987" v="51" actId="1076"/>
          <ac:spMkLst>
            <pc:docMk/>
            <pc:sldMk cId="0" sldId="3283"/>
            <ac:spMk id="22" creationId="{1EC4AA7E-0CC7-B141-285F-AFCF0A78C033}"/>
          </ac:spMkLst>
        </pc:spChg>
        <pc:spChg chg="mod">
          <ac:chgData name="Coen Zijlstra" userId="S::c.zijlstra@bluepeak.energy::545b4b9d-66d8-44b2-9521-bd251152aa41" providerId="AD" clId="Web-{219D3B49-F2EF-1DC3-B7D6-11FE9A3C0AC7}" dt="2026-03-26T14:18:45.034" v="19" actId="1076"/>
          <ac:spMkLst>
            <pc:docMk/>
            <pc:sldMk cId="0" sldId="3283"/>
            <ac:spMk id="24" creationId="{00000000-0000-0000-0000-000000000000}"/>
          </ac:spMkLst>
        </pc:spChg>
        <pc:spChg chg="mod">
          <ac:chgData name="Coen Zijlstra" userId="S::c.zijlstra@bluepeak.energy::545b4b9d-66d8-44b2-9521-bd251152aa41" providerId="AD" clId="Web-{219D3B49-F2EF-1DC3-B7D6-11FE9A3C0AC7}" dt="2026-03-26T14:20:45.223" v="70" actId="20577"/>
          <ac:spMkLst>
            <pc:docMk/>
            <pc:sldMk cId="0" sldId="3283"/>
            <ac:spMk id="26" creationId="{0F8DA7A5-E28C-C377-AF70-F20923BC09B2}"/>
          </ac:spMkLst>
        </pc:spChg>
        <pc:spChg chg="mod">
          <ac:chgData name="Coen Zijlstra" userId="S::c.zijlstra@bluepeak.energy::545b4b9d-66d8-44b2-9521-bd251152aa41" providerId="AD" clId="Web-{219D3B49-F2EF-1DC3-B7D6-11FE9A3C0AC7}" dt="2026-03-26T14:18:45.049" v="20" actId="1076"/>
          <ac:spMkLst>
            <pc:docMk/>
            <pc:sldMk cId="0" sldId="3283"/>
            <ac:spMk id="27" creationId="{00000000-0000-0000-0000-000000000000}"/>
          </ac:spMkLst>
        </pc:spChg>
        <pc:spChg chg="add">
          <ac:chgData name="Coen Zijlstra" userId="S::c.zijlstra@bluepeak.energy::545b4b9d-66d8-44b2-9521-bd251152aa41" providerId="AD" clId="Web-{219D3B49-F2EF-1DC3-B7D6-11FE9A3C0AC7}" dt="2026-03-26T14:19:06.003" v="46"/>
          <ac:spMkLst>
            <pc:docMk/>
            <pc:sldMk cId="0" sldId="3283"/>
            <ac:spMk id="28" creationId="{C1E4D485-7DDC-127F-AFD9-4BFD77F3A78B}"/>
          </ac:spMkLst>
        </pc:spChg>
        <pc:spChg chg="add">
          <ac:chgData name="Coen Zijlstra" userId="S::c.zijlstra@bluepeak.energy::545b4b9d-66d8-44b2-9521-bd251152aa41" providerId="AD" clId="Web-{219D3B49-F2EF-1DC3-B7D6-11FE9A3C0AC7}" dt="2026-03-26T14:19:06.003" v="46"/>
          <ac:spMkLst>
            <pc:docMk/>
            <pc:sldMk cId="0" sldId="3283"/>
            <ac:spMk id="29" creationId="{4CDBF60A-318F-17AA-B736-3EEF1B68EE88}"/>
          </ac:spMkLst>
        </pc:spChg>
        <pc:spChg chg="mod">
          <ac:chgData name="Coen Zijlstra" userId="S::c.zijlstra@bluepeak.energy::545b4b9d-66d8-44b2-9521-bd251152aa41" providerId="AD" clId="Web-{219D3B49-F2EF-1DC3-B7D6-11FE9A3C0AC7}" dt="2026-03-26T14:22:24.693" v="80" actId="20577"/>
          <ac:spMkLst>
            <pc:docMk/>
            <pc:sldMk cId="0" sldId="3283"/>
            <ac:spMk id="30" creationId="{A2B6AB4F-278A-0CA7-D836-3D8CAE053C4D}"/>
          </ac:spMkLst>
        </pc:spChg>
        <pc:spChg chg="add mod">
          <ac:chgData name="Coen Zijlstra" userId="S::c.zijlstra@bluepeak.energy::545b4b9d-66d8-44b2-9521-bd251152aa41" providerId="AD" clId="Web-{219D3B49-F2EF-1DC3-B7D6-11FE9A3C0AC7}" dt="2026-03-26T14:22:37.162" v="86" actId="20577"/>
          <ac:spMkLst>
            <pc:docMk/>
            <pc:sldMk cId="0" sldId="3283"/>
            <ac:spMk id="31" creationId="{09BB9E7A-297A-4005-CFA3-865E98AC02F1}"/>
          </ac:spMkLst>
        </pc:spChg>
        <pc:spChg chg="add">
          <ac:chgData name="Coen Zijlstra" userId="S::c.zijlstra@bluepeak.energy::545b4b9d-66d8-44b2-9521-bd251152aa41" providerId="AD" clId="Web-{219D3B49-F2EF-1DC3-B7D6-11FE9A3C0AC7}" dt="2026-03-26T14:19:06.003" v="46"/>
          <ac:spMkLst>
            <pc:docMk/>
            <pc:sldMk cId="0" sldId="3283"/>
            <ac:spMk id="32" creationId="{183407AC-6E12-6CEB-052F-E3A0F1968E24}"/>
          </ac:spMkLst>
        </pc:spChg>
        <pc:spChg chg="add">
          <ac:chgData name="Coen Zijlstra" userId="S::c.zijlstra@bluepeak.energy::545b4b9d-66d8-44b2-9521-bd251152aa41" providerId="AD" clId="Web-{219D3B49-F2EF-1DC3-B7D6-11FE9A3C0AC7}" dt="2026-03-26T14:19:06.003" v="46"/>
          <ac:spMkLst>
            <pc:docMk/>
            <pc:sldMk cId="0" sldId="3283"/>
            <ac:spMk id="33" creationId="{87F9EDBA-9A56-1D1B-39D8-E2FA02656612}"/>
          </ac:spMkLst>
        </pc:spChg>
        <pc:spChg chg="mod">
          <ac:chgData name="Coen Zijlstra" userId="S::c.zijlstra@bluepeak.energy::545b4b9d-66d8-44b2-9521-bd251152aa41" providerId="AD" clId="Web-{219D3B49-F2EF-1DC3-B7D6-11FE9A3C0AC7}" dt="2026-03-26T14:18:45.065" v="21" actId="1076"/>
          <ac:spMkLst>
            <pc:docMk/>
            <pc:sldMk cId="0" sldId="3283"/>
            <ac:spMk id="35" creationId="{DC70D422-4FE0-6E4A-6BA3-EF0BA9267772}"/>
          </ac:spMkLst>
        </pc:spChg>
        <pc:spChg chg="mod">
          <ac:chgData name="Coen Zijlstra" userId="S::c.zijlstra@bluepeak.energy::545b4b9d-66d8-44b2-9521-bd251152aa41" providerId="AD" clId="Web-{219D3B49-F2EF-1DC3-B7D6-11FE9A3C0AC7}" dt="2026-03-26T14:18:45.080" v="22" actId="1076"/>
          <ac:spMkLst>
            <pc:docMk/>
            <pc:sldMk cId="0" sldId="3283"/>
            <ac:spMk id="36" creationId="{9606B2BA-91D0-CCC0-10F3-E9B919505908}"/>
          </ac:spMkLst>
        </pc:spChg>
        <pc:spChg chg="mod">
          <ac:chgData name="Coen Zijlstra" userId="S::c.zijlstra@bluepeak.energy::545b4b9d-66d8-44b2-9521-bd251152aa41" providerId="AD" clId="Web-{219D3B49-F2EF-1DC3-B7D6-11FE9A3C0AC7}" dt="2026-03-26T14:22:47.491" v="92" actId="20577"/>
          <ac:spMkLst>
            <pc:docMk/>
            <pc:sldMk cId="0" sldId="3283"/>
            <ac:spMk id="37" creationId="{12F2BEAE-1AA5-EFCC-4C36-1159F3DB9506}"/>
          </ac:spMkLst>
        </pc:spChg>
        <pc:spChg chg="mod">
          <ac:chgData name="Coen Zijlstra" userId="S::c.zijlstra@bluepeak.energy::545b4b9d-66d8-44b2-9521-bd251152aa41" providerId="AD" clId="Web-{219D3B49-F2EF-1DC3-B7D6-11FE9A3C0AC7}" dt="2026-03-26T14:18:45.018" v="17" actId="1076"/>
          <ac:spMkLst>
            <pc:docMk/>
            <pc:sldMk cId="0" sldId="3283"/>
            <ac:spMk id="39" creationId="{36504F26-E489-FA2A-0379-ADA6FE99D9E8}"/>
          </ac:spMkLst>
        </pc:spChg>
        <pc:spChg chg="add mod">
          <ac:chgData name="Coen Zijlstra" userId="S::c.zijlstra@bluepeak.energy::545b4b9d-66d8-44b2-9521-bd251152aa41" providerId="AD" clId="Web-{219D3B49-F2EF-1DC3-B7D6-11FE9A3C0AC7}" dt="2026-03-26T14:23:03.616" v="106" actId="20577"/>
          <ac:spMkLst>
            <pc:docMk/>
            <pc:sldMk cId="0" sldId="3283"/>
            <ac:spMk id="40" creationId="{A0D5056F-4697-E530-9F45-7AF2A927196E}"/>
          </ac:spMkLst>
        </pc:spChg>
        <pc:spChg chg="mod">
          <ac:chgData name="Coen Zijlstra" userId="S::c.zijlstra@bluepeak.energy::545b4b9d-66d8-44b2-9521-bd251152aa41" providerId="AD" clId="Web-{219D3B49-F2EF-1DC3-B7D6-11FE9A3C0AC7}" dt="2026-03-26T14:21:57.802" v="78" actId="20577"/>
          <ac:spMkLst>
            <pc:docMk/>
            <pc:sldMk cId="0" sldId="3283"/>
            <ac:spMk id="41" creationId="{4D8BDAD2-0D8F-B0D9-4CCE-776ACA7072ED}"/>
          </ac:spMkLst>
        </pc:spChg>
        <pc:spChg chg="add mod">
          <ac:chgData name="Coen Zijlstra" userId="S::c.zijlstra@bluepeak.energy::545b4b9d-66d8-44b2-9521-bd251152aa41" providerId="AD" clId="Web-{219D3B49-F2EF-1DC3-B7D6-11FE9A3C0AC7}" dt="2026-03-26T14:28:11.098" v="121" actId="20577"/>
          <ac:spMkLst>
            <pc:docMk/>
            <pc:sldMk cId="0" sldId="3283"/>
            <ac:spMk id="42" creationId="{B7A0FBB2-AFEE-79B6-036F-9387DAC556BC}"/>
          </ac:spMkLst>
        </pc:spChg>
        <pc:spChg chg="mod">
          <ac:chgData name="Coen Zijlstra" userId="S::c.zijlstra@bluepeak.energy::545b4b9d-66d8-44b2-9521-bd251152aa41" providerId="AD" clId="Web-{219D3B49-F2EF-1DC3-B7D6-11FE9A3C0AC7}" dt="2026-03-26T14:18:45.127" v="27" actId="1076"/>
          <ac:spMkLst>
            <pc:docMk/>
            <pc:sldMk cId="0" sldId="3283"/>
            <ac:spMk id="45" creationId="{8044D55B-8E74-3D93-E927-1D6598146C6A}"/>
          </ac:spMkLst>
        </pc:spChg>
        <pc:spChg chg="mod">
          <ac:chgData name="Coen Zijlstra" userId="S::c.zijlstra@bluepeak.energy::545b4b9d-66d8-44b2-9521-bd251152aa41" providerId="AD" clId="Web-{219D3B49-F2EF-1DC3-B7D6-11FE9A3C0AC7}" dt="2026-03-26T14:18:45.159" v="30" actId="1076"/>
          <ac:spMkLst>
            <pc:docMk/>
            <pc:sldMk cId="0" sldId="3283"/>
            <ac:spMk id="48" creationId="{B4B7B154-C9CE-B35E-1E89-7D1DDBFFBFCF}"/>
          </ac:spMkLst>
        </pc:spChg>
        <pc:spChg chg="mod">
          <ac:chgData name="Coen Zijlstra" userId="S::c.zijlstra@bluepeak.energy::545b4b9d-66d8-44b2-9521-bd251152aa41" providerId="AD" clId="Web-{219D3B49-F2EF-1DC3-B7D6-11FE9A3C0AC7}" dt="2026-03-26T14:18:45.190" v="35" actId="1076"/>
          <ac:spMkLst>
            <pc:docMk/>
            <pc:sldMk cId="0" sldId="3283"/>
            <ac:spMk id="60" creationId="{FB6CD420-7651-2E6D-B51C-0F608BBE1ED7}"/>
          </ac:spMkLst>
        </pc:spChg>
        <pc:grpChg chg="mod">
          <ac:chgData name="Coen Zijlstra" userId="S::c.zijlstra@bluepeak.energy::545b4b9d-66d8-44b2-9521-bd251152aa41" providerId="AD" clId="Web-{219D3B49-F2EF-1DC3-B7D6-11FE9A3C0AC7}" dt="2026-03-26T14:19:42.519" v="55" actId="1076"/>
          <ac:grpSpMkLst>
            <pc:docMk/>
            <pc:sldMk cId="0" sldId="3283"/>
            <ac:grpSpMk id="14" creationId="{EBB6D94D-C631-F39D-4FAC-0B3EA45B950C}"/>
          </ac:grpSpMkLst>
        </pc:grpChg>
        <pc:grpChg chg="mod">
          <ac:chgData name="Coen Zijlstra" userId="S::c.zijlstra@bluepeak.energy::545b4b9d-66d8-44b2-9521-bd251152aa41" providerId="AD" clId="Web-{219D3B49-F2EF-1DC3-B7D6-11FE9A3C0AC7}" dt="2026-03-26T14:19:46.707" v="56" actId="1076"/>
          <ac:grpSpMkLst>
            <pc:docMk/>
            <pc:sldMk cId="0" sldId="3283"/>
            <ac:grpSpMk id="15" creationId="{69469391-35F5-5931-C6A2-CF8F8027EF8A}"/>
          </ac:grpSpMkLst>
        </pc:grpChg>
        <pc:grpChg chg="mod">
          <ac:chgData name="Coen Zijlstra" userId="S::c.zijlstra@bluepeak.energy::545b4b9d-66d8-44b2-9521-bd251152aa41" providerId="AD" clId="Web-{219D3B49-F2EF-1DC3-B7D6-11FE9A3C0AC7}" dt="2026-03-26T14:19:15.409" v="49" actId="1076"/>
          <ac:grpSpMkLst>
            <pc:docMk/>
            <pc:sldMk cId="0" sldId="3283"/>
            <ac:grpSpMk id="16" creationId="{C80159B4-1395-BB8A-ABC4-BCF4D53D2E29}"/>
          </ac:grpSpMkLst>
        </pc:grpChg>
        <pc:grpChg chg="mod">
          <ac:chgData name="Coen Zijlstra" userId="S::c.zijlstra@bluepeak.energy::545b4b9d-66d8-44b2-9521-bd251152aa41" providerId="AD" clId="Web-{219D3B49-F2EF-1DC3-B7D6-11FE9A3C0AC7}" dt="2026-03-26T14:19:39.128" v="54" actId="1076"/>
          <ac:grpSpMkLst>
            <pc:docMk/>
            <pc:sldMk cId="0" sldId="3283"/>
            <ac:grpSpMk id="17" creationId="{8B86BD12-02B6-DD25-5470-5F4118516664}"/>
          </ac:grpSpMkLst>
        </pc:grpChg>
        <pc:picChg chg="mod">
          <ac:chgData name="Coen Zijlstra" userId="S::c.zijlstra@bluepeak.energy::545b4b9d-66d8-44b2-9521-bd251152aa41" providerId="AD" clId="Web-{219D3B49-F2EF-1DC3-B7D6-11FE9A3C0AC7}" dt="2026-03-26T14:18:45.096" v="23" actId="1076"/>
          <ac:picMkLst>
            <pc:docMk/>
            <pc:sldMk cId="0" sldId="3283"/>
            <ac:picMk id="38" creationId="{C05021C9-B476-59C5-1B7E-C222345E48A4}"/>
          </ac:picMkLst>
        </pc:picChg>
        <pc:picChg chg="mod">
          <ac:chgData name="Coen Zijlstra" userId="S::c.zijlstra@bluepeak.energy::545b4b9d-66d8-44b2-9521-bd251152aa41" providerId="AD" clId="Web-{219D3B49-F2EF-1DC3-B7D6-11FE9A3C0AC7}" dt="2026-03-26T14:18:45.127" v="26" actId="1076"/>
          <ac:picMkLst>
            <pc:docMk/>
            <pc:sldMk cId="0" sldId="3283"/>
            <ac:picMk id="44" creationId="{23736746-1208-6F82-FD9E-1B692E4989C7}"/>
          </ac:picMkLst>
        </pc:picChg>
        <pc:picChg chg="mod">
          <ac:chgData name="Coen Zijlstra" userId="S::c.zijlstra@bluepeak.energy::545b4b9d-66d8-44b2-9521-bd251152aa41" providerId="AD" clId="Web-{219D3B49-F2EF-1DC3-B7D6-11FE9A3C0AC7}" dt="2026-03-26T14:18:45.143" v="29" actId="1076"/>
          <ac:picMkLst>
            <pc:docMk/>
            <pc:sldMk cId="0" sldId="3283"/>
            <ac:picMk id="47" creationId="{990D1E3C-7B50-FBFB-A91F-02675253E854}"/>
          </ac:picMkLst>
        </pc:picChg>
        <pc:picChg chg="mod">
          <ac:chgData name="Coen Zijlstra" userId="S::c.zijlstra@bluepeak.energy::545b4b9d-66d8-44b2-9521-bd251152aa41" providerId="AD" clId="Web-{219D3B49-F2EF-1DC3-B7D6-11FE9A3C0AC7}" dt="2026-03-26T14:18:45.174" v="32" actId="1076"/>
          <ac:picMkLst>
            <pc:docMk/>
            <pc:sldMk cId="0" sldId="3283"/>
            <ac:picMk id="50" creationId="{5784E6D3-D324-A1FE-6346-2A624FFAE060}"/>
          </ac:picMkLst>
        </pc:picChg>
        <pc:picChg chg="mod">
          <ac:chgData name="Coen Zijlstra" userId="S::c.zijlstra@bluepeak.energy::545b4b9d-66d8-44b2-9521-bd251152aa41" providerId="AD" clId="Web-{219D3B49-F2EF-1DC3-B7D6-11FE9A3C0AC7}" dt="2026-03-26T14:18:45.190" v="34" actId="1076"/>
          <ac:picMkLst>
            <pc:docMk/>
            <pc:sldMk cId="0" sldId="3283"/>
            <ac:picMk id="53" creationId="{9D95991A-6404-A921-F235-D569F6368184}"/>
          </ac:picMkLst>
        </pc:picChg>
        <pc:cxnChg chg="mod">
          <ac:chgData name="Coen Zijlstra" userId="S::c.zijlstra@bluepeak.energy::545b4b9d-66d8-44b2-9521-bd251152aa41" providerId="AD" clId="Web-{219D3B49-F2EF-1DC3-B7D6-11FE9A3C0AC7}" dt="2026-03-26T14:18:45.112" v="25" actId="1076"/>
          <ac:cxnSpMkLst>
            <pc:docMk/>
            <pc:sldMk cId="0" sldId="3283"/>
            <ac:cxnSpMk id="43" creationId="{ABA5CA5E-CF18-ABB5-A8F3-4EFC8E2C92DB}"/>
          </ac:cxnSpMkLst>
        </pc:cxnChg>
        <pc:cxnChg chg="mod">
          <ac:chgData name="Coen Zijlstra" userId="S::c.zijlstra@bluepeak.energy::545b4b9d-66d8-44b2-9521-bd251152aa41" providerId="AD" clId="Web-{219D3B49-F2EF-1DC3-B7D6-11FE9A3C0AC7}" dt="2026-03-26T14:18:45.143" v="28" actId="1076"/>
          <ac:cxnSpMkLst>
            <pc:docMk/>
            <pc:sldMk cId="0" sldId="3283"/>
            <ac:cxnSpMk id="46" creationId="{88794F58-499B-1777-A4D5-3E59A18C0799}"/>
          </ac:cxnSpMkLst>
        </pc:cxnChg>
        <pc:cxnChg chg="mod">
          <ac:chgData name="Coen Zijlstra" userId="S::c.zijlstra@bluepeak.energy::545b4b9d-66d8-44b2-9521-bd251152aa41" providerId="AD" clId="Web-{219D3B49-F2EF-1DC3-B7D6-11FE9A3C0AC7}" dt="2026-03-26T14:18:45.159" v="31" actId="1076"/>
          <ac:cxnSpMkLst>
            <pc:docMk/>
            <pc:sldMk cId="0" sldId="3283"/>
            <ac:cxnSpMk id="49" creationId="{A7C44024-3121-54AD-C4F5-A558FD9CFAA1}"/>
          </ac:cxnSpMkLst>
        </pc:cxnChg>
        <pc:cxnChg chg="mod">
          <ac:chgData name="Coen Zijlstra" userId="S::c.zijlstra@bluepeak.energy::545b4b9d-66d8-44b2-9521-bd251152aa41" providerId="AD" clId="Web-{219D3B49-F2EF-1DC3-B7D6-11FE9A3C0AC7}" dt="2026-03-26T14:18:45.174" v="33" actId="1076"/>
          <ac:cxnSpMkLst>
            <pc:docMk/>
            <pc:sldMk cId="0" sldId="3283"/>
            <ac:cxnSpMk id="52" creationId="{EB466DAF-C287-2815-5186-2618427EB618}"/>
          </ac:cxnSpMkLst>
        </pc:cxnChg>
      </pc:sldChg>
      <pc:sldChg chg="modSp">
        <pc:chgData name="Coen Zijlstra" userId="S::c.zijlstra@bluepeak.energy::545b4b9d-66d8-44b2-9521-bd251152aa41" providerId="AD" clId="Web-{219D3B49-F2EF-1DC3-B7D6-11FE9A3C0AC7}" dt="2026-03-26T14:28:36.975" v="123"/>
        <pc:sldMkLst>
          <pc:docMk/>
          <pc:sldMk cId="2521457880" sldId="3318"/>
        </pc:sldMkLst>
        <pc:spChg chg="mod">
          <ac:chgData name="Coen Zijlstra" userId="S::c.zijlstra@bluepeak.energy::545b4b9d-66d8-44b2-9521-bd251152aa41" providerId="AD" clId="Web-{219D3B49-F2EF-1DC3-B7D6-11FE9A3C0AC7}" dt="2026-03-26T14:28:36.975" v="123"/>
          <ac:spMkLst>
            <pc:docMk/>
            <pc:sldMk cId="2521457880" sldId="3318"/>
            <ac:spMk id="2" creationId="{8997315A-85E2-64CE-449E-49AA2D073346}"/>
          </ac:spMkLst>
        </pc:spChg>
      </pc:sldChg>
      <pc:sldChg chg="modSp">
        <pc:chgData name="Coen Zijlstra" userId="S::c.zijlstra@bluepeak.energy::545b4b9d-66d8-44b2-9521-bd251152aa41" providerId="AD" clId="Web-{219D3B49-F2EF-1DC3-B7D6-11FE9A3C0AC7}" dt="2026-03-26T14:28:36.975" v="123"/>
        <pc:sldMkLst>
          <pc:docMk/>
          <pc:sldMk cId="3031573996" sldId="3319"/>
        </pc:sldMkLst>
        <pc:spChg chg="mod">
          <ac:chgData name="Coen Zijlstra" userId="S::c.zijlstra@bluepeak.energy::545b4b9d-66d8-44b2-9521-bd251152aa41" providerId="AD" clId="Web-{219D3B49-F2EF-1DC3-B7D6-11FE9A3C0AC7}" dt="2026-03-26T14:28:27.505" v="122"/>
          <ac:spMkLst>
            <pc:docMk/>
            <pc:sldMk cId="3031573996" sldId="3319"/>
            <ac:spMk id="23" creationId="{73CB42CF-A42F-7CB6-3F8D-9D2426581D13}"/>
          </ac:spMkLst>
        </pc:spChg>
        <pc:graphicFrameChg chg="modGraphic">
          <ac:chgData name="Coen Zijlstra" userId="S::c.zijlstra@bluepeak.energy::545b4b9d-66d8-44b2-9521-bd251152aa41" providerId="AD" clId="Web-{219D3B49-F2EF-1DC3-B7D6-11FE9A3C0AC7}" dt="2026-03-26T14:28:36.975" v="123"/>
          <ac:graphicFrameMkLst>
            <pc:docMk/>
            <pc:sldMk cId="3031573996" sldId="3319"/>
            <ac:graphicFrameMk id="9" creationId="{CC2A2AC9-22BA-5C80-25F3-EF270D69ED76}"/>
          </ac:graphicFrameMkLst>
        </pc:graphicFrameChg>
      </pc:sldChg>
      <pc:sldChg chg="modSp">
        <pc:chgData name="Coen Zijlstra" userId="S::c.zijlstra@bluepeak.energy::545b4b9d-66d8-44b2-9521-bd251152aa41" providerId="AD" clId="Web-{219D3B49-F2EF-1DC3-B7D6-11FE9A3C0AC7}" dt="2026-03-26T14:28:27.505" v="122"/>
        <pc:sldMkLst>
          <pc:docMk/>
          <pc:sldMk cId="2083612502" sldId="3320"/>
        </pc:sldMkLst>
        <pc:spChg chg="mod">
          <ac:chgData name="Coen Zijlstra" userId="S::c.zijlstra@bluepeak.energy::545b4b9d-66d8-44b2-9521-bd251152aa41" providerId="AD" clId="Web-{219D3B49-F2EF-1DC3-B7D6-11FE9A3C0AC7}" dt="2026-03-26T14:28:27.505" v="122"/>
          <ac:spMkLst>
            <pc:docMk/>
            <pc:sldMk cId="2083612502" sldId="3320"/>
            <ac:spMk id="18" creationId="{BE0DA9AF-7B55-65E5-376A-9708016D1910}"/>
          </ac:spMkLst>
        </pc:spChg>
      </pc:sldChg>
      <pc:sldChg chg="modSp">
        <pc:chgData name="Coen Zijlstra" userId="S::c.zijlstra@bluepeak.energy::545b4b9d-66d8-44b2-9521-bd251152aa41" providerId="AD" clId="Web-{219D3B49-F2EF-1DC3-B7D6-11FE9A3C0AC7}" dt="2026-03-26T14:21:54.474" v="77"/>
        <pc:sldMkLst>
          <pc:docMk/>
          <pc:sldMk cId="486005651" sldId="3321"/>
        </pc:sldMkLst>
        <pc:spChg chg="mod">
          <ac:chgData name="Coen Zijlstra" userId="S::c.zijlstra@bluepeak.energy::545b4b9d-66d8-44b2-9521-bd251152aa41" providerId="AD" clId="Web-{219D3B49-F2EF-1DC3-B7D6-11FE9A3C0AC7}" dt="2026-03-26T14:21:54.474" v="77"/>
          <ac:spMkLst>
            <pc:docMk/>
            <pc:sldMk cId="486005651" sldId="3321"/>
            <ac:spMk id="2" creationId="{0AED17D1-E5EE-32F2-FE87-C1795370CA8C}"/>
          </ac:spMkLst>
        </pc:spChg>
      </pc:sldChg>
      <pc:sldChg chg="modSp">
        <pc:chgData name="Coen Zijlstra" userId="S::c.zijlstra@bluepeak.energy::545b4b9d-66d8-44b2-9521-bd251152aa41" providerId="AD" clId="Web-{219D3B49-F2EF-1DC3-B7D6-11FE9A3C0AC7}" dt="2026-03-26T14:28:27.505" v="122"/>
        <pc:sldMkLst>
          <pc:docMk/>
          <pc:sldMk cId="3427415788" sldId="3322"/>
        </pc:sldMkLst>
        <pc:spChg chg="mod">
          <ac:chgData name="Coen Zijlstra" userId="S::c.zijlstra@bluepeak.energy::545b4b9d-66d8-44b2-9521-bd251152aa41" providerId="AD" clId="Web-{219D3B49-F2EF-1DC3-B7D6-11FE9A3C0AC7}" dt="2026-03-26T14:28:27.505" v="122"/>
          <ac:spMkLst>
            <pc:docMk/>
            <pc:sldMk cId="3427415788" sldId="3322"/>
            <ac:spMk id="18" creationId="{F48AE247-CE74-5C7A-49BE-8B5549A6512B}"/>
          </ac:spMkLst>
        </pc:spChg>
      </pc:sldChg>
      <pc:sldChg chg="modSp">
        <pc:chgData name="Coen Zijlstra" userId="S::c.zijlstra@bluepeak.energy::545b4b9d-66d8-44b2-9521-bd251152aa41" providerId="AD" clId="Web-{219D3B49-F2EF-1DC3-B7D6-11FE9A3C0AC7}" dt="2026-03-26T14:28:36.975" v="123"/>
        <pc:sldMkLst>
          <pc:docMk/>
          <pc:sldMk cId="923899240" sldId="3324"/>
        </pc:sldMkLst>
        <pc:spChg chg="mod">
          <ac:chgData name="Coen Zijlstra" userId="S::c.zijlstra@bluepeak.energy::545b4b9d-66d8-44b2-9521-bd251152aa41" providerId="AD" clId="Web-{219D3B49-F2EF-1DC3-B7D6-11FE9A3C0AC7}" dt="2026-03-26T14:28:36.975" v="123"/>
          <ac:spMkLst>
            <pc:docMk/>
            <pc:sldMk cId="923899240" sldId="3324"/>
            <ac:spMk id="18" creationId="{37BFF36B-0FE1-5F8F-2C10-46B1E184BD2B}"/>
          </ac:spMkLst>
        </pc:spChg>
      </pc:sldChg>
      <pc:sldChg chg="modSp">
        <pc:chgData name="Coen Zijlstra" userId="S::c.zijlstra@bluepeak.energy::545b4b9d-66d8-44b2-9521-bd251152aa41" providerId="AD" clId="Web-{219D3B49-F2EF-1DC3-B7D6-11FE9A3C0AC7}" dt="2026-03-26T14:28:36.975" v="123"/>
        <pc:sldMkLst>
          <pc:docMk/>
          <pc:sldMk cId="1049329528" sldId="3325"/>
        </pc:sldMkLst>
        <pc:spChg chg="mod">
          <ac:chgData name="Coen Zijlstra" userId="S::c.zijlstra@bluepeak.energy::545b4b9d-66d8-44b2-9521-bd251152aa41" providerId="AD" clId="Web-{219D3B49-F2EF-1DC3-B7D6-11FE9A3C0AC7}" dt="2026-03-26T14:28:36.975" v="123"/>
          <ac:spMkLst>
            <pc:docMk/>
            <pc:sldMk cId="1049329528" sldId="3325"/>
            <ac:spMk id="2" creationId="{DA926D5A-4491-6D5F-AD1E-C78832368B9B}"/>
          </ac:spMkLst>
        </pc:spChg>
      </pc:sldChg>
      <pc:sldChg chg="modSp">
        <pc:chgData name="Coen Zijlstra" userId="S::c.zijlstra@bluepeak.energy::545b4b9d-66d8-44b2-9521-bd251152aa41" providerId="AD" clId="Web-{219D3B49-F2EF-1DC3-B7D6-11FE9A3C0AC7}" dt="2026-03-26T14:28:36.975" v="123"/>
        <pc:sldMkLst>
          <pc:docMk/>
          <pc:sldMk cId="2644831373" sldId="3326"/>
        </pc:sldMkLst>
        <pc:spChg chg="mod">
          <ac:chgData name="Coen Zijlstra" userId="S::c.zijlstra@bluepeak.energy::545b4b9d-66d8-44b2-9521-bd251152aa41" providerId="AD" clId="Web-{219D3B49-F2EF-1DC3-B7D6-11FE9A3C0AC7}" dt="2026-03-26T14:28:27.505" v="122"/>
          <ac:spMkLst>
            <pc:docMk/>
            <pc:sldMk cId="2644831373" sldId="3326"/>
            <ac:spMk id="36" creationId="{25135C8F-64EC-7B7E-E76E-1480230B0BF6}"/>
          </ac:spMkLst>
        </pc:spChg>
        <pc:spChg chg="mod">
          <ac:chgData name="Coen Zijlstra" userId="S::c.zijlstra@bluepeak.energy::545b4b9d-66d8-44b2-9521-bd251152aa41" providerId="AD" clId="Web-{219D3B49-F2EF-1DC3-B7D6-11FE9A3C0AC7}" dt="2026-03-26T14:28:36.975" v="123"/>
          <ac:spMkLst>
            <pc:docMk/>
            <pc:sldMk cId="2644831373" sldId="3326"/>
            <ac:spMk id="39" creationId="{0282FC46-B232-767B-AEAC-46991BE46232}"/>
          </ac:spMkLst>
        </pc:spChg>
      </pc:sldChg>
      <pc:sldChg chg="modSp add del">
        <pc:chgData name="Coen Zijlstra" userId="S::c.zijlstra@bluepeak.energy::545b4b9d-66d8-44b2-9521-bd251152aa41" providerId="AD" clId="Web-{219D3B49-F2EF-1DC3-B7D6-11FE9A3C0AC7}" dt="2026-03-26T14:20:25.317" v="57"/>
        <pc:sldMkLst>
          <pc:docMk/>
          <pc:sldMk cId="2396906257" sldId="3327"/>
        </pc:sldMkLst>
        <pc:spChg chg="mod">
          <ac:chgData name="Coen Zijlstra" userId="S::c.zijlstra@bluepeak.energy::545b4b9d-66d8-44b2-9521-bd251152aa41" providerId="AD" clId="Web-{219D3B49-F2EF-1DC3-B7D6-11FE9A3C0AC7}" dt="2026-03-26T09:41:48.276" v="8" actId="20577"/>
          <ac:spMkLst>
            <pc:docMk/>
            <pc:sldMk cId="2396906257" sldId="3327"/>
            <ac:spMk id="3" creationId="{A4B00F7E-5AED-C822-88B8-C4788E17BFBC}"/>
          </ac:spMkLst>
        </pc:spChg>
        <pc:spChg chg="mod">
          <ac:chgData name="Coen Zijlstra" userId="S::c.zijlstra@bluepeak.energy::545b4b9d-66d8-44b2-9521-bd251152aa41" providerId="AD" clId="Web-{219D3B49-F2EF-1DC3-B7D6-11FE9A3C0AC7}" dt="2026-03-26T09:14:06.024" v="1" actId="20577"/>
          <ac:spMkLst>
            <pc:docMk/>
            <pc:sldMk cId="2396906257" sldId="3327"/>
            <ac:spMk id="34" creationId="{F0836135-AD0E-B629-37DE-6A9F510A2D5A}"/>
          </ac:spMkLst>
        </pc:spChg>
      </pc:sldChg>
    </pc:docChg>
  </pc:docChgLst>
  <pc:docChgLst>
    <pc:chgData name="Bram Peperzak" userId="S::b.peperzak@bluepeak.energy::8d5822db-27b0-4f23-9f6a-bd2ec4a16ace" providerId="AD" clId="Web-{8797D9B4-B1BE-A023-3D83-F6EFDF0068CA}"/>
    <pc:docChg chg="modSld">
      <pc:chgData name="Bram Peperzak" userId="S::b.peperzak@bluepeak.energy::8d5822db-27b0-4f23-9f6a-bd2ec4a16ace" providerId="AD" clId="Web-{8797D9B4-B1BE-A023-3D83-F6EFDF0068CA}" dt="2026-03-16T11:59:27.233" v="7" actId="20577"/>
      <pc:docMkLst>
        <pc:docMk/>
      </pc:docMkLst>
      <pc:sldChg chg="modSp">
        <pc:chgData name="Bram Peperzak" userId="S::b.peperzak@bluepeak.energy::8d5822db-27b0-4f23-9f6a-bd2ec4a16ace" providerId="AD" clId="Web-{8797D9B4-B1BE-A023-3D83-F6EFDF0068CA}" dt="2026-03-16T11:59:27.233" v="7" actId="20577"/>
        <pc:sldMkLst>
          <pc:docMk/>
          <pc:sldMk cId="2644831373" sldId="3326"/>
        </pc:sldMkLst>
        <pc:spChg chg="mod">
          <ac:chgData name="Bram Peperzak" userId="S::b.peperzak@bluepeak.energy::8d5822db-27b0-4f23-9f6a-bd2ec4a16ace" providerId="AD" clId="Web-{8797D9B4-B1BE-A023-3D83-F6EFDF0068CA}" dt="2026-03-16T11:59:27.233" v="7" actId="20577"/>
          <ac:spMkLst>
            <pc:docMk/>
            <pc:sldMk cId="2644831373" sldId="3326"/>
            <ac:spMk id="14" creationId="{C1AE39A2-3A4E-7986-7455-FA7146F2971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1%20MG%20Venlo.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3%20MG%20Venlo.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1%20MG%20Venlo.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1%20MG%20Venlo.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1%20MG%20Venlo.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1%20MG%20Venlo.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2%20MG%20Venlo.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2%20MG%20Venlo.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2%20MG%20Venlo.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2%20MG%20Venlo.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3%20MG%20Venlo.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3%20MG%20Venlo.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3%20MG%20Venlo.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https://bluepeakenergy.sharepoint.com/sites/Bluepeak.Energy/Shared%20Documents/04.%20Clients/MG%20Real%20Estate/05%20Advice/20260309%20Solution%203%20MG%20Venlo.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rtl="0">
              <a:defRPr lang="en-GB" sz="1400" b="1" i="0" u="none" strike="noStrike" kern="1200" baseline="0" dirty="0">
                <a:solidFill>
                  <a:srgbClr val="034C81"/>
                </a:solidFill>
                <a:latin typeface="+mn-lt"/>
                <a:ea typeface="+mn-ea"/>
                <a:cs typeface="Poppins" pitchFamily="2" charset="77"/>
              </a:defRPr>
            </a:pPr>
            <a:r>
              <a:rPr lang="en-GB" sz="1400" b="1" i="0" u="none" strike="noStrike" kern="1200" baseline="0">
                <a:solidFill>
                  <a:srgbClr val="034C81"/>
                </a:solidFill>
                <a:latin typeface="+mn-lt"/>
                <a:ea typeface="+mn-ea"/>
                <a:cs typeface="Poppins" pitchFamily="2" charset="77"/>
              </a:rPr>
              <a:t>Energy use case Beersel 1,326 MWh/Year</a:t>
            </a:r>
          </a:p>
        </c:rich>
      </c:tx>
      <c:overlay val="0"/>
    </c:title>
    <c:autoTitleDeleted val="0"/>
    <c:plotArea>
      <c:layout/>
      <c:barChart>
        <c:barDir val="col"/>
        <c:grouping val="stacked"/>
        <c:varyColors val="1"/>
        <c:ser>
          <c:idx val="3"/>
          <c:order val="0"/>
          <c:tx>
            <c:strRef>
              <c:f>'Load Scenario 1'!$E$2</c:f>
              <c:strCache>
                <c:ptCount val="1"/>
                <c:pt idx="0">
                  <c:v>load kwh</c:v>
                </c:pt>
              </c:strCache>
            </c:strRef>
          </c:tx>
          <c:spPr>
            <a:solidFill>
              <a:srgbClr val="064C81"/>
            </a:solidFill>
          </c:spPr>
          <c:invertIfNegative val="0"/>
          <c:cat>
            <c:strRef>
              <c:f>'Load Scenario 1'!$C$3:$C$14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'Load Scenario 1'!$E$3:$E$14</c:f>
              <c:numCache>
                <c:formatCode>_ * #,##0_ ;_ * \-#,##0_ ;_ * "-"??_ ;_ @_ </c:formatCode>
                <c:ptCount val="12"/>
                <c:pt idx="0">
                  <c:v>139720.1309999995</c:v>
                </c:pt>
                <c:pt idx="1">
                  <c:v>122009.86999999979</c:v>
                </c:pt>
                <c:pt idx="2">
                  <c:v>122761.5069999999</c:v>
                </c:pt>
                <c:pt idx="3">
                  <c:v>94061.479999999894</c:v>
                </c:pt>
                <c:pt idx="4">
                  <c:v>96759.017999999953</c:v>
                </c:pt>
                <c:pt idx="5">
                  <c:v>106074.66799999998</c:v>
                </c:pt>
                <c:pt idx="6">
                  <c:v>111694.82199999898</c:v>
                </c:pt>
                <c:pt idx="7">
                  <c:v>105616.93199999996</c:v>
                </c:pt>
                <c:pt idx="8">
                  <c:v>94639.305999999953</c:v>
                </c:pt>
                <c:pt idx="9">
                  <c:v>93849.157999999908</c:v>
                </c:pt>
                <c:pt idx="10">
                  <c:v>114153.8379999999</c:v>
                </c:pt>
                <c:pt idx="11">
                  <c:v>124225.4249999997</c:v>
                </c:pt>
              </c:numCache>
            </c:numRef>
          </c:val>
          <c:extLst>
            <c:ext xmlns:c16="http://schemas.microsoft.com/office/drawing/2014/chart" uri="{C3380CC4-5D6E-409C-BE32-E72D297353CC}">
              <c16:uniqueId val="{00000000-6E06-4162-A9A9-20BD66CFD6A0}"/>
            </c:ext>
          </c:extLst>
        </c:ser>
        <c:dLbls>
          <c:showLegendKey val="0"/>
          <c:showVal val="0"/>
          <c:showCatName val="0"/>
          <c:showSerName val="0"/>
          <c:showPercent val="0"/>
          <c:showBubbleSize val="0"/>
        </c:dLbls>
        <c:gapWidth val="150"/>
        <c:overlap val="100"/>
        <c:axId val="1367635366"/>
        <c:axId val="781056130"/>
      </c:barChart>
      <c:catAx>
        <c:axId val="1367635366"/>
        <c:scaling>
          <c:orientation val="minMax"/>
        </c:scaling>
        <c:delete val="0"/>
        <c:axPos val="b"/>
        <c:title>
          <c:tx>
            <c:rich>
              <a:bodyPr/>
              <a:lstStyle/>
              <a:p>
                <a:pPr>
                  <a:defRPr/>
                </a:pPr>
                <a:endParaRPr lang="en-US"/>
              </a:p>
            </c:rich>
          </c:tx>
          <c:overlay val="0"/>
        </c:title>
        <c:numFmt formatCode="General" sourceLinked="1"/>
        <c:majorTickMark val="none"/>
        <c:minorTickMark val="none"/>
        <c:tickLblPos val="nextTo"/>
        <c:crossAx val="781056130"/>
        <c:crosses val="autoZero"/>
        <c:auto val="1"/>
        <c:lblAlgn val="ctr"/>
        <c:lblOffset val="100"/>
        <c:noMultiLvlLbl val="1"/>
      </c:catAx>
      <c:valAx>
        <c:axId val="781056130"/>
        <c:scaling>
          <c:orientation val="minMax"/>
        </c:scaling>
        <c:delete val="0"/>
        <c:axPos val="l"/>
        <c:majorGridlines>
          <c:spPr>
            <a:ln>
              <a:solidFill>
                <a:srgbClr val="B7B7B7"/>
              </a:solidFill>
            </a:ln>
          </c:spPr>
        </c:majorGridlines>
        <c:title>
          <c:tx>
            <c:rich>
              <a:bodyPr/>
              <a:lstStyle/>
              <a:p>
                <a:pPr>
                  <a:defRPr/>
                </a:pPr>
                <a:endParaRPr lang="en-US"/>
              </a:p>
            </c:rich>
          </c:tx>
          <c:overlay val="0"/>
        </c:title>
        <c:numFmt formatCode="_ * #,##0_ ;_ * \-#,##0_ ;_ * &quot;-&quot;??_ ;_ @_ " sourceLinked="1"/>
        <c:majorTickMark val="none"/>
        <c:minorTickMark val="none"/>
        <c:tickLblPos val="nextTo"/>
        <c:spPr>
          <a:ln/>
        </c:spPr>
        <c:crossAx val="1367635366"/>
        <c:crosses val="autoZero"/>
        <c:crossBetween val="between"/>
      </c:valAx>
      <c:spPr>
        <a:noFill/>
        <a:ln>
          <a:noFill/>
        </a:ln>
      </c:spPr>
    </c:plotArea>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latin typeface="Poppins" pitchFamily="2" charset="77"/>
                <a:cs typeface="Poppins" pitchFamily="2" charset="77"/>
              </a:defRPr>
            </a:pPr>
            <a:r>
              <a:rPr lang="en-GB" sz="1400" b="1">
                <a:solidFill>
                  <a:srgbClr val="034C81"/>
                </a:solidFill>
                <a:latin typeface="+mn-lt"/>
                <a:cs typeface="Poppins" pitchFamily="2" charset="77"/>
              </a:rPr>
              <a:t>Energy</a:t>
            </a:r>
            <a:r>
              <a:rPr lang="en-GB" sz="1400" b="1" baseline="0">
                <a:solidFill>
                  <a:srgbClr val="034C81"/>
                </a:solidFill>
                <a:latin typeface="+mn-lt"/>
                <a:cs typeface="Poppins" pitchFamily="2" charset="77"/>
              </a:rPr>
              <a:t> </a:t>
            </a:r>
            <a:r>
              <a:rPr lang="en-GB" sz="1400" b="1">
                <a:solidFill>
                  <a:srgbClr val="034C81"/>
                </a:solidFill>
                <a:latin typeface="+mn-lt"/>
                <a:cs typeface="Poppins" pitchFamily="2" charset="77"/>
              </a:rPr>
              <a:t>use case Crosswoods 760</a:t>
            </a:r>
            <a:r>
              <a:rPr lang="en-GB" sz="1400" b="1" baseline="0">
                <a:solidFill>
                  <a:srgbClr val="034C81"/>
                </a:solidFill>
                <a:latin typeface="+mn-lt"/>
                <a:cs typeface="Poppins" pitchFamily="2" charset="77"/>
              </a:rPr>
              <a:t> </a:t>
            </a:r>
            <a:r>
              <a:rPr lang="en-GB" sz="1400" b="1" baseline="0" err="1">
                <a:solidFill>
                  <a:srgbClr val="034C81"/>
                </a:solidFill>
                <a:latin typeface="+mn-lt"/>
                <a:cs typeface="Poppins" pitchFamily="2" charset="77"/>
              </a:rPr>
              <a:t>M</a:t>
            </a:r>
            <a:r>
              <a:rPr lang="en-GB" sz="1400" b="1" err="1">
                <a:solidFill>
                  <a:srgbClr val="034C81"/>
                </a:solidFill>
                <a:latin typeface="+mn-lt"/>
                <a:cs typeface="Poppins" pitchFamily="2" charset="77"/>
              </a:rPr>
              <a:t>kWh</a:t>
            </a:r>
            <a:r>
              <a:rPr lang="en-GB" sz="1400" b="1">
                <a:solidFill>
                  <a:srgbClr val="034C81"/>
                </a:solidFill>
                <a:latin typeface="+mn-lt"/>
                <a:cs typeface="Poppins" pitchFamily="2" charset="77"/>
              </a:rPr>
              <a:t>/Year</a:t>
            </a:r>
          </a:p>
        </c:rich>
      </c:tx>
      <c:overlay val="0"/>
    </c:title>
    <c:autoTitleDeleted val="0"/>
    <c:plotArea>
      <c:layout/>
      <c:barChart>
        <c:barDir val="col"/>
        <c:grouping val="stacked"/>
        <c:varyColors val="1"/>
        <c:ser>
          <c:idx val="0"/>
          <c:order val="0"/>
          <c:tx>
            <c:strRef>
              <c:f>'Load Scenario 3'!$E$2</c:f>
              <c:strCache>
                <c:ptCount val="1"/>
                <c:pt idx="0">
                  <c:v>load kwh</c:v>
                </c:pt>
              </c:strCache>
            </c:strRef>
          </c:tx>
          <c:spPr>
            <a:solidFill>
              <a:srgbClr val="064C81"/>
            </a:solidFill>
          </c:spPr>
          <c:invertIfNegative val="0"/>
          <c:cat>
            <c:strRef>
              <c:f>'Load Scenario 3'!$C$3:$C$14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'Load Scenario 3'!$E$3:$E$14</c:f>
              <c:numCache>
                <c:formatCode>_ * #,##0_ ;_ * \-#,##0_ ;_ * "-"??_ ;_ @_ </c:formatCode>
                <c:ptCount val="12"/>
                <c:pt idx="0">
                  <c:v>63538.187999999893</c:v>
                </c:pt>
                <c:pt idx="1">
                  <c:v>66245.084999999905</c:v>
                </c:pt>
                <c:pt idx="2">
                  <c:v>59668.72399999998</c:v>
                </c:pt>
                <c:pt idx="3">
                  <c:v>58476.630999999907</c:v>
                </c:pt>
                <c:pt idx="4">
                  <c:v>56483.292999999983</c:v>
                </c:pt>
                <c:pt idx="5">
                  <c:v>57588.576999999997</c:v>
                </c:pt>
                <c:pt idx="6">
                  <c:v>65615.648999999918</c:v>
                </c:pt>
                <c:pt idx="7">
                  <c:v>64000.329999999944</c:v>
                </c:pt>
                <c:pt idx="8">
                  <c:v>63180.4549999999</c:v>
                </c:pt>
                <c:pt idx="9">
                  <c:v>67643.048999999897</c:v>
                </c:pt>
                <c:pt idx="10">
                  <c:v>65502.299999999901</c:v>
                </c:pt>
                <c:pt idx="11">
                  <c:v>72032.73</c:v>
                </c:pt>
              </c:numCache>
            </c:numRef>
          </c:val>
          <c:extLst>
            <c:ext xmlns:c16="http://schemas.microsoft.com/office/drawing/2014/chart" uri="{C3380CC4-5D6E-409C-BE32-E72D297353CC}">
              <c16:uniqueId val="{00000000-D531-4538-BF8C-FFA561745442}"/>
            </c:ext>
          </c:extLst>
        </c:ser>
        <c:dLbls>
          <c:showLegendKey val="0"/>
          <c:showVal val="0"/>
          <c:showCatName val="0"/>
          <c:showSerName val="0"/>
          <c:showPercent val="0"/>
          <c:showBubbleSize val="0"/>
        </c:dLbls>
        <c:gapWidth val="150"/>
        <c:overlap val="100"/>
        <c:axId val="1367635366"/>
        <c:axId val="781056130"/>
      </c:barChart>
      <c:catAx>
        <c:axId val="1367635366"/>
        <c:scaling>
          <c:orientation val="minMax"/>
        </c:scaling>
        <c:delete val="0"/>
        <c:axPos val="b"/>
        <c:title>
          <c:tx>
            <c:rich>
              <a:bodyPr/>
              <a:lstStyle/>
              <a:p>
                <a:pPr>
                  <a:defRPr/>
                </a:pPr>
                <a:endParaRPr lang="en-US"/>
              </a:p>
            </c:rich>
          </c:tx>
          <c:overlay val="0"/>
        </c:title>
        <c:numFmt formatCode="General" sourceLinked="1"/>
        <c:majorTickMark val="none"/>
        <c:minorTickMark val="none"/>
        <c:tickLblPos val="nextTo"/>
        <c:crossAx val="781056130"/>
        <c:crosses val="autoZero"/>
        <c:auto val="1"/>
        <c:lblAlgn val="ctr"/>
        <c:lblOffset val="100"/>
        <c:noMultiLvlLbl val="1"/>
      </c:catAx>
      <c:valAx>
        <c:axId val="781056130"/>
        <c:scaling>
          <c:orientation val="minMax"/>
        </c:scaling>
        <c:delete val="0"/>
        <c:axPos val="l"/>
        <c:majorGridlines>
          <c:spPr>
            <a:ln>
              <a:solidFill>
                <a:srgbClr val="B7B7B7"/>
              </a:solidFill>
            </a:ln>
          </c:spPr>
        </c:majorGridlines>
        <c:title>
          <c:tx>
            <c:rich>
              <a:bodyPr/>
              <a:lstStyle/>
              <a:p>
                <a:pPr>
                  <a:defRPr/>
                </a:pPr>
                <a:endParaRPr lang="en-US"/>
              </a:p>
            </c:rich>
          </c:tx>
          <c:overlay val="0"/>
        </c:title>
        <c:numFmt formatCode="_ * #,##0_ ;_ * \-#,##0_ ;_ * &quot;-&quot;??_ ;_ @_ " sourceLinked="1"/>
        <c:majorTickMark val="none"/>
        <c:minorTickMark val="none"/>
        <c:tickLblPos val="nextTo"/>
        <c:spPr>
          <a:ln/>
        </c:spPr>
        <c:crossAx val="1367635366"/>
        <c:crosses val="autoZero"/>
        <c:crossBetween val="between"/>
      </c:valAx>
      <c:spPr>
        <a:noFill/>
        <a:ln>
          <a:noFill/>
        </a:ln>
      </c:spPr>
    </c:plotArea>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lang="en-GB" sz="1400" b="1" i="0" u="none" strike="noStrike" kern="1200" baseline="0" dirty="0">
                <a:solidFill>
                  <a:srgbClr val="034C81"/>
                </a:solidFill>
                <a:latin typeface="+mn-lt"/>
                <a:ea typeface="+mn-ea"/>
                <a:cs typeface="Poppins" pitchFamily="2" charset="77"/>
              </a:defRPr>
            </a:pPr>
            <a:r>
              <a:rPr lang="en-GB" sz="1400" b="1" i="0" u="none" strike="noStrike" kern="1200" baseline="0">
                <a:solidFill>
                  <a:srgbClr val="034C81"/>
                </a:solidFill>
                <a:latin typeface="+mn-lt"/>
                <a:ea typeface="+mn-ea"/>
                <a:cs typeface="Poppins" pitchFamily="2" charset="77"/>
              </a:rPr>
              <a:t>Energy use Beersel</a:t>
            </a:r>
          </a:p>
        </c:rich>
      </c:tx>
      <c:overlay val="0"/>
    </c:title>
    <c:autoTitleDeleted val="0"/>
    <c:plotArea>
      <c:layout>
        <c:manualLayout>
          <c:layoutTarget val="inner"/>
          <c:xMode val="edge"/>
          <c:yMode val="edge"/>
          <c:x val="0.1605809133474036"/>
          <c:y val="0.16993710379781618"/>
          <c:w val="0.81612425732098792"/>
          <c:h val="0.6230445120392033"/>
        </c:manualLayout>
      </c:layout>
      <c:barChart>
        <c:barDir val="col"/>
        <c:grouping val="stacked"/>
        <c:varyColors val="1"/>
        <c:ser>
          <c:idx val="3"/>
          <c:order val="0"/>
          <c:tx>
            <c:strRef>
              <c:f>'Load Scenario 1'!$G$2</c:f>
              <c:strCache>
                <c:ptCount val="1"/>
                <c:pt idx="0">
                  <c:v>from Gen [kWh]</c:v>
                </c:pt>
              </c:strCache>
            </c:strRef>
          </c:tx>
          <c:spPr>
            <a:solidFill>
              <a:schemeClr val="tx1">
                <a:lumMod val="50000"/>
                <a:lumOff val="50000"/>
              </a:schemeClr>
            </a:solidFill>
          </c:spPr>
          <c:invertIfNegative val="0"/>
          <c:val>
            <c:numRef>
              <c:f>'Load Scenario 1'!$G$3:$G$14</c:f>
              <c:numCache>
                <c:formatCode>_ * #,##0_ ;_ * \-#,##0_ ;_ * "-"??_ ;_ @_ </c:formatCode>
                <c:ptCount val="12"/>
                <c:pt idx="0">
                  <c:v>53627.656000000003</c:v>
                </c:pt>
                <c:pt idx="1">
                  <c:v>23016.989999999998</c:v>
                </c:pt>
                <c:pt idx="2">
                  <c:v>7566.8189999999995</c:v>
                </c:pt>
                <c:pt idx="3">
                  <c:v>0</c:v>
                </c:pt>
                <c:pt idx="4">
                  <c:v>0</c:v>
                </c:pt>
                <c:pt idx="5">
                  <c:v>0</c:v>
                </c:pt>
                <c:pt idx="6">
                  <c:v>0</c:v>
                </c:pt>
                <c:pt idx="7">
                  <c:v>84.712999999999994</c:v>
                </c:pt>
                <c:pt idx="8">
                  <c:v>0</c:v>
                </c:pt>
                <c:pt idx="9">
                  <c:v>3955.3919999999998</c:v>
                </c:pt>
                <c:pt idx="10">
                  <c:v>38103.542000000001</c:v>
                </c:pt>
                <c:pt idx="11">
                  <c:v>49485.481999999989</c:v>
                </c:pt>
              </c:numCache>
            </c:numRef>
          </c:val>
          <c:extLst>
            <c:ext xmlns:c16="http://schemas.microsoft.com/office/drawing/2014/chart" uri="{C3380CC4-5D6E-409C-BE32-E72D297353CC}">
              <c16:uniqueId val="{00000000-5306-4CCC-BBF1-619BA02A7DCF}"/>
            </c:ext>
          </c:extLst>
        </c:ser>
        <c:ser>
          <c:idx val="1"/>
          <c:order val="1"/>
          <c:tx>
            <c:strRef>
              <c:f>'Load Scenario 1'!$F$2</c:f>
              <c:strCache>
                <c:ptCount val="1"/>
                <c:pt idx="0">
                  <c:v>from Grid [kWh]</c:v>
                </c:pt>
              </c:strCache>
            </c:strRef>
          </c:tx>
          <c:spPr>
            <a:solidFill>
              <a:srgbClr val="064C81"/>
            </a:solidFill>
            <a:ln cmpd="sng">
              <a:noFill/>
            </a:ln>
          </c:spPr>
          <c:invertIfNegative val="1"/>
          <c:cat>
            <c:strRef>
              <c:f>'Load Scenario 1'!$C$3:$C$14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'Load Scenario 1'!$F$3:$F$14</c:f>
              <c:numCache>
                <c:formatCode>_ * #,##0_ ;_ * \-#,##0_ ;_ * "-"??_ ;_ @_ </c:formatCode>
                <c:ptCount val="12"/>
                <c:pt idx="0">
                  <c:v>62653.291047549996</c:v>
                </c:pt>
                <c:pt idx="1">
                  <c:v>40461.804740124404</c:v>
                </c:pt>
                <c:pt idx="2">
                  <c:v>31830.644495974801</c:v>
                </c:pt>
                <c:pt idx="3">
                  <c:v>373.77999999999798</c:v>
                </c:pt>
                <c:pt idx="4">
                  <c:v>1.3999999951920399E-2</c:v>
                </c:pt>
                <c:pt idx="5">
                  <c:v>1.3999999981024301E-2</c:v>
                </c:pt>
                <c:pt idx="6">
                  <c:v>11.1339999999763</c:v>
                </c:pt>
                <c:pt idx="7">
                  <c:v>8326.3672566729601</c:v>
                </c:pt>
                <c:pt idx="8">
                  <c:v>7319.2588936089596</c:v>
                </c:pt>
                <c:pt idx="9">
                  <c:v>32106.5799962616</c:v>
                </c:pt>
                <c:pt idx="10">
                  <c:v>46311.506384481501</c:v>
                </c:pt>
                <c:pt idx="11">
                  <c:v>59224.429865353013</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1-5306-4CCC-BBF1-619BA02A7DCF}"/>
            </c:ext>
          </c:extLst>
        </c:ser>
        <c:ser>
          <c:idx val="2"/>
          <c:order val="2"/>
          <c:tx>
            <c:strRef>
              <c:f>'Load Scenario 1'!$H$2</c:f>
              <c:strCache>
                <c:ptCount val="1"/>
                <c:pt idx="0">
                  <c:v>Stored [kWh]</c:v>
                </c:pt>
              </c:strCache>
            </c:strRef>
          </c:tx>
          <c:spPr>
            <a:solidFill>
              <a:srgbClr val="ACD5E8"/>
            </a:solidFill>
          </c:spPr>
          <c:invertIfNegative val="0"/>
          <c:val>
            <c:numRef>
              <c:f>'Load Scenario 1'!$H$3:$H$14</c:f>
              <c:numCache>
                <c:formatCode>_ * #,##0_ ;_ * \-#,##0_ ;_ * "-"??_ ;_ @_ </c:formatCode>
                <c:ptCount val="12"/>
                <c:pt idx="0">
                  <c:v>1084.4459999999999</c:v>
                </c:pt>
                <c:pt idx="1">
                  <c:v>20336.761999999999</c:v>
                </c:pt>
                <c:pt idx="2">
                  <c:v>37172.468000000001</c:v>
                </c:pt>
                <c:pt idx="3">
                  <c:v>41233.696000000004</c:v>
                </c:pt>
                <c:pt idx="4">
                  <c:v>39012.042999999998</c:v>
                </c:pt>
                <c:pt idx="5">
                  <c:v>39451.091</c:v>
                </c:pt>
                <c:pt idx="6">
                  <c:v>41221.646000000001</c:v>
                </c:pt>
                <c:pt idx="7">
                  <c:v>45529.095000000001</c:v>
                </c:pt>
                <c:pt idx="8">
                  <c:v>41492.724999999999</c:v>
                </c:pt>
                <c:pt idx="9">
                  <c:v>22539.081999999999</c:v>
                </c:pt>
                <c:pt idx="10">
                  <c:v>5003.2309999999998</c:v>
                </c:pt>
                <c:pt idx="11">
                  <c:v>562.99599999999998</c:v>
                </c:pt>
              </c:numCache>
            </c:numRef>
          </c:val>
          <c:extLst>
            <c:ext xmlns:c16="http://schemas.microsoft.com/office/drawing/2014/chart" uri="{C3380CC4-5D6E-409C-BE32-E72D297353CC}">
              <c16:uniqueId val="{00000002-5306-4CCC-BBF1-619BA02A7DCF}"/>
            </c:ext>
          </c:extLst>
        </c:ser>
        <c:ser>
          <c:idx val="0"/>
          <c:order val="3"/>
          <c:tx>
            <c:strRef>
              <c:f>'Load Scenario 1'!$I$2</c:f>
              <c:strCache>
                <c:ptCount val="1"/>
                <c:pt idx="0">
                  <c:v>Local [kWh]</c:v>
                </c:pt>
              </c:strCache>
            </c:strRef>
          </c:tx>
          <c:spPr>
            <a:solidFill>
              <a:srgbClr val="FF9902"/>
            </a:solidFill>
            <a:ln cmpd="sng">
              <a:noFill/>
            </a:ln>
          </c:spPr>
          <c:invertIfNegative val="1"/>
          <c:cat>
            <c:strRef>
              <c:f>'Load Scenario 1'!$C$3:$C$14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'Load Scenario 1'!$I$3:$I$14</c:f>
              <c:numCache>
                <c:formatCode>_ * #,##0_ ;_ * \-#,##0_ ;_ * "-"??_ ;_ @_ </c:formatCode>
                <c:ptCount val="12"/>
                <c:pt idx="0">
                  <c:v>22354.737952449501</c:v>
                </c:pt>
                <c:pt idx="1">
                  <c:v>38194.313259875402</c:v>
                </c:pt>
                <c:pt idx="2">
                  <c:v>46191.575504025102</c:v>
                </c:pt>
                <c:pt idx="3">
                  <c:v>52454.003999999892</c:v>
                </c:pt>
                <c:pt idx="4">
                  <c:v>57746.961000000003</c:v>
                </c:pt>
                <c:pt idx="5">
                  <c:v>66623.562999999995</c:v>
                </c:pt>
                <c:pt idx="6">
                  <c:v>70462.041999998997</c:v>
                </c:pt>
                <c:pt idx="7">
                  <c:v>51676.756743327001</c:v>
                </c:pt>
                <c:pt idx="8">
                  <c:v>45827.322106390995</c:v>
                </c:pt>
                <c:pt idx="9">
                  <c:v>35248.104003738306</c:v>
                </c:pt>
                <c:pt idx="10">
                  <c:v>24735.558615518399</c:v>
                </c:pt>
                <c:pt idx="11">
                  <c:v>14952.517134646701</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3-5306-4CCC-BBF1-619BA02A7DCF}"/>
            </c:ext>
          </c:extLst>
        </c:ser>
        <c:dLbls>
          <c:showLegendKey val="0"/>
          <c:showVal val="0"/>
          <c:showCatName val="0"/>
          <c:showSerName val="0"/>
          <c:showPercent val="0"/>
          <c:showBubbleSize val="0"/>
        </c:dLbls>
        <c:gapWidth val="150"/>
        <c:overlap val="100"/>
        <c:axId val="1367635366"/>
        <c:axId val="781056130"/>
      </c:barChart>
      <c:catAx>
        <c:axId val="1367635366"/>
        <c:scaling>
          <c:orientation val="minMax"/>
        </c:scaling>
        <c:delete val="0"/>
        <c:axPos val="b"/>
        <c:title>
          <c:tx>
            <c:rich>
              <a:bodyPr/>
              <a:lstStyle/>
              <a:p>
                <a:pPr>
                  <a:defRPr/>
                </a:pPr>
                <a:endParaRPr lang="en-US"/>
              </a:p>
            </c:rich>
          </c:tx>
          <c:overlay val="0"/>
        </c:title>
        <c:numFmt formatCode="General" sourceLinked="1"/>
        <c:majorTickMark val="none"/>
        <c:minorTickMark val="none"/>
        <c:tickLblPos val="nextTo"/>
        <c:crossAx val="781056130"/>
        <c:crosses val="autoZero"/>
        <c:auto val="1"/>
        <c:lblAlgn val="ctr"/>
        <c:lblOffset val="100"/>
        <c:noMultiLvlLbl val="1"/>
      </c:catAx>
      <c:valAx>
        <c:axId val="781056130"/>
        <c:scaling>
          <c:orientation val="minMax"/>
        </c:scaling>
        <c:delete val="0"/>
        <c:axPos val="l"/>
        <c:majorGridlines>
          <c:spPr>
            <a:ln>
              <a:solidFill>
                <a:srgbClr val="B7B7B7"/>
              </a:solidFill>
            </a:ln>
          </c:spPr>
        </c:majorGridlines>
        <c:title>
          <c:tx>
            <c:rich>
              <a:bodyPr/>
              <a:lstStyle/>
              <a:p>
                <a:pPr>
                  <a:defRPr/>
                </a:pPr>
                <a:endParaRPr lang="en-US"/>
              </a:p>
            </c:rich>
          </c:tx>
          <c:overlay val="0"/>
        </c:title>
        <c:numFmt formatCode="_ * #,##0_ ;_ * \-#,##0_ ;_ * &quot;-&quot;??_ ;_ @_ " sourceLinked="1"/>
        <c:majorTickMark val="none"/>
        <c:minorTickMark val="none"/>
        <c:tickLblPos val="nextTo"/>
        <c:spPr>
          <a:ln/>
        </c:spPr>
        <c:crossAx val="1367635366"/>
        <c:crosses val="autoZero"/>
        <c:crossBetween val="between"/>
      </c:valAx>
      <c:spPr>
        <a:noFill/>
        <a:ln>
          <a:noFill/>
        </a:ln>
      </c:spPr>
    </c:plotArea>
    <c:legend>
      <c:legendPos val="b"/>
      <c:layout>
        <c:manualLayout>
          <c:xMode val="edge"/>
          <c:yMode val="edge"/>
          <c:x val="0.20764657615763196"/>
          <c:y val="0.90272556570325058"/>
          <c:w val="0.76869707446196844"/>
          <c:h val="7.3039550566943612E-2"/>
        </c:manualLayout>
      </c:layout>
      <c:overlay val="0"/>
    </c:legend>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231011552963541"/>
          <c:y val="2.7504658876208062E-2"/>
          <c:w val="0.14241241060463772"/>
          <c:h val="0.9083984371660383"/>
        </c:manualLayout>
      </c:layout>
      <c:barChart>
        <c:barDir val="col"/>
        <c:grouping val="stacked"/>
        <c:varyColors val="1"/>
        <c:ser>
          <c:idx val="3"/>
          <c:order val="0"/>
          <c:tx>
            <c:strRef>
              <c:f>'Load Scenario 1'!$G$2</c:f>
              <c:strCache>
                <c:ptCount val="1"/>
                <c:pt idx="0">
                  <c:v>from Gen [kWh]</c:v>
                </c:pt>
              </c:strCache>
            </c:strRef>
          </c:tx>
          <c:spPr>
            <a:solidFill>
              <a:schemeClr val="tx1">
                <a:lumMod val="50000"/>
                <a:lumOff val="50000"/>
              </a:schemeClr>
            </a:solidFill>
          </c:spPr>
          <c:invertIfNegative val="0"/>
          <c:dLbls>
            <c:dLbl>
              <c:idx val="0"/>
              <c:layout>
                <c:manualLayout>
                  <c:x val="-0.23514947832545535"/>
                  <c:y val="4.6947125340387492E-3"/>
                </c:manualLayout>
              </c:layout>
              <c:tx>
                <c:rich>
                  <a:bodyPr/>
                  <a:lstStyle/>
                  <a:p>
                    <a:fld id="{05D5CD9F-80FF-426A-B79B-ED996C8B4FC5}" type="VALUE">
                      <a:rPr lang="en-US">
                        <a:solidFill>
                          <a:schemeClr val="tx1">
                            <a:lumMod val="50000"/>
                            <a:lumOff val="50000"/>
                          </a:schemeClr>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0.51786401380347058"/>
                      <c:h val="0.26760575718149288"/>
                    </c:manualLayout>
                  </c15:layout>
                  <c15:dlblFieldTable/>
                  <c15:showDataLabelsRange val="0"/>
                </c:ext>
                <c:ext xmlns:c16="http://schemas.microsoft.com/office/drawing/2014/chart" uri="{C3380CC4-5D6E-409C-BE32-E72D297353CC}">
                  <c16:uniqueId val="{00000000-BCE6-4AEA-A21C-A88954EC0BD6}"/>
                </c:ext>
              </c:extLst>
            </c:dLbl>
            <c:spPr>
              <a:noFill/>
              <a:ln>
                <a:noFill/>
              </a:ln>
              <a:effectLst/>
            </c:spPr>
            <c:txPr>
              <a:bodyPr wrap="square" lIns="38100" tIns="19050" rIns="38100" bIns="19050" anchor="ctr" anchorCtr="0">
                <a:spAutoFit/>
              </a:bodyPr>
              <a:lstStyle/>
              <a:p>
                <a:pPr algn="ctr" rtl="0">
                  <a:defRPr lang="en-US" sz="1200" b="0" i="0" u="none" strike="noStrike" kern="1200" baseline="0">
                    <a:solidFill>
                      <a:schemeClr val="tx1">
                        <a:lumMod val="50000"/>
                        <a:lumOff val="50000"/>
                      </a:schemeClr>
                    </a:solidFill>
                    <a:latin typeface="Poppins" pitchFamily="2" charset="77"/>
                    <a:ea typeface="+mn-ea"/>
                    <a:cs typeface="Poppins" pitchFamily="2" charset="77"/>
                  </a:defRPr>
                </a:pPr>
                <a:endParaRPr lang="nl-N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1'!$G$16</c:f>
              <c:numCache>
                <c:formatCode>_ * #,##0_ ;_ * \-#,##0_ ;_ * "-"??_ ;_ @_ </c:formatCode>
                <c:ptCount val="1"/>
                <c:pt idx="0">
                  <c:v>175840.59399999998</c:v>
                </c:pt>
              </c:numCache>
            </c:numRef>
          </c:val>
          <c:extLst>
            <c:ext xmlns:c16="http://schemas.microsoft.com/office/drawing/2014/chart" uri="{C3380CC4-5D6E-409C-BE32-E72D297353CC}">
              <c16:uniqueId val="{00000001-BCE6-4AEA-A21C-A88954EC0BD6}"/>
            </c:ext>
          </c:extLst>
        </c:ser>
        <c:ser>
          <c:idx val="0"/>
          <c:order val="1"/>
          <c:tx>
            <c:strRef>
              <c:f>'Load Scenario 1'!$F$2</c:f>
              <c:strCache>
                <c:ptCount val="1"/>
                <c:pt idx="0">
                  <c:v>from Grid [kWh]</c:v>
                </c:pt>
              </c:strCache>
            </c:strRef>
          </c:tx>
          <c:spPr>
            <a:solidFill>
              <a:srgbClr val="064C81"/>
            </a:solidFill>
            <a:ln cmpd="sng">
              <a:noFill/>
            </a:ln>
          </c:spPr>
          <c:invertIfNegative val="1"/>
          <c:dLbls>
            <c:dLbl>
              <c:idx val="0"/>
              <c:layout>
                <c:manualLayout>
                  <c:x val="-0.25118893111849311"/>
                  <c:y val="-2.4509903548977852E-2"/>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51390998146169553"/>
                      <c:h val="0.17375003342588077"/>
                    </c:manualLayout>
                  </c15:layout>
                </c:ext>
                <c:ext xmlns:c16="http://schemas.microsoft.com/office/drawing/2014/chart" uri="{C3380CC4-5D6E-409C-BE32-E72D297353CC}">
                  <c16:uniqueId val="{00000002-BCE6-4AEA-A21C-A88954EC0BD6}"/>
                </c:ext>
              </c:extLst>
            </c:dLbl>
            <c:spPr>
              <a:noFill/>
              <a:ln>
                <a:noFill/>
              </a:ln>
              <a:effectLst/>
            </c:spPr>
            <c:txPr>
              <a:bodyPr wrap="square" lIns="38100" tIns="19050" rIns="38100" bIns="19050" anchor="ctr">
                <a:spAutoFit/>
              </a:bodyPr>
              <a:lstStyle/>
              <a:p>
                <a:pPr>
                  <a:defRPr sz="1200" b="0">
                    <a:solidFill>
                      <a:srgbClr val="064C81"/>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1'!$F$16</c:f>
              <c:numCache>
                <c:formatCode>_ * #,##0_ ;_ * \-#,##0_ ;_ * "-"??_ ;_ @_ </c:formatCode>
                <c:ptCount val="1"/>
                <c:pt idx="0">
                  <c:v>288618.82468002709</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3-BCE6-4AEA-A21C-A88954EC0BD6}"/>
            </c:ext>
          </c:extLst>
        </c:ser>
        <c:ser>
          <c:idx val="2"/>
          <c:order val="2"/>
          <c:tx>
            <c:strRef>
              <c:f>'Load Scenario 1'!$H$2</c:f>
              <c:strCache>
                <c:ptCount val="1"/>
                <c:pt idx="0">
                  <c:v>Stored [kWh]</c:v>
                </c:pt>
              </c:strCache>
            </c:strRef>
          </c:tx>
          <c:spPr>
            <a:solidFill>
              <a:srgbClr val="ACD5E8"/>
            </a:solidFill>
          </c:spPr>
          <c:invertIfNegative val="0"/>
          <c:dLbls>
            <c:dLbl>
              <c:idx val="0"/>
              <c:layout>
                <c:manualLayout>
                  <c:x val="-0.22191355155478718"/>
                  <c:y val="-1.4084666074501257E-2"/>
                </c:manualLayout>
              </c:layout>
              <c:spPr>
                <a:noFill/>
                <a:ln>
                  <a:noFill/>
                </a:ln>
                <a:effectLst/>
              </c:spPr>
              <c:txPr>
                <a:bodyPr wrap="square" lIns="38100" tIns="19050" rIns="38100" bIns="19050" anchor="ctr">
                  <a:spAutoFit/>
                </a:bodyPr>
                <a:lstStyle/>
                <a:p>
                  <a:pPr>
                    <a:defRPr sz="1200" b="0">
                      <a:solidFill>
                        <a:srgbClr val="ACD5E8"/>
                      </a:solidFill>
                      <a:latin typeface="Poppins" pitchFamily="2" charset="77"/>
                      <a:cs typeface="Poppins" pitchFamily="2" charset="77"/>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6462310380491717"/>
                      <c:h val="0.26760575718149288"/>
                    </c:manualLayout>
                  </c15:layout>
                </c:ext>
                <c:ext xmlns:c16="http://schemas.microsoft.com/office/drawing/2014/chart" uri="{C3380CC4-5D6E-409C-BE32-E72D297353CC}">
                  <c16:uniqueId val="{00000004-BCE6-4AEA-A21C-A88954EC0BD6}"/>
                </c:ext>
              </c:extLst>
            </c:dLbl>
            <c:spPr>
              <a:noFill/>
              <a:ln>
                <a:noFill/>
              </a:ln>
              <a:effectLst/>
            </c:spPr>
            <c:txPr>
              <a:bodyPr wrap="square" lIns="38100" tIns="19050" rIns="38100" bIns="19050" anchor="ctr">
                <a:spAutoFit/>
              </a:bodyPr>
              <a:lstStyle/>
              <a:p>
                <a:pPr>
                  <a:defRPr sz="1200" b="1">
                    <a:solidFill>
                      <a:srgbClr val="ACD5E8"/>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1'!$H$16</c:f>
              <c:numCache>
                <c:formatCode>_ * #,##0_ ;_ * \-#,##0_ ;_ * "-"??_ ;_ @_ </c:formatCode>
                <c:ptCount val="1"/>
                <c:pt idx="0">
                  <c:v>334639.2809999999</c:v>
                </c:pt>
              </c:numCache>
            </c:numRef>
          </c:val>
          <c:extLst>
            <c:ext xmlns:c16="http://schemas.microsoft.com/office/drawing/2014/chart" uri="{C3380CC4-5D6E-409C-BE32-E72D297353CC}">
              <c16:uniqueId val="{00000005-BCE6-4AEA-A21C-A88954EC0BD6}"/>
            </c:ext>
          </c:extLst>
        </c:ser>
        <c:ser>
          <c:idx val="1"/>
          <c:order val="3"/>
          <c:tx>
            <c:strRef>
              <c:f>'Load Scenario 1'!$I$2</c:f>
              <c:strCache>
                <c:ptCount val="1"/>
                <c:pt idx="0">
                  <c:v>Local [kWh]</c:v>
                </c:pt>
              </c:strCache>
            </c:strRef>
          </c:tx>
          <c:spPr>
            <a:solidFill>
              <a:srgbClr val="FF9902"/>
            </a:solidFill>
            <a:ln cmpd="sng">
              <a:noFill/>
            </a:ln>
          </c:spPr>
          <c:invertIfNegative val="1"/>
          <c:dLbls>
            <c:dLbl>
              <c:idx val="0"/>
              <c:layout>
                <c:manualLayout>
                  <c:x val="-0.20943656810836342"/>
                  <c:y val="3.8978417253444704E-2"/>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66641306944214584"/>
                      <c:h val="0.17375003342588077"/>
                    </c:manualLayout>
                  </c15:layout>
                </c:ext>
                <c:ext xmlns:c16="http://schemas.microsoft.com/office/drawing/2014/chart" uri="{C3380CC4-5D6E-409C-BE32-E72D297353CC}">
                  <c16:uniqueId val="{00000006-BCE6-4AEA-A21C-A88954EC0BD6}"/>
                </c:ext>
              </c:extLst>
            </c:dLbl>
            <c:spPr>
              <a:noFill/>
              <a:ln>
                <a:noFill/>
              </a:ln>
              <a:effectLst/>
            </c:spPr>
            <c:txPr>
              <a:bodyPr wrap="square" lIns="38100" tIns="19050" rIns="38100" bIns="19050" anchor="ctr">
                <a:spAutoFit/>
              </a:bodyPr>
              <a:lstStyle/>
              <a:p>
                <a:pPr>
                  <a:defRPr sz="1200" b="0">
                    <a:solidFill>
                      <a:srgbClr val="FF9902"/>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1'!$I$16</c:f>
              <c:numCache>
                <c:formatCode>_ * #,##0_ ;_ * \-#,##0_ ;_ * "-"??_ ;_ @_ </c:formatCode>
                <c:ptCount val="1"/>
                <c:pt idx="0">
                  <c:v>526467.45531997026</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7-BCE6-4AEA-A21C-A88954EC0BD6}"/>
            </c:ext>
          </c:extLst>
        </c:ser>
        <c:dLbls>
          <c:dLblPos val="ctr"/>
          <c:showLegendKey val="0"/>
          <c:showVal val="1"/>
          <c:showCatName val="0"/>
          <c:showSerName val="0"/>
          <c:showPercent val="0"/>
          <c:showBubbleSize val="0"/>
        </c:dLbls>
        <c:gapWidth val="150"/>
        <c:overlap val="100"/>
        <c:axId val="1719047988"/>
        <c:axId val="986630404"/>
      </c:barChart>
      <c:catAx>
        <c:axId val="1719047988"/>
        <c:scaling>
          <c:orientation val="maxMin"/>
        </c:scaling>
        <c:delete val="1"/>
        <c:axPos val="b"/>
        <c:title>
          <c:tx>
            <c:rich>
              <a:bodyPr/>
              <a:lstStyle/>
              <a:p>
                <a:pPr>
                  <a:defRPr/>
                </a:pPr>
                <a:endParaRPr lang="en-US"/>
              </a:p>
            </c:rich>
          </c:tx>
          <c:overlay val="0"/>
        </c:title>
        <c:numFmt formatCode="General" sourceLinked="1"/>
        <c:majorTickMark val="none"/>
        <c:minorTickMark val="none"/>
        <c:tickLblPos val="nextTo"/>
        <c:crossAx val="986630404"/>
        <c:crosses val="autoZero"/>
        <c:auto val="1"/>
        <c:lblAlgn val="ctr"/>
        <c:lblOffset val="100"/>
        <c:noMultiLvlLbl val="1"/>
      </c:catAx>
      <c:valAx>
        <c:axId val="986630404"/>
        <c:scaling>
          <c:orientation val="minMax"/>
        </c:scaling>
        <c:delete val="1"/>
        <c:axPos val="l"/>
        <c:title>
          <c:tx>
            <c:rich>
              <a:bodyPr/>
              <a:lstStyle/>
              <a:p>
                <a:pPr>
                  <a:defRPr/>
                </a:pPr>
                <a:endParaRPr lang="en-US"/>
              </a:p>
            </c:rich>
          </c:tx>
          <c:overlay val="0"/>
        </c:title>
        <c:numFmt formatCode="_ * #,##0_ ;_ * \-#,##0_ ;_ * &quot;-&quot;??_ ;_ @_ " sourceLinked="1"/>
        <c:majorTickMark val="out"/>
        <c:minorTickMark val="none"/>
        <c:tickLblPos val="nextTo"/>
        <c:crossAx val="1719047988"/>
        <c:crosses val="max"/>
        <c:crossBetween val="between"/>
      </c:valAx>
      <c:spPr>
        <a:noFill/>
        <a:ln>
          <a:noFill/>
        </a:ln>
      </c:spPr>
    </c:plotArea>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rtl="0">
              <a:defRPr lang="en-GB" sz="1400" b="1" i="0" u="none" strike="noStrike" kern="1200" baseline="0" dirty="0">
                <a:solidFill>
                  <a:srgbClr val="034C81"/>
                </a:solidFill>
                <a:latin typeface="+mn-lt"/>
                <a:ea typeface="+mn-ea"/>
                <a:cs typeface="Poppins" pitchFamily="2" charset="77"/>
              </a:defRPr>
            </a:pPr>
            <a:r>
              <a:rPr lang="en-GB" sz="1400" b="1" i="0" u="none" strike="noStrike" kern="1200" baseline="0">
                <a:solidFill>
                  <a:srgbClr val="034C81"/>
                </a:solidFill>
                <a:latin typeface="+mn-lt"/>
                <a:ea typeface="+mn-ea"/>
                <a:cs typeface="Poppins" pitchFamily="2" charset="77"/>
              </a:rPr>
              <a:t>production PV Solution 1</a:t>
            </a:r>
          </a:p>
        </c:rich>
      </c:tx>
      <c:layout>
        <c:manualLayout>
          <c:xMode val="edge"/>
          <c:yMode val="edge"/>
          <c:x val="0.35623649842546012"/>
          <c:y val="4.6750973027633508E-2"/>
        </c:manualLayout>
      </c:layout>
      <c:overlay val="0"/>
    </c:title>
    <c:autoTitleDeleted val="0"/>
    <c:plotArea>
      <c:layout>
        <c:manualLayout>
          <c:layoutTarget val="inner"/>
          <c:xMode val="edge"/>
          <c:yMode val="edge"/>
          <c:x val="0.11375191629073007"/>
          <c:y val="0.21813294033116692"/>
          <c:w val="0.86300216468261004"/>
          <c:h val="0.57835249354975671"/>
        </c:manualLayout>
      </c:layout>
      <c:barChart>
        <c:barDir val="col"/>
        <c:grouping val="stacked"/>
        <c:varyColors val="1"/>
        <c:ser>
          <c:idx val="0"/>
          <c:order val="0"/>
          <c:tx>
            <c:strRef>
              <c:f>'Production Scenario 1'!$E$2</c:f>
              <c:strCache>
                <c:ptCount val="1"/>
                <c:pt idx="0">
                  <c:v>Local use [kWh]</c:v>
                </c:pt>
              </c:strCache>
            </c:strRef>
          </c:tx>
          <c:spPr>
            <a:solidFill>
              <a:srgbClr val="FF9902"/>
            </a:solidFill>
            <a:ln cmpd="sng">
              <a:noFill/>
            </a:ln>
          </c:spPr>
          <c:invertIfNegative val="1"/>
          <c:cat>
            <c:strRef>
              <c:f>'Production Scenario 1'!$C$3:$C$14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'Production Scenario 1'!$E$3:$E$14</c:f>
              <c:numCache>
                <c:formatCode>_ * #,##0_ ;_ * \-#,##0_ ;_ * "-"??_ ;_ @_ </c:formatCode>
                <c:ptCount val="12"/>
                <c:pt idx="0">
                  <c:v>22354.737952449501</c:v>
                </c:pt>
                <c:pt idx="1">
                  <c:v>38194.313259875402</c:v>
                </c:pt>
                <c:pt idx="2">
                  <c:v>46191.575504025102</c:v>
                </c:pt>
                <c:pt idx="3">
                  <c:v>52454.003999999892</c:v>
                </c:pt>
                <c:pt idx="4">
                  <c:v>57746.961000000003</c:v>
                </c:pt>
                <c:pt idx="5">
                  <c:v>66623.562999999995</c:v>
                </c:pt>
                <c:pt idx="6">
                  <c:v>70462.041999998997</c:v>
                </c:pt>
                <c:pt idx="7">
                  <c:v>51676.756743327001</c:v>
                </c:pt>
                <c:pt idx="8">
                  <c:v>45827.322106390995</c:v>
                </c:pt>
                <c:pt idx="9">
                  <c:v>35248.104003738306</c:v>
                </c:pt>
                <c:pt idx="10">
                  <c:v>24735.558615518399</c:v>
                </c:pt>
                <c:pt idx="11">
                  <c:v>14952.517134646701</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0-6E5D-4EAC-995A-694B4CA07FC1}"/>
            </c:ext>
          </c:extLst>
        </c:ser>
        <c:ser>
          <c:idx val="1"/>
          <c:order val="1"/>
          <c:tx>
            <c:strRef>
              <c:f>'Production Scenario 1'!$F$2</c:f>
              <c:strCache>
                <c:ptCount val="1"/>
                <c:pt idx="0">
                  <c:v>Stored [kWh]</c:v>
                </c:pt>
              </c:strCache>
            </c:strRef>
          </c:tx>
          <c:spPr>
            <a:solidFill>
              <a:srgbClr val="ACD5E8"/>
            </a:solidFill>
            <a:ln cmpd="sng">
              <a:noFill/>
            </a:ln>
          </c:spPr>
          <c:invertIfNegative val="1"/>
          <c:cat>
            <c:strRef>
              <c:f>'Production Scenario 1'!$C$3:$C$14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'Production Scenario 1'!$F$3:$F$14</c:f>
              <c:numCache>
                <c:formatCode>_ * #,##0_ ;_ * \-#,##0_ ;_ * "-"??_ ;_ @_ </c:formatCode>
                <c:ptCount val="12"/>
                <c:pt idx="0">
                  <c:v>1084.4459999999999</c:v>
                </c:pt>
                <c:pt idx="1">
                  <c:v>20336.761999999999</c:v>
                </c:pt>
                <c:pt idx="2">
                  <c:v>37172.468000000001</c:v>
                </c:pt>
                <c:pt idx="3">
                  <c:v>41233.696000000004</c:v>
                </c:pt>
                <c:pt idx="4">
                  <c:v>39012.042999999998</c:v>
                </c:pt>
                <c:pt idx="5">
                  <c:v>39451.091</c:v>
                </c:pt>
                <c:pt idx="6">
                  <c:v>41221.646000000001</c:v>
                </c:pt>
                <c:pt idx="7">
                  <c:v>45529.095000000001</c:v>
                </c:pt>
                <c:pt idx="8">
                  <c:v>41492.724999999999</c:v>
                </c:pt>
                <c:pt idx="9">
                  <c:v>22539.081999999999</c:v>
                </c:pt>
                <c:pt idx="10">
                  <c:v>5003.2309999999998</c:v>
                </c:pt>
                <c:pt idx="11">
                  <c:v>562.99599999999998</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1-6E5D-4EAC-995A-694B4CA07FC1}"/>
            </c:ext>
          </c:extLst>
        </c:ser>
        <c:ser>
          <c:idx val="2"/>
          <c:order val="2"/>
          <c:tx>
            <c:strRef>
              <c:f>'Production Scenario 1'!$G$2</c:f>
              <c:strCache>
                <c:ptCount val="1"/>
                <c:pt idx="0">
                  <c:v>Curtailed [kWh]</c:v>
                </c:pt>
              </c:strCache>
            </c:strRef>
          </c:tx>
          <c:spPr>
            <a:solidFill>
              <a:srgbClr val="D9D9D9"/>
            </a:solidFill>
            <a:ln cmpd="sng">
              <a:noFill/>
            </a:ln>
          </c:spPr>
          <c:invertIfNegative val="1"/>
          <c:cat>
            <c:strRef>
              <c:f>'Production Scenario 1'!$C$3:$C$14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'Production Scenario 1'!$G$3:$G$14</c:f>
              <c:numCache>
                <c:formatCode>_ * #,##0_ ;_ * \-#,##0_ ;_ * "-"??_ ;_ @_ </c:formatCode>
                <c:ptCount val="12"/>
                <c:pt idx="0">
                  <c:v>0</c:v>
                </c:pt>
                <c:pt idx="1">
                  <c:v>0</c:v>
                </c:pt>
                <c:pt idx="2">
                  <c:v>1908.809</c:v>
                </c:pt>
                <c:pt idx="3">
                  <c:v>43504.046000000002</c:v>
                </c:pt>
                <c:pt idx="4">
                  <c:v>70947.159</c:v>
                </c:pt>
                <c:pt idx="5">
                  <c:v>72455.202999999994</c:v>
                </c:pt>
                <c:pt idx="6">
                  <c:v>77383.376000000004</c:v>
                </c:pt>
                <c:pt idx="7">
                  <c:v>29052.127</c:v>
                </c:pt>
                <c:pt idx="8">
                  <c:v>8117.1220000000003</c:v>
                </c:pt>
                <c:pt idx="9">
                  <c:v>185.05799999999999</c:v>
                </c:pt>
                <c:pt idx="10">
                  <c:v>0</c:v>
                </c:pt>
                <c:pt idx="11">
                  <c:v>0</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2-6E5D-4EAC-995A-694B4CA07FC1}"/>
            </c:ext>
          </c:extLst>
        </c:ser>
        <c:dLbls>
          <c:showLegendKey val="0"/>
          <c:showVal val="0"/>
          <c:showCatName val="0"/>
          <c:showSerName val="0"/>
          <c:showPercent val="0"/>
          <c:showBubbleSize val="0"/>
        </c:dLbls>
        <c:gapWidth val="150"/>
        <c:overlap val="100"/>
        <c:axId val="878011893"/>
        <c:axId val="1303300568"/>
      </c:barChart>
      <c:catAx>
        <c:axId val="878011893"/>
        <c:scaling>
          <c:orientation val="minMax"/>
        </c:scaling>
        <c:delete val="0"/>
        <c:axPos val="b"/>
        <c:title>
          <c:tx>
            <c:rich>
              <a:bodyPr/>
              <a:lstStyle/>
              <a:p>
                <a:pPr>
                  <a:defRPr/>
                </a:pPr>
                <a:endParaRPr lang="en-US"/>
              </a:p>
            </c:rich>
          </c:tx>
          <c:overlay val="0"/>
        </c:title>
        <c:numFmt formatCode="General" sourceLinked="0"/>
        <c:majorTickMark val="none"/>
        <c:minorTickMark val="none"/>
        <c:tickLblPos val="nextTo"/>
        <c:crossAx val="1303300568"/>
        <c:crosses val="autoZero"/>
        <c:auto val="1"/>
        <c:lblAlgn val="ctr"/>
        <c:lblOffset val="100"/>
        <c:noMultiLvlLbl val="1"/>
      </c:catAx>
      <c:valAx>
        <c:axId val="1303300568"/>
        <c:scaling>
          <c:orientation val="minMax"/>
        </c:scaling>
        <c:delete val="0"/>
        <c:axPos val="l"/>
        <c:majorGridlines>
          <c:spPr>
            <a:ln>
              <a:solidFill>
                <a:srgbClr val="B7B7B7"/>
              </a:solidFill>
            </a:ln>
          </c:spPr>
        </c:majorGridlines>
        <c:title>
          <c:tx>
            <c:rich>
              <a:bodyPr/>
              <a:lstStyle/>
              <a:p>
                <a:pPr>
                  <a:defRPr/>
                </a:pPr>
                <a:endParaRPr lang="en-US"/>
              </a:p>
            </c:rich>
          </c:tx>
          <c:overlay val="0"/>
        </c:title>
        <c:numFmt formatCode="_ * #,##0_ ;_ * \-#,##0_ ;_ * &quot;-&quot;??_ ;_ @_ " sourceLinked="1"/>
        <c:majorTickMark val="none"/>
        <c:minorTickMark val="none"/>
        <c:tickLblPos val="nextTo"/>
        <c:spPr>
          <a:ln/>
        </c:spPr>
        <c:crossAx val="878011893"/>
        <c:crosses val="autoZero"/>
        <c:crossBetween val="between"/>
      </c:valAx>
      <c:spPr>
        <a:noFill/>
        <a:ln>
          <a:noFill/>
        </a:ln>
      </c:spPr>
    </c:plotArea>
    <c:legend>
      <c:legendPos val="b"/>
      <c:layout>
        <c:manualLayout>
          <c:xMode val="edge"/>
          <c:yMode val="edge"/>
          <c:x val="0.12844910927230851"/>
          <c:y val="0.90937530618243578"/>
          <c:w val="0.82504447518479318"/>
          <c:h val="8.6624734782403692E-2"/>
        </c:manualLayout>
      </c:layout>
      <c:overlay val="0"/>
    </c:legend>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581836251051117E-2"/>
          <c:y val="7.1540126548684774E-2"/>
          <c:w val="0.21216775403888899"/>
          <c:h val="0.9083984371660383"/>
        </c:manualLayout>
      </c:layout>
      <c:barChart>
        <c:barDir val="col"/>
        <c:grouping val="stacked"/>
        <c:varyColors val="1"/>
        <c:ser>
          <c:idx val="0"/>
          <c:order val="0"/>
          <c:tx>
            <c:strRef>
              <c:f>'Production Scenario 1'!$E$2</c:f>
              <c:strCache>
                <c:ptCount val="1"/>
                <c:pt idx="0">
                  <c:v>Local use [kWh]</c:v>
                </c:pt>
              </c:strCache>
            </c:strRef>
          </c:tx>
          <c:spPr>
            <a:solidFill>
              <a:srgbClr val="064C81"/>
            </a:solidFill>
            <a:ln cmpd="sng">
              <a:noFill/>
            </a:ln>
          </c:spPr>
          <c:invertIfNegative val="1"/>
          <c:dPt>
            <c:idx val="0"/>
            <c:invertIfNegative val="1"/>
            <c:bubble3D val="0"/>
            <c:spPr>
              <a:solidFill>
                <a:srgbClr val="FF9902"/>
              </a:solidFill>
              <a:ln cmpd="sng">
                <a:noFill/>
              </a:ln>
            </c:spPr>
            <c:extLst>
              <c:ext xmlns:c16="http://schemas.microsoft.com/office/drawing/2014/chart" uri="{C3380CC4-5D6E-409C-BE32-E72D297353CC}">
                <c16:uniqueId val="{00000001-F884-4CC2-B8CC-2B11C65A772E}"/>
              </c:ext>
            </c:extLst>
          </c:dPt>
          <c:dLbls>
            <c:dLbl>
              <c:idx val="0"/>
              <c:layout>
                <c:manualLayout>
                  <c:x val="-0.25281338756457838"/>
                  <c:y val="2.3719558911082488E-7"/>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57154724818276215"/>
                      <c:h val="0.23384615384615384"/>
                    </c:manualLayout>
                  </c15:layout>
                </c:ext>
                <c:ext xmlns:c16="http://schemas.microsoft.com/office/drawing/2014/chart" uri="{C3380CC4-5D6E-409C-BE32-E72D297353CC}">
                  <c16:uniqueId val="{00000001-F884-4CC2-B8CC-2B11C65A772E}"/>
                </c:ext>
              </c:extLst>
            </c:dLbl>
            <c:spPr>
              <a:noFill/>
              <a:ln>
                <a:noFill/>
              </a:ln>
              <a:effectLst/>
            </c:spPr>
            <c:txPr>
              <a:bodyPr/>
              <a:lstStyle/>
              <a:p>
                <a:pPr>
                  <a:defRPr sz="1200" b="0">
                    <a:solidFill>
                      <a:srgbClr val="FF9902"/>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'Production Scenario 1'!$E$15</c:f>
              <c:numCache>
                <c:formatCode>_ * #,##0_ ;_ * \-#,##0_ ;_ * "-"??_ ;_ @_ </c:formatCode>
                <c:ptCount val="1"/>
                <c:pt idx="0">
                  <c:v>526467.45531997026</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2-F884-4CC2-B8CC-2B11C65A772E}"/>
            </c:ext>
          </c:extLst>
        </c:ser>
        <c:ser>
          <c:idx val="1"/>
          <c:order val="1"/>
          <c:tx>
            <c:strRef>
              <c:f>'Production Scenario 1'!$F$2</c:f>
              <c:strCache>
                <c:ptCount val="1"/>
                <c:pt idx="0">
                  <c:v>Stored [kWh]</c:v>
                </c:pt>
              </c:strCache>
            </c:strRef>
          </c:tx>
          <c:spPr>
            <a:solidFill>
              <a:srgbClr val="ACD5E8"/>
            </a:solidFill>
            <a:ln cmpd="sng">
              <a:noFill/>
            </a:ln>
          </c:spPr>
          <c:invertIfNegative val="1"/>
          <c:dLbls>
            <c:dLbl>
              <c:idx val="0"/>
              <c:layout>
                <c:manualLayout>
                  <c:x val="-0.2347556388764242"/>
                  <c:y val="2.053402214932411E-3"/>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53580461320839567"/>
                      <c:h val="0.23384615384615384"/>
                    </c:manualLayout>
                  </c15:layout>
                </c:ext>
                <c:ext xmlns:c16="http://schemas.microsoft.com/office/drawing/2014/chart" uri="{C3380CC4-5D6E-409C-BE32-E72D297353CC}">
                  <c16:uniqueId val="{00000003-F884-4CC2-B8CC-2B11C65A772E}"/>
                </c:ext>
              </c:extLst>
            </c:dLbl>
            <c:spPr>
              <a:noFill/>
              <a:ln>
                <a:noFill/>
              </a:ln>
              <a:effectLst/>
            </c:spPr>
            <c:txPr>
              <a:bodyPr/>
              <a:lstStyle/>
              <a:p>
                <a:pPr>
                  <a:defRPr sz="1200" b="0">
                    <a:solidFill>
                      <a:srgbClr val="ACD5E8"/>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'Production Scenario 1'!$F$15</c:f>
              <c:numCache>
                <c:formatCode>_ * #,##0_ ;_ * \-#,##0_ ;_ * "-"??_ ;_ @_ </c:formatCode>
                <c:ptCount val="1"/>
                <c:pt idx="0">
                  <c:v>334639.2809999999</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4-F884-4CC2-B8CC-2B11C65A772E}"/>
            </c:ext>
          </c:extLst>
        </c:ser>
        <c:ser>
          <c:idx val="2"/>
          <c:order val="2"/>
          <c:tx>
            <c:strRef>
              <c:f>'Production Scenario 1'!$G$2</c:f>
              <c:strCache>
                <c:ptCount val="1"/>
                <c:pt idx="0">
                  <c:v>Curtailed [kWh]</c:v>
                </c:pt>
              </c:strCache>
            </c:strRef>
          </c:tx>
          <c:spPr>
            <a:solidFill>
              <a:srgbClr val="DADADA"/>
            </a:solidFill>
          </c:spPr>
          <c:invertIfNegative val="0"/>
          <c:dLbls>
            <c:dLbl>
              <c:idx val="0"/>
              <c:layout>
                <c:manualLayout>
                  <c:x val="-0.16047069458817001"/>
                  <c:y val="-1.8074066694655746E-2"/>
                </c:manualLayout>
              </c:layout>
              <c:spPr>
                <a:noFill/>
                <a:ln>
                  <a:noFill/>
                </a:ln>
                <a:effectLst/>
              </c:spPr>
              <c:txPr>
                <a:bodyPr wrap="square" lIns="38100" tIns="19050" rIns="38100" bIns="19050" anchor="ctr">
                  <a:spAutoFit/>
                </a:bodyPr>
                <a:lstStyle/>
                <a:p>
                  <a:pPr>
                    <a:defRPr sz="1200" b="0">
                      <a:solidFill>
                        <a:srgbClr val="DADADA"/>
                      </a:solidFill>
                      <a:latin typeface="Poppins" pitchFamily="2" charset="77"/>
                      <a:cs typeface="Poppins" pitchFamily="2" charset="77"/>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6662096519929197"/>
                      <c:h val="0.23384638739258001"/>
                    </c:manualLayout>
                  </c15:layout>
                </c:ext>
                <c:ext xmlns:c16="http://schemas.microsoft.com/office/drawing/2014/chart" uri="{C3380CC4-5D6E-409C-BE32-E72D297353CC}">
                  <c16:uniqueId val="{00000005-F884-4CC2-B8CC-2B11C65A772E}"/>
                </c:ext>
              </c:extLst>
            </c:dLbl>
            <c:spPr>
              <a:noFill/>
              <a:ln>
                <a:noFill/>
              </a:ln>
              <a:effectLst/>
            </c:spPr>
            <c:txPr>
              <a:bodyPr wrap="square" lIns="38100" tIns="19050" rIns="38100" bIns="19050" anchor="ctr">
                <a:spAutoFit/>
              </a:bodyPr>
              <a:lstStyle/>
              <a:p>
                <a:pPr>
                  <a:defRPr sz="1200" b="0">
                    <a:solidFill>
                      <a:srgbClr val="064C81"/>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'Production Scenario 1'!$G$15</c:f>
              <c:numCache>
                <c:formatCode>_ * #,##0_ ;_ * \-#,##0_ ;_ * "-"??_ ;_ @_ </c:formatCode>
                <c:ptCount val="1"/>
                <c:pt idx="0">
                  <c:v>303552.89999999997</c:v>
                </c:pt>
              </c:numCache>
            </c:numRef>
          </c:val>
          <c:extLst>
            <c:ext xmlns:c16="http://schemas.microsoft.com/office/drawing/2014/chart" uri="{C3380CC4-5D6E-409C-BE32-E72D297353CC}">
              <c16:uniqueId val="{00000006-F884-4CC2-B8CC-2B11C65A772E}"/>
            </c:ext>
          </c:extLst>
        </c:ser>
        <c:dLbls>
          <c:dLblPos val="ctr"/>
          <c:showLegendKey val="0"/>
          <c:showVal val="1"/>
          <c:showCatName val="0"/>
          <c:showSerName val="0"/>
          <c:showPercent val="0"/>
          <c:showBubbleSize val="0"/>
        </c:dLbls>
        <c:gapWidth val="150"/>
        <c:overlap val="100"/>
        <c:axId val="1719047988"/>
        <c:axId val="986630404"/>
      </c:barChart>
      <c:catAx>
        <c:axId val="1719047988"/>
        <c:scaling>
          <c:orientation val="maxMin"/>
        </c:scaling>
        <c:delete val="1"/>
        <c:axPos val="b"/>
        <c:title>
          <c:tx>
            <c:rich>
              <a:bodyPr/>
              <a:lstStyle/>
              <a:p>
                <a:pPr>
                  <a:defRPr/>
                </a:pPr>
                <a:endParaRPr lang="en-US"/>
              </a:p>
            </c:rich>
          </c:tx>
          <c:overlay val="0"/>
        </c:title>
        <c:numFmt formatCode="General" sourceLinked="1"/>
        <c:majorTickMark val="none"/>
        <c:minorTickMark val="none"/>
        <c:tickLblPos val="nextTo"/>
        <c:crossAx val="986630404"/>
        <c:crosses val="autoZero"/>
        <c:auto val="1"/>
        <c:lblAlgn val="ctr"/>
        <c:lblOffset val="100"/>
        <c:noMultiLvlLbl val="1"/>
      </c:catAx>
      <c:valAx>
        <c:axId val="986630404"/>
        <c:scaling>
          <c:orientation val="minMax"/>
        </c:scaling>
        <c:delete val="1"/>
        <c:axPos val="l"/>
        <c:title>
          <c:tx>
            <c:rich>
              <a:bodyPr/>
              <a:lstStyle/>
              <a:p>
                <a:pPr>
                  <a:defRPr/>
                </a:pPr>
                <a:endParaRPr lang="en-US"/>
              </a:p>
            </c:rich>
          </c:tx>
          <c:overlay val="0"/>
        </c:title>
        <c:numFmt formatCode="_ * #,##0_ ;_ * \-#,##0_ ;_ * &quot;-&quot;??_ ;_ @_ " sourceLinked="1"/>
        <c:majorTickMark val="out"/>
        <c:minorTickMark val="none"/>
        <c:tickLblPos val="nextTo"/>
        <c:crossAx val="1719047988"/>
        <c:crosses val="max"/>
        <c:crossBetween val="between"/>
      </c:valAx>
      <c:spPr>
        <a:noFill/>
        <a:ln>
          <a:noFill/>
        </a:ln>
      </c:spPr>
    </c:plotArea>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lang="en-GB" sz="1400" b="1" i="0" u="none" strike="noStrike" kern="1200" baseline="0" dirty="0">
                <a:solidFill>
                  <a:srgbClr val="034C81"/>
                </a:solidFill>
                <a:latin typeface="+mn-lt"/>
                <a:ea typeface="+mn-ea"/>
                <a:cs typeface="Poppins" pitchFamily="2" charset="77"/>
              </a:defRPr>
            </a:pPr>
            <a:r>
              <a:rPr lang="en-GB" sz="1400" b="1" i="0" u="none" strike="noStrike" kern="1200" baseline="0">
                <a:solidFill>
                  <a:srgbClr val="034C81"/>
                </a:solidFill>
                <a:latin typeface="+mn-lt"/>
                <a:ea typeface="+mn-ea"/>
                <a:cs typeface="Poppins" pitchFamily="2" charset="77"/>
              </a:rPr>
              <a:t>Energy use Beersel</a:t>
            </a:r>
          </a:p>
        </c:rich>
      </c:tx>
      <c:overlay val="0"/>
    </c:title>
    <c:autoTitleDeleted val="0"/>
    <c:plotArea>
      <c:layout>
        <c:manualLayout>
          <c:layoutTarget val="inner"/>
          <c:xMode val="edge"/>
          <c:yMode val="edge"/>
          <c:x val="0.1295246201700832"/>
          <c:y val="0.19669312329998553"/>
          <c:w val="0.84244387378157259"/>
          <c:h val="0.59174473526985438"/>
        </c:manualLayout>
      </c:layout>
      <c:barChart>
        <c:barDir val="col"/>
        <c:grouping val="stacked"/>
        <c:varyColors val="1"/>
        <c:ser>
          <c:idx val="3"/>
          <c:order val="0"/>
          <c:tx>
            <c:strRef>
              <c:f>'Load Scenario 2'!$G$2</c:f>
              <c:strCache>
                <c:ptCount val="1"/>
                <c:pt idx="0">
                  <c:v>from Gen [kWh]</c:v>
                </c:pt>
              </c:strCache>
            </c:strRef>
          </c:tx>
          <c:spPr>
            <a:solidFill>
              <a:schemeClr val="tx1">
                <a:lumMod val="50000"/>
                <a:lumOff val="50000"/>
              </a:schemeClr>
            </a:solidFill>
          </c:spPr>
          <c:invertIfNegative val="0"/>
          <c:val>
            <c:numRef>
              <c:f>'Load Scenario 2'!$G$3:$G$14</c:f>
              <c:numCache>
                <c:formatCode>_ * #,##0_ ;_ * \-#,##0_ ;_ * "-"??_ ;_ @_ </c:formatCode>
                <c:ptCount val="12"/>
                <c:pt idx="0">
                  <c:v>76541.025000000009</c:v>
                </c:pt>
                <c:pt idx="1">
                  <c:v>30696.964</c:v>
                </c:pt>
                <c:pt idx="2">
                  <c:v>12790.812</c:v>
                </c:pt>
                <c:pt idx="3">
                  <c:v>0</c:v>
                </c:pt>
                <c:pt idx="4">
                  <c:v>0</c:v>
                </c:pt>
                <c:pt idx="5">
                  <c:v>0</c:v>
                </c:pt>
                <c:pt idx="6">
                  <c:v>0</c:v>
                </c:pt>
                <c:pt idx="7">
                  <c:v>1354.64</c:v>
                </c:pt>
                <c:pt idx="8">
                  <c:v>0</c:v>
                </c:pt>
                <c:pt idx="9">
                  <c:v>6783.9870000000001</c:v>
                </c:pt>
                <c:pt idx="10">
                  <c:v>45594.94400000001</c:v>
                </c:pt>
                <c:pt idx="11">
                  <c:v>68305.804999999993</c:v>
                </c:pt>
              </c:numCache>
            </c:numRef>
          </c:val>
          <c:extLst>
            <c:ext xmlns:c16="http://schemas.microsoft.com/office/drawing/2014/chart" uri="{C3380CC4-5D6E-409C-BE32-E72D297353CC}">
              <c16:uniqueId val="{00000000-18A9-4FAA-8BDB-4AEB3DE8147C}"/>
            </c:ext>
          </c:extLst>
        </c:ser>
        <c:ser>
          <c:idx val="1"/>
          <c:order val="1"/>
          <c:tx>
            <c:strRef>
              <c:f>'Load Scenario 2'!$F$2</c:f>
              <c:strCache>
                <c:ptCount val="1"/>
                <c:pt idx="0">
                  <c:v>from Grid [kWh]</c:v>
                </c:pt>
              </c:strCache>
            </c:strRef>
          </c:tx>
          <c:spPr>
            <a:solidFill>
              <a:srgbClr val="064C81"/>
            </a:solidFill>
            <a:ln cmpd="sng">
              <a:noFill/>
            </a:ln>
          </c:spPr>
          <c:invertIfNegative val="1"/>
          <c:cat>
            <c:strRef>
              <c:f>'Load Scenario 2'!$C$3:$C$14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'Load Scenario 2'!$F$3:$F$14</c:f>
              <c:numCache>
                <c:formatCode>_ * #,##0_ ;_ * \-#,##0_ ;_ * "-"??_ ;_ @_ </c:formatCode>
                <c:ptCount val="12"/>
                <c:pt idx="0">
                  <c:v>40657.338396152991</c:v>
                </c:pt>
                <c:pt idx="1">
                  <c:v>34203.901529445298</c:v>
                </c:pt>
                <c:pt idx="2">
                  <c:v>30757.719514143901</c:v>
                </c:pt>
                <c:pt idx="3">
                  <c:v>1722.79799999998</c:v>
                </c:pt>
                <c:pt idx="4">
                  <c:v>986.47099999997499</c:v>
                </c:pt>
                <c:pt idx="5">
                  <c:v>936.00100000001805</c:v>
                </c:pt>
                <c:pt idx="6">
                  <c:v>1356.94299999995</c:v>
                </c:pt>
                <c:pt idx="7">
                  <c:v>12240.182944365</c:v>
                </c:pt>
                <c:pt idx="8">
                  <c:v>11410.734208921</c:v>
                </c:pt>
                <c:pt idx="9">
                  <c:v>32974.772763279696</c:v>
                </c:pt>
                <c:pt idx="10">
                  <c:v>38911.844736984589</c:v>
                </c:pt>
                <c:pt idx="11">
                  <c:v>40729.63812935201</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1-18A9-4FAA-8BDB-4AEB3DE8147C}"/>
            </c:ext>
          </c:extLst>
        </c:ser>
        <c:ser>
          <c:idx val="2"/>
          <c:order val="2"/>
          <c:tx>
            <c:strRef>
              <c:f>'Load Scenario 2'!$H$2</c:f>
              <c:strCache>
                <c:ptCount val="1"/>
                <c:pt idx="0">
                  <c:v>Stored [kWh]</c:v>
                </c:pt>
              </c:strCache>
            </c:strRef>
          </c:tx>
          <c:spPr>
            <a:solidFill>
              <a:srgbClr val="ACD5E8"/>
            </a:solidFill>
          </c:spPr>
          <c:invertIfNegative val="0"/>
          <c:val>
            <c:numRef>
              <c:f>'Load Scenario 2'!$H$3:$H$14</c:f>
              <c:numCache>
                <c:formatCode>_ * #,##0_ ;_ * \-#,##0_ ;_ * "-"??_ ;_ @_ </c:formatCode>
                <c:ptCount val="12"/>
                <c:pt idx="0">
                  <c:v>606.30600000000004</c:v>
                </c:pt>
                <c:pt idx="1">
                  <c:v>16327.0359999999</c:v>
                </c:pt>
                <c:pt idx="2">
                  <c:v>30354.186000000002</c:v>
                </c:pt>
                <c:pt idx="3">
                  <c:v>40368.646999999997</c:v>
                </c:pt>
                <c:pt idx="4">
                  <c:v>37853.165999999903</c:v>
                </c:pt>
                <c:pt idx="5">
                  <c:v>38171.294000000002</c:v>
                </c:pt>
                <c:pt idx="6">
                  <c:v>39266.731</c:v>
                </c:pt>
                <c:pt idx="7">
                  <c:v>38607.491999999998</c:v>
                </c:pt>
                <c:pt idx="8">
                  <c:v>36090.176999999901</c:v>
                </c:pt>
                <c:pt idx="9">
                  <c:v>18671.772000000001</c:v>
                </c:pt>
                <c:pt idx="10">
                  <c:v>4169.3429999999998</c:v>
                </c:pt>
                <c:pt idx="11">
                  <c:v>351.83499999999998</c:v>
                </c:pt>
              </c:numCache>
            </c:numRef>
          </c:val>
          <c:extLst>
            <c:ext xmlns:c16="http://schemas.microsoft.com/office/drawing/2014/chart" uri="{C3380CC4-5D6E-409C-BE32-E72D297353CC}">
              <c16:uniqueId val="{00000002-18A9-4FAA-8BDB-4AEB3DE8147C}"/>
            </c:ext>
          </c:extLst>
        </c:ser>
        <c:ser>
          <c:idx val="0"/>
          <c:order val="3"/>
          <c:tx>
            <c:strRef>
              <c:f>'Load Scenario 2'!$I$2</c:f>
              <c:strCache>
                <c:ptCount val="1"/>
                <c:pt idx="0">
                  <c:v>Local [kWh]</c:v>
                </c:pt>
              </c:strCache>
            </c:strRef>
          </c:tx>
          <c:spPr>
            <a:solidFill>
              <a:srgbClr val="FF9902"/>
            </a:solidFill>
            <a:ln cmpd="sng">
              <a:noFill/>
            </a:ln>
          </c:spPr>
          <c:invertIfNegative val="1"/>
          <c:cat>
            <c:strRef>
              <c:f>'Load Scenario 2'!$C$3:$C$14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'Load Scenario 2'!$I$3:$I$14</c:f>
              <c:numCache>
                <c:formatCode>_ * #,##0_ ;_ * \-#,##0_ ;_ * "-"??_ ;_ @_ </c:formatCode>
                <c:ptCount val="12"/>
                <c:pt idx="0">
                  <c:v>21915.461603846899</c:v>
                </c:pt>
                <c:pt idx="1">
                  <c:v>40781.968470554602</c:v>
                </c:pt>
                <c:pt idx="2">
                  <c:v>48858.789485856003</c:v>
                </c:pt>
                <c:pt idx="3">
                  <c:v>51970.035000000003</c:v>
                </c:pt>
                <c:pt idx="4">
                  <c:v>57919.381000000001</c:v>
                </c:pt>
                <c:pt idx="5">
                  <c:v>66967.372999999003</c:v>
                </c:pt>
                <c:pt idx="6">
                  <c:v>71071.147999998997</c:v>
                </c:pt>
                <c:pt idx="7">
                  <c:v>53414.617055634895</c:v>
                </c:pt>
                <c:pt idx="8">
                  <c:v>47138.394791078994</c:v>
                </c:pt>
                <c:pt idx="9">
                  <c:v>35418.626236720098</c:v>
                </c:pt>
                <c:pt idx="10">
                  <c:v>25477.7062630152</c:v>
                </c:pt>
                <c:pt idx="11">
                  <c:v>14838.146870647</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3-18A9-4FAA-8BDB-4AEB3DE8147C}"/>
            </c:ext>
          </c:extLst>
        </c:ser>
        <c:dLbls>
          <c:showLegendKey val="0"/>
          <c:showVal val="0"/>
          <c:showCatName val="0"/>
          <c:showSerName val="0"/>
          <c:showPercent val="0"/>
          <c:showBubbleSize val="0"/>
        </c:dLbls>
        <c:gapWidth val="150"/>
        <c:overlap val="100"/>
        <c:axId val="1367635366"/>
        <c:axId val="781056130"/>
      </c:barChart>
      <c:catAx>
        <c:axId val="1367635366"/>
        <c:scaling>
          <c:orientation val="minMax"/>
        </c:scaling>
        <c:delete val="0"/>
        <c:axPos val="b"/>
        <c:title>
          <c:tx>
            <c:rich>
              <a:bodyPr/>
              <a:lstStyle/>
              <a:p>
                <a:pPr>
                  <a:defRPr/>
                </a:pPr>
                <a:endParaRPr lang="en-US"/>
              </a:p>
            </c:rich>
          </c:tx>
          <c:overlay val="0"/>
        </c:title>
        <c:numFmt formatCode="General" sourceLinked="1"/>
        <c:majorTickMark val="none"/>
        <c:minorTickMark val="none"/>
        <c:tickLblPos val="nextTo"/>
        <c:crossAx val="781056130"/>
        <c:crosses val="autoZero"/>
        <c:auto val="1"/>
        <c:lblAlgn val="ctr"/>
        <c:lblOffset val="100"/>
        <c:noMultiLvlLbl val="1"/>
      </c:catAx>
      <c:valAx>
        <c:axId val="781056130"/>
        <c:scaling>
          <c:orientation val="minMax"/>
        </c:scaling>
        <c:delete val="0"/>
        <c:axPos val="l"/>
        <c:majorGridlines>
          <c:spPr>
            <a:ln>
              <a:solidFill>
                <a:srgbClr val="B7B7B7"/>
              </a:solidFill>
            </a:ln>
          </c:spPr>
        </c:majorGridlines>
        <c:title>
          <c:tx>
            <c:rich>
              <a:bodyPr/>
              <a:lstStyle/>
              <a:p>
                <a:pPr>
                  <a:defRPr/>
                </a:pPr>
                <a:endParaRPr lang="en-US"/>
              </a:p>
            </c:rich>
          </c:tx>
          <c:overlay val="0"/>
        </c:title>
        <c:numFmt formatCode="_ * #,##0_ ;_ * \-#,##0_ ;_ * &quot;-&quot;??_ ;_ @_ " sourceLinked="1"/>
        <c:majorTickMark val="none"/>
        <c:minorTickMark val="none"/>
        <c:tickLblPos val="nextTo"/>
        <c:spPr>
          <a:ln/>
        </c:spPr>
        <c:crossAx val="1367635366"/>
        <c:crosses val="autoZero"/>
        <c:crossBetween val="between"/>
      </c:valAx>
      <c:spPr>
        <a:noFill/>
        <a:ln>
          <a:noFill/>
        </a:ln>
      </c:spPr>
    </c:plotArea>
    <c:legend>
      <c:legendPos val="b"/>
      <c:overlay val="0"/>
    </c:legend>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5.0925816683338038E-2"/>
          <c:w val="0.27936353427769717"/>
          <c:h val="0.9083984371660383"/>
        </c:manualLayout>
      </c:layout>
      <c:barChart>
        <c:barDir val="col"/>
        <c:grouping val="stacked"/>
        <c:varyColors val="1"/>
        <c:ser>
          <c:idx val="3"/>
          <c:order val="0"/>
          <c:tx>
            <c:strRef>
              <c:f>'Load Scenario 2'!$G$2</c:f>
              <c:strCache>
                <c:ptCount val="1"/>
                <c:pt idx="0">
                  <c:v>from Gen [kWh]</c:v>
                </c:pt>
              </c:strCache>
            </c:strRef>
          </c:tx>
          <c:spPr>
            <a:solidFill>
              <a:schemeClr val="tx1">
                <a:lumMod val="50000"/>
                <a:lumOff val="50000"/>
              </a:schemeClr>
            </a:solidFill>
          </c:spPr>
          <c:invertIfNegative val="0"/>
          <c:dLbls>
            <c:dLbl>
              <c:idx val="0"/>
              <c:layout>
                <c:manualLayout>
                  <c:x val="-0.16938866975525174"/>
                  <c:y val="4.6947688430699647E-3"/>
                </c:manualLayout>
              </c:layout>
              <c:tx>
                <c:rich>
                  <a:bodyPr/>
                  <a:lstStyle/>
                  <a:p>
                    <a:fld id="{05D5CD9F-80FF-426A-B79B-ED996C8B4FC5}" type="VALUE">
                      <a:rPr lang="en-US">
                        <a:solidFill>
                          <a:schemeClr val="tx1">
                            <a:lumMod val="50000"/>
                            <a:lumOff val="50000"/>
                          </a:schemeClr>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layout>
                    <c:manualLayout>
                      <c:w val="0.6493856309438778"/>
                      <c:h val="0.26760586979955531"/>
                    </c:manualLayout>
                  </c15:layout>
                  <c15:dlblFieldTable/>
                  <c15:showDataLabelsRange val="0"/>
                </c:ext>
                <c:ext xmlns:c16="http://schemas.microsoft.com/office/drawing/2014/chart" uri="{C3380CC4-5D6E-409C-BE32-E72D297353CC}">
                  <c16:uniqueId val="{00000000-39B9-408A-B45A-BF2682A5CC1C}"/>
                </c:ext>
              </c:extLst>
            </c:dLbl>
            <c:spPr>
              <a:noFill/>
              <a:ln>
                <a:noFill/>
              </a:ln>
              <a:effectLst/>
            </c:spPr>
            <c:txPr>
              <a:bodyPr wrap="square" lIns="38100" tIns="19050" rIns="38100" bIns="19050" anchor="ctr" anchorCtr="0">
                <a:spAutoFit/>
              </a:bodyPr>
              <a:lstStyle/>
              <a:p>
                <a:pPr algn="ctr" rtl="0">
                  <a:defRPr lang="en-US" sz="1200" b="0" i="0" u="none" strike="noStrike" kern="1200" baseline="0">
                    <a:solidFill>
                      <a:schemeClr val="tx1">
                        <a:lumMod val="50000"/>
                        <a:lumOff val="50000"/>
                      </a:schemeClr>
                    </a:solidFill>
                    <a:latin typeface="Poppins" pitchFamily="2" charset="77"/>
                    <a:ea typeface="+mn-ea"/>
                    <a:cs typeface="Poppins" pitchFamily="2" charset="77"/>
                  </a:defRPr>
                </a:pPr>
                <a:endParaRPr lang="nl-N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2'!$G$16</c:f>
              <c:numCache>
                <c:formatCode>_ * #,##0_ ;_ * \-#,##0_ ;_ * "-"??_ ;_ @_ </c:formatCode>
                <c:ptCount val="1"/>
                <c:pt idx="0">
                  <c:v>242068.177</c:v>
                </c:pt>
              </c:numCache>
            </c:numRef>
          </c:val>
          <c:extLst>
            <c:ext xmlns:c16="http://schemas.microsoft.com/office/drawing/2014/chart" uri="{C3380CC4-5D6E-409C-BE32-E72D297353CC}">
              <c16:uniqueId val="{00000001-39B9-408A-B45A-BF2682A5CC1C}"/>
            </c:ext>
          </c:extLst>
        </c:ser>
        <c:ser>
          <c:idx val="0"/>
          <c:order val="1"/>
          <c:tx>
            <c:strRef>
              <c:f>'Load Scenario 2'!$F$2</c:f>
              <c:strCache>
                <c:ptCount val="1"/>
                <c:pt idx="0">
                  <c:v>from Grid [kWh]</c:v>
                </c:pt>
              </c:strCache>
            </c:strRef>
          </c:tx>
          <c:spPr>
            <a:solidFill>
              <a:srgbClr val="064C81"/>
            </a:solidFill>
            <a:ln cmpd="sng">
              <a:noFill/>
            </a:ln>
          </c:spPr>
          <c:invertIfNegative val="1"/>
          <c:dLbls>
            <c:dLbl>
              <c:idx val="0"/>
              <c:layout>
                <c:manualLayout>
                  <c:x val="-0.10278480690487979"/>
                  <c:y val="-1.161295103769508E-2"/>
                </c:manualLayout>
              </c:layout>
              <c:spPr>
                <a:noFill/>
                <a:ln>
                  <a:noFill/>
                </a:ln>
                <a:effectLst/>
              </c:spPr>
              <c:txPr>
                <a:bodyPr wrap="square" lIns="38100" tIns="19050" rIns="38100" bIns="19050" anchor="ctr">
                  <a:noAutofit/>
                </a:bodyPr>
                <a:lstStyle/>
                <a:p>
                  <a:pPr>
                    <a:defRPr sz="1200" b="0">
                      <a:solidFill>
                        <a:srgbClr val="064C81"/>
                      </a:solidFill>
                      <a:latin typeface="Poppins" pitchFamily="2" charset="77"/>
                      <a:cs typeface="Poppins" pitchFamily="2" charset="77"/>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81071822988892217"/>
                      <c:h val="0.19954393844844631"/>
                    </c:manualLayout>
                  </c15:layout>
                </c:ext>
                <c:ext xmlns:c16="http://schemas.microsoft.com/office/drawing/2014/chart" uri="{C3380CC4-5D6E-409C-BE32-E72D297353CC}">
                  <c16:uniqueId val="{00000002-39B9-408A-B45A-BF2682A5CC1C}"/>
                </c:ext>
              </c:extLst>
            </c:dLbl>
            <c:spPr>
              <a:noFill/>
              <a:ln>
                <a:noFill/>
              </a:ln>
              <a:effectLst/>
            </c:spPr>
            <c:txPr>
              <a:bodyPr wrap="square" lIns="38100" tIns="19050" rIns="38100" bIns="19050" anchor="ctr">
                <a:spAutoFit/>
              </a:bodyPr>
              <a:lstStyle/>
              <a:p>
                <a:pPr>
                  <a:defRPr sz="1200" b="0">
                    <a:solidFill>
                      <a:srgbClr val="064C81"/>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2'!$F$16</c:f>
              <c:numCache>
                <c:formatCode>_ * #,##0_ ;_ * \-#,##0_ ;_ * "-"??_ ;_ @_ </c:formatCode>
                <c:ptCount val="1"/>
                <c:pt idx="0">
                  <c:v>246888.34522264442</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3-39B9-408A-B45A-BF2682A5CC1C}"/>
            </c:ext>
          </c:extLst>
        </c:ser>
        <c:ser>
          <c:idx val="2"/>
          <c:order val="2"/>
          <c:tx>
            <c:strRef>
              <c:f>'Load Scenario 2'!$H$2</c:f>
              <c:strCache>
                <c:ptCount val="1"/>
                <c:pt idx="0">
                  <c:v>Stored [kWh]</c:v>
                </c:pt>
              </c:strCache>
            </c:strRef>
          </c:tx>
          <c:spPr>
            <a:solidFill>
              <a:srgbClr val="ACD5E8"/>
            </a:solidFill>
          </c:spPr>
          <c:invertIfNegative val="0"/>
          <c:dLbls>
            <c:dLbl>
              <c:idx val="0"/>
              <c:layout>
                <c:manualLayout>
                  <c:x val="-0.18118430328626375"/>
                  <c:y val="-3.9878221106073662E-2"/>
                </c:manualLayout>
              </c:layout>
              <c:spPr>
                <a:noFill/>
                <a:ln>
                  <a:noFill/>
                </a:ln>
                <a:effectLst/>
              </c:spPr>
              <c:txPr>
                <a:bodyPr wrap="square" lIns="38100" tIns="19050" rIns="38100" bIns="19050" anchor="ctr">
                  <a:noAutofit/>
                </a:bodyPr>
                <a:lstStyle/>
                <a:p>
                  <a:pPr>
                    <a:defRPr sz="1200" b="0">
                      <a:solidFill>
                        <a:srgbClr val="ACD5E8"/>
                      </a:solidFill>
                      <a:latin typeface="Poppins" pitchFamily="2" charset="77"/>
                      <a:cs typeface="Poppins" pitchFamily="2" charset="77"/>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65356904349021439"/>
                      <c:h val="0.33209019071618723"/>
                    </c:manualLayout>
                  </c15:layout>
                </c:ext>
                <c:ext xmlns:c16="http://schemas.microsoft.com/office/drawing/2014/chart" uri="{C3380CC4-5D6E-409C-BE32-E72D297353CC}">
                  <c16:uniqueId val="{00000004-39B9-408A-B45A-BF2682A5CC1C}"/>
                </c:ext>
              </c:extLst>
            </c:dLbl>
            <c:spPr>
              <a:noFill/>
              <a:ln>
                <a:noFill/>
              </a:ln>
              <a:effectLst/>
            </c:spPr>
            <c:txPr>
              <a:bodyPr wrap="square" lIns="38100" tIns="19050" rIns="38100" bIns="19050" anchor="ctr">
                <a:spAutoFit/>
              </a:bodyPr>
              <a:lstStyle/>
              <a:p>
                <a:pPr>
                  <a:defRPr sz="1200" b="1">
                    <a:solidFill>
                      <a:srgbClr val="ACD5E8"/>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2'!$H$16</c:f>
              <c:numCache>
                <c:formatCode>_ * #,##0_ ;_ * \-#,##0_ ;_ * "-"??_ ;_ @_ </c:formatCode>
                <c:ptCount val="1"/>
                <c:pt idx="0">
                  <c:v>300837.98499999969</c:v>
                </c:pt>
              </c:numCache>
            </c:numRef>
          </c:val>
          <c:extLst>
            <c:ext xmlns:c16="http://schemas.microsoft.com/office/drawing/2014/chart" uri="{C3380CC4-5D6E-409C-BE32-E72D297353CC}">
              <c16:uniqueId val="{00000005-39B9-408A-B45A-BF2682A5CC1C}"/>
            </c:ext>
          </c:extLst>
        </c:ser>
        <c:ser>
          <c:idx val="1"/>
          <c:order val="3"/>
          <c:tx>
            <c:strRef>
              <c:f>'Load Scenario 2'!$I$2</c:f>
              <c:strCache>
                <c:ptCount val="1"/>
                <c:pt idx="0">
                  <c:v>Local [kWh]</c:v>
                </c:pt>
              </c:strCache>
            </c:strRef>
          </c:tx>
          <c:spPr>
            <a:solidFill>
              <a:srgbClr val="FF9902"/>
            </a:solidFill>
            <a:ln cmpd="sng">
              <a:noFill/>
            </a:ln>
          </c:spPr>
          <c:invertIfNegative val="1"/>
          <c:dLbls>
            <c:dLbl>
              <c:idx val="0"/>
              <c:layout>
                <c:manualLayout>
                  <c:x val="-0.15587321901858697"/>
                  <c:y val="-3.8611448570206045E-4"/>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65706698568593014"/>
                      <c:h val="0.1737502100817935"/>
                    </c:manualLayout>
                  </c15:layout>
                </c:ext>
                <c:ext xmlns:c16="http://schemas.microsoft.com/office/drawing/2014/chart" uri="{C3380CC4-5D6E-409C-BE32-E72D297353CC}">
                  <c16:uniqueId val="{00000006-39B9-408A-B45A-BF2682A5CC1C}"/>
                </c:ext>
              </c:extLst>
            </c:dLbl>
            <c:spPr>
              <a:noFill/>
              <a:ln>
                <a:noFill/>
              </a:ln>
              <a:effectLst/>
            </c:spPr>
            <c:txPr>
              <a:bodyPr wrap="square" lIns="38100" tIns="19050" rIns="38100" bIns="19050" anchor="ctr">
                <a:spAutoFit/>
              </a:bodyPr>
              <a:lstStyle/>
              <a:p>
                <a:pPr>
                  <a:defRPr sz="1200" b="0">
                    <a:solidFill>
                      <a:srgbClr val="FF9902"/>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2'!$I$16</c:f>
              <c:numCache>
                <c:formatCode>_ * #,##0_ ;_ * \-#,##0_ ;_ * "-"??_ ;_ @_ </c:formatCode>
                <c:ptCount val="1"/>
                <c:pt idx="0">
                  <c:v>535771.64777735178</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7-39B9-408A-B45A-BF2682A5CC1C}"/>
            </c:ext>
          </c:extLst>
        </c:ser>
        <c:dLbls>
          <c:dLblPos val="ctr"/>
          <c:showLegendKey val="0"/>
          <c:showVal val="1"/>
          <c:showCatName val="0"/>
          <c:showSerName val="0"/>
          <c:showPercent val="0"/>
          <c:showBubbleSize val="0"/>
        </c:dLbls>
        <c:gapWidth val="150"/>
        <c:overlap val="100"/>
        <c:axId val="1719047988"/>
        <c:axId val="986630404"/>
      </c:barChart>
      <c:catAx>
        <c:axId val="1719047988"/>
        <c:scaling>
          <c:orientation val="maxMin"/>
        </c:scaling>
        <c:delete val="1"/>
        <c:axPos val="b"/>
        <c:title>
          <c:tx>
            <c:rich>
              <a:bodyPr/>
              <a:lstStyle/>
              <a:p>
                <a:pPr>
                  <a:defRPr/>
                </a:pPr>
                <a:endParaRPr lang="en-US"/>
              </a:p>
            </c:rich>
          </c:tx>
          <c:overlay val="0"/>
        </c:title>
        <c:numFmt formatCode="General" sourceLinked="1"/>
        <c:majorTickMark val="none"/>
        <c:minorTickMark val="none"/>
        <c:tickLblPos val="nextTo"/>
        <c:crossAx val="986630404"/>
        <c:crosses val="autoZero"/>
        <c:auto val="1"/>
        <c:lblAlgn val="ctr"/>
        <c:lblOffset val="100"/>
        <c:noMultiLvlLbl val="1"/>
      </c:catAx>
      <c:valAx>
        <c:axId val="986630404"/>
        <c:scaling>
          <c:orientation val="minMax"/>
        </c:scaling>
        <c:delete val="1"/>
        <c:axPos val="l"/>
        <c:title>
          <c:tx>
            <c:rich>
              <a:bodyPr/>
              <a:lstStyle/>
              <a:p>
                <a:pPr>
                  <a:defRPr/>
                </a:pPr>
                <a:endParaRPr lang="en-US"/>
              </a:p>
            </c:rich>
          </c:tx>
          <c:overlay val="0"/>
        </c:title>
        <c:numFmt formatCode="_ * #,##0_ ;_ * \-#,##0_ ;_ * &quot;-&quot;??_ ;_ @_ " sourceLinked="1"/>
        <c:majorTickMark val="out"/>
        <c:minorTickMark val="none"/>
        <c:tickLblPos val="nextTo"/>
        <c:crossAx val="1719047988"/>
        <c:crosses val="max"/>
        <c:crossBetween val="between"/>
      </c:valAx>
      <c:spPr>
        <a:noFill/>
        <a:ln>
          <a:noFill/>
        </a:ln>
      </c:spPr>
    </c:plotArea>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rtl="0">
              <a:defRPr lang="en-GB" sz="1400" b="1" i="0" u="none" strike="noStrike" kern="1200" baseline="0" dirty="0">
                <a:solidFill>
                  <a:srgbClr val="034C81"/>
                </a:solidFill>
                <a:latin typeface="+mn-lt"/>
                <a:ea typeface="+mn-ea"/>
                <a:cs typeface="Poppins" pitchFamily="2" charset="77"/>
              </a:defRPr>
            </a:pPr>
            <a:r>
              <a:rPr lang="en-GB" sz="1400" b="1" i="0" u="none" strike="noStrike" kern="1200" baseline="0">
                <a:solidFill>
                  <a:srgbClr val="034C81"/>
                </a:solidFill>
                <a:latin typeface="+mn-lt"/>
                <a:ea typeface="+mn-ea"/>
                <a:cs typeface="Poppins" pitchFamily="2" charset="77"/>
              </a:rPr>
              <a:t>Production PV Solution 2</a:t>
            </a:r>
          </a:p>
        </c:rich>
      </c:tx>
      <c:overlay val="0"/>
    </c:title>
    <c:autoTitleDeleted val="0"/>
    <c:plotArea>
      <c:layout>
        <c:manualLayout>
          <c:layoutTarget val="inner"/>
          <c:xMode val="edge"/>
          <c:yMode val="edge"/>
          <c:x val="0.12840020298598803"/>
          <c:y val="0.16590955971495766"/>
          <c:w val="0.84325399281189362"/>
          <c:h val="0.5942624993577883"/>
        </c:manualLayout>
      </c:layout>
      <c:barChart>
        <c:barDir val="col"/>
        <c:grouping val="stacked"/>
        <c:varyColors val="1"/>
        <c:ser>
          <c:idx val="0"/>
          <c:order val="0"/>
          <c:tx>
            <c:strRef>
              <c:f>'Production Scenario 2'!$E$2</c:f>
              <c:strCache>
                <c:ptCount val="1"/>
                <c:pt idx="0">
                  <c:v>Local use [kWh]</c:v>
                </c:pt>
              </c:strCache>
            </c:strRef>
          </c:tx>
          <c:spPr>
            <a:solidFill>
              <a:srgbClr val="FF9902"/>
            </a:solidFill>
            <a:ln cmpd="sng">
              <a:noFill/>
            </a:ln>
          </c:spPr>
          <c:invertIfNegative val="1"/>
          <c:cat>
            <c:strRef>
              <c:f>'Production Scenario 2'!$C$3:$C$14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'Production Scenario 2'!$E$3:$E$14</c:f>
              <c:numCache>
                <c:formatCode>_ * #,##0_ ;_ * \-#,##0_ ;_ * "-"??_ ;_ @_ </c:formatCode>
                <c:ptCount val="12"/>
                <c:pt idx="0">
                  <c:v>21915.461603846899</c:v>
                </c:pt>
                <c:pt idx="1">
                  <c:v>40781.968470554602</c:v>
                </c:pt>
                <c:pt idx="2">
                  <c:v>48858.789485856003</c:v>
                </c:pt>
                <c:pt idx="3">
                  <c:v>51970.035000000003</c:v>
                </c:pt>
                <c:pt idx="4">
                  <c:v>57919.381000000001</c:v>
                </c:pt>
                <c:pt idx="5">
                  <c:v>66967.372999999003</c:v>
                </c:pt>
                <c:pt idx="6">
                  <c:v>71071.147999998997</c:v>
                </c:pt>
                <c:pt idx="7">
                  <c:v>53414.617055634895</c:v>
                </c:pt>
                <c:pt idx="8">
                  <c:v>47138.394791078994</c:v>
                </c:pt>
                <c:pt idx="9">
                  <c:v>35418.626236720098</c:v>
                </c:pt>
                <c:pt idx="10">
                  <c:v>25477.7062630152</c:v>
                </c:pt>
                <c:pt idx="11">
                  <c:v>14838.146870647</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0-42A7-4DEF-917F-4DDE8E06E5C9}"/>
            </c:ext>
          </c:extLst>
        </c:ser>
        <c:ser>
          <c:idx val="1"/>
          <c:order val="1"/>
          <c:tx>
            <c:strRef>
              <c:f>'Production Scenario 2'!$F$2</c:f>
              <c:strCache>
                <c:ptCount val="1"/>
                <c:pt idx="0">
                  <c:v>Stored [kWh]</c:v>
                </c:pt>
              </c:strCache>
            </c:strRef>
          </c:tx>
          <c:spPr>
            <a:solidFill>
              <a:srgbClr val="ACD5E8"/>
            </a:solidFill>
            <a:ln cmpd="sng">
              <a:noFill/>
            </a:ln>
          </c:spPr>
          <c:invertIfNegative val="1"/>
          <c:cat>
            <c:strRef>
              <c:f>'Production Scenario 2'!$C$3:$C$14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'Production Scenario 2'!$F$3:$F$14</c:f>
              <c:numCache>
                <c:formatCode>_ * #,##0_ ;_ * \-#,##0_ ;_ * "-"??_ ;_ @_ </c:formatCode>
                <c:ptCount val="12"/>
                <c:pt idx="0">
                  <c:v>606.30600000000004</c:v>
                </c:pt>
                <c:pt idx="1">
                  <c:v>16327.0359999999</c:v>
                </c:pt>
                <c:pt idx="2">
                  <c:v>30354.186000000002</c:v>
                </c:pt>
                <c:pt idx="3">
                  <c:v>40368.646999999997</c:v>
                </c:pt>
                <c:pt idx="4">
                  <c:v>37853.165999999903</c:v>
                </c:pt>
                <c:pt idx="5">
                  <c:v>38171.294000000002</c:v>
                </c:pt>
                <c:pt idx="6">
                  <c:v>39266.731</c:v>
                </c:pt>
                <c:pt idx="7">
                  <c:v>38607.491999999998</c:v>
                </c:pt>
                <c:pt idx="8">
                  <c:v>36090.176999999901</c:v>
                </c:pt>
                <c:pt idx="9">
                  <c:v>18671.772000000001</c:v>
                </c:pt>
                <c:pt idx="10">
                  <c:v>4169.3429999999998</c:v>
                </c:pt>
                <c:pt idx="11">
                  <c:v>351.83499999999998</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1-42A7-4DEF-917F-4DDE8E06E5C9}"/>
            </c:ext>
          </c:extLst>
        </c:ser>
        <c:ser>
          <c:idx val="2"/>
          <c:order val="2"/>
          <c:tx>
            <c:strRef>
              <c:f>'Production Scenario 2'!$G$2</c:f>
              <c:strCache>
                <c:ptCount val="1"/>
                <c:pt idx="0">
                  <c:v>Curtailed [kWh]</c:v>
                </c:pt>
              </c:strCache>
            </c:strRef>
          </c:tx>
          <c:spPr>
            <a:solidFill>
              <a:srgbClr val="D9D9D9"/>
            </a:solidFill>
            <a:ln cmpd="sng">
              <a:noFill/>
            </a:ln>
          </c:spPr>
          <c:invertIfNegative val="1"/>
          <c:cat>
            <c:strRef>
              <c:f>'Production Scenario 2'!$C$3:$C$14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'Production Scenario 2'!$G$3:$G$14</c:f>
              <c:numCache>
                <c:formatCode>_ * #,##0_ ;_ * \-#,##0_ ;_ * "-"??_ ;_ @_ </c:formatCode>
                <c:ptCount val="12"/>
                <c:pt idx="0">
                  <c:v>0</c:v>
                </c:pt>
                <c:pt idx="1">
                  <c:v>0</c:v>
                </c:pt>
                <c:pt idx="2">
                  <c:v>2580.3580000000002</c:v>
                </c:pt>
                <c:pt idx="3">
                  <c:v>34055.108</c:v>
                </c:pt>
                <c:pt idx="4">
                  <c:v>56772.928999999996</c:v>
                </c:pt>
                <c:pt idx="5">
                  <c:v>57228.322</c:v>
                </c:pt>
                <c:pt idx="6">
                  <c:v>61332.243999999999</c:v>
                </c:pt>
                <c:pt idx="7">
                  <c:v>25101.617999999999</c:v>
                </c:pt>
                <c:pt idx="8">
                  <c:v>7189.1209999999901</c:v>
                </c:pt>
                <c:pt idx="9">
                  <c:v>676.30399999999997</c:v>
                </c:pt>
                <c:pt idx="10">
                  <c:v>0</c:v>
                </c:pt>
                <c:pt idx="11">
                  <c:v>0</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2-42A7-4DEF-917F-4DDE8E06E5C9}"/>
            </c:ext>
          </c:extLst>
        </c:ser>
        <c:dLbls>
          <c:showLegendKey val="0"/>
          <c:showVal val="0"/>
          <c:showCatName val="0"/>
          <c:showSerName val="0"/>
          <c:showPercent val="0"/>
          <c:showBubbleSize val="0"/>
        </c:dLbls>
        <c:gapWidth val="150"/>
        <c:overlap val="100"/>
        <c:axId val="878011893"/>
        <c:axId val="1303300568"/>
      </c:barChart>
      <c:catAx>
        <c:axId val="878011893"/>
        <c:scaling>
          <c:orientation val="minMax"/>
        </c:scaling>
        <c:delete val="0"/>
        <c:axPos val="b"/>
        <c:title>
          <c:tx>
            <c:rich>
              <a:bodyPr/>
              <a:lstStyle/>
              <a:p>
                <a:pPr>
                  <a:defRPr/>
                </a:pPr>
                <a:endParaRPr lang="en-US"/>
              </a:p>
            </c:rich>
          </c:tx>
          <c:overlay val="0"/>
        </c:title>
        <c:numFmt formatCode="General" sourceLinked="0"/>
        <c:majorTickMark val="none"/>
        <c:minorTickMark val="none"/>
        <c:tickLblPos val="nextTo"/>
        <c:crossAx val="1303300568"/>
        <c:crosses val="autoZero"/>
        <c:auto val="1"/>
        <c:lblAlgn val="ctr"/>
        <c:lblOffset val="100"/>
        <c:noMultiLvlLbl val="1"/>
      </c:catAx>
      <c:valAx>
        <c:axId val="1303300568"/>
        <c:scaling>
          <c:orientation val="minMax"/>
        </c:scaling>
        <c:delete val="0"/>
        <c:axPos val="l"/>
        <c:majorGridlines>
          <c:spPr>
            <a:ln>
              <a:solidFill>
                <a:srgbClr val="B7B7B7"/>
              </a:solidFill>
            </a:ln>
          </c:spPr>
        </c:majorGridlines>
        <c:title>
          <c:tx>
            <c:rich>
              <a:bodyPr/>
              <a:lstStyle/>
              <a:p>
                <a:pPr>
                  <a:defRPr/>
                </a:pPr>
                <a:endParaRPr lang="en-US"/>
              </a:p>
            </c:rich>
          </c:tx>
          <c:overlay val="0"/>
        </c:title>
        <c:numFmt formatCode="_ * #,##0_ ;_ * \-#,##0_ ;_ * &quot;-&quot;??_ ;_ @_ " sourceLinked="1"/>
        <c:majorTickMark val="none"/>
        <c:minorTickMark val="none"/>
        <c:tickLblPos val="nextTo"/>
        <c:spPr>
          <a:ln/>
        </c:spPr>
        <c:crossAx val="878011893"/>
        <c:crosses val="autoZero"/>
        <c:crossBetween val="between"/>
      </c:valAx>
      <c:spPr>
        <a:noFill/>
        <a:ln>
          <a:noFill/>
        </a:ln>
      </c:spPr>
    </c:plotArea>
    <c:legend>
      <c:legendPos val="b"/>
      <c:layout>
        <c:manualLayout>
          <c:xMode val="edge"/>
          <c:yMode val="edge"/>
          <c:x val="9.2408336223036222E-2"/>
          <c:y val="0.92577374055565298"/>
          <c:w val="0.87960560983146929"/>
          <c:h val="5.7408746502342241E-2"/>
        </c:manualLayout>
      </c:layout>
      <c:overlay val="0"/>
    </c:legend>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581836251051117E-2"/>
          <c:y val="7.1540126548684774E-2"/>
          <c:w val="0.25370486456183272"/>
          <c:h val="0.9083984371660383"/>
        </c:manualLayout>
      </c:layout>
      <c:barChart>
        <c:barDir val="col"/>
        <c:grouping val="stacked"/>
        <c:varyColors val="1"/>
        <c:ser>
          <c:idx val="0"/>
          <c:order val="0"/>
          <c:tx>
            <c:strRef>
              <c:f>'Production Scenario 2'!$E$2</c:f>
              <c:strCache>
                <c:ptCount val="1"/>
                <c:pt idx="0">
                  <c:v>Local use [kWh]</c:v>
                </c:pt>
              </c:strCache>
            </c:strRef>
          </c:tx>
          <c:spPr>
            <a:solidFill>
              <a:srgbClr val="064C81"/>
            </a:solidFill>
            <a:ln cmpd="sng">
              <a:noFill/>
            </a:ln>
          </c:spPr>
          <c:invertIfNegative val="1"/>
          <c:dPt>
            <c:idx val="0"/>
            <c:invertIfNegative val="1"/>
            <c:bubble3D val="0"/>
            <c:spPr>
              <a:solidFill>
                <a:srgbClr val="FF9902"/>
              </a:solidFill>
              <a:ln cmpd="sng">
                <a:noFill/>
              </a:ln>
            </c:spPr>
            <c:extLst>
              <c:ext xmlns:c16="http://schemas.microsoft.com/office/drawing/2014/chart" uri="{C3380CC4-5D6E-409C-BE32-E72D297353CC}">
                <c16:uniqueId val="{00000001-00C4-490F-B265-8A359869F117}"/>
              </c:ext>
            </c:extLst>
          </c:dPt>
          <c:dLbls>
            <c:dLbl>
              <c:idx val="0"/>
              <c:layout>
                <c:manualLayout>
                  <c:x val="-0.12842582300261285"/>
                  <c:y val="-7.6543235175172506E-3"/>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86348980644338258"/>
                      <c:h val="0.23384621318918294"/>
                    </c:manualLayout>
                  </c15:layout>
                </c:ext>
                <c:ext xmlns:c16="http://schemas.microsoft.com/office/drawing/2014/chart" uri="{C3380CC4-5D6E-409C-BE32-E72D297353CC}">
                  <c16:uniqueId val="{00000001-00C4-490F-B265-8A359869F117}"/>
                </c:ext>
              </c:extLst>
            </c:dLbl>
            <c:spPr>
              <a:noFill/>
              <a:ln>
                <a:noFill/>
              </a:ln>
              <a:effectLst/>
            </c:spPr>
            <c:txPr>
              <a:bodyPr/>
              <a:lstStyle/>
              <a:p>
                <a:pPr>
                  <a:defRPr sz="1200" b="0">
                    <a:solidFill>
                      <a:srgbClr val="FF9902"/>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'Production Scenario 2'!$E$15</c:f>
              <c:numCache>
                <c:formatCode>_ * #,##0_ ;_ * \-#,##0_ ;_ * "-"??_ ;_ @_ </c:formatCode>
                <c:ptCount val="1"/>
                <c:pt idx="0">
                  <c:v>535771.64777735178</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2-00C4-490F-B265-8A359869F117}"/>
            </c:ext>
          </c:extLst>
        </c:ser>
        <c:ser>
          <c:idx val="1"/>
          <c:order val="1"/>
          <c:tx>
            <c:strRef>
              <c:f>'Production Scenario 2'!$F$2</c:f>
              <c:strCache>
                <c:ptCount val="1"/>
                <c:pt idx="0">
                  <c:v>Stored [kWh]</c:v>
                </c:pt>
              </c:strCache>
            </c:strRef>
          </c:tx>
          <c:spPr>
            <a:solidFill>
              <a:srgbClr val="ACD5E8"/>
            </a:solidFill>
            <a:ln cmpd="sng">
              <a:noFill/>
            </a:ln>
          </c:spPr>
          <c:invertIfNegative val="1"/>
          <c:dLbls>
            <c:dLbl>
              <c:idx val="0"/>
              <c:layout>
                <c:manualLayout>
                  <c:x val="-0.14818403085953513"/>
                  <c:y val="1.7362054926702317E-2"/>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84205101717763431"/>
                      <c:h val="0.23384621318918294"/>
                    </c:manualLayout>
                  </c15:layout>
                </c:ext>
                <c:ext xmlns:c16="http://schemas.microsoft.com/office/drawing/2014/chart" uri="{C3380CC4-5D6E-409C-BE32-E72D297353CC}">
                  <c16:uniqueId val="{00000003-00C4-490F-B265-8A359869F117}"/>
                </c:ext>
              </c:extLst>
            </c:dLbl>
            <c:spPr>
              <a:noFill/>
              <a:ln>
                <a:noFill/>
              </a:ln>
              <a:effectLst/>
            </c:spPr>
            <c:txPr>
              <a:bodyPr/>
              <a:lstStyle/>
              <a:p>
                <a:pPr>
                  <a:defRPr sz="1200" b="0">
                    <a:solidFill>
                      <a:srgbClr val="ACD5E8"/>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'Production Scenario 2'!$F$15</c:f>
              <c:numCache>
                <c:formatCode>_ * #,##0_ ;_ * \-#,##0_ ;_ * "-"??_ ;_ @_ </c:formatCode>
                <c:ptCount val="1"/>
                <c:pt idx="0">
                  <c:v>300837.98499999969</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4-00C4-490F-B265-8A359869F117}"/>
            </c:ext>
          </c:extLst>
        </c:ser>
        <c:ser>
          <c:idx val="2"/>
          <c:order val="2"/>
          <c:tx>
            <c:strRef>
              <c:f>'Production Scenario 2'!$G$2</c:f>
              <c:strCache>
                <c:ptCount val="1"/>
                <c:pt idx="0">
                  <c:v>Curtailed [kWh]</c:v>
                </c:pt>
              </c:strCache>
            </c:strRef>
          </c:tx>
          <c:spPr>
            <a:solidFill>
              <a:srgbClr val="DADADA"/>
            </a:solidFill>
          </c:spPr>
          <c:invertIfNegative val="0"/>
          <c:dLbls>
            <c:dLbl>
              <c:idx val="0"/>
              <c:layout>
                <c:manualLayout>
                  <c:x val="-0.15806255138783121"/>
                  <c:y val="7.6543235175172333E-3"/>
                </c:manualLayout>
              </c:layout>
              <c:spPr>
                <a:noFill/>
                <a:ln>
                  <a:noFill/>
                </a:ln>
                <a:effectLst/>
              </c:spPr>
              <c:txPr>
                <a:bodyPr wrap="square" lIns="38100" tIns="19050" rIns="38100" bIns="19050" anchor="ctr">
                  <a:spAutoFit/>
                </a:bodyPr>
                <a:lstStyle/>
                <a:p>
                  <a:pPr>
                    <a:defRPr sz="1200" b="0">
                      <a:solidFill>
                        <a:srgbClr val="DADADA"/>
                      </a:solidFill>
                      <a:latin typeface="Poppins" pitchFamily="2" charset="77"/>
                      <a:cs typeface="Poppins" pitchFamily="2" charset="77"/>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83537614142242289"/>
                      <c:h val="0.23384621318918294"/>
                    </c:manualLayout>
                  </c15:layout>
                </c:ext>
                <c:ext xmlns:c16="http://schemas.microsoft.com/office/drawing/2014/chart" uri="{C3380CC4-5D6E-409C-BE32-E72D297353CC}">
                  <c16:uniqueId val="{00000005-00C4-490F-B265-8A359869F117}"/>
                </c:ext>
              </c:extLst>
            </c:dLbl>
            <c:spPr>
              <a:noFill/>
              <a:ln>
                <a:noFill/>
              </a:ln>
              <a:effectLst/>
            </c:spPr>
            <c:txPr>
              <a:bodyPr wrap="square" lIns="38100" tIns="19050" rIns="38100" bIns="19050" anchor="ctr">
                <a:spAutoFit/>
              </a:bodyPr>
              <a:lstStyle/>
              <a:p>
                <a:pPr>
                  <a:defRPr sz="1200" b="0">
                    <a:solidFill>
                      <a:srgbClr val="064C81"/>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'Production Scenario 2'!$G$15</c:f>
              <c:numCache>
                <c:formatCode>_ * #,##0_ ;_ * \-#,##0_ ;_ * "-"??_ ;_ @_ </c:formatCode>
                <c:ptCount val="1"/>
                <c:pt idx="0">
                  <c:v>244936.00399999999</c:v>
                </c:pt>
              </c:numCache>
            </c:numRef>
          </c:val>
          <c:extLst>
            <c:ext xmlns:c16="http://schemas.microsoft.com/office/drawing/2014/chart" uri="{C3380CC4-5D6E-409C-BE32-E72D297353CC}">
              <c16:uniqueId val="{00000006-00C4-490F-B265-8A359869F117}"/>
            </c:ext>
          </c:extLst>
        </c:ser>
        <c:dLbls>
          <c:dLblPos val="ctr"/>
          <c:showLegendKey val="0"/>
          <c:showVal val="1"/>
          <c:showCatName val="0"/>
          <c:showSerName val="0"/>
          <c:showPercent val="0"/>
          <c:showBubbleSize val="0"/>
        </c:dLbls>
        <c:gapWidth val="150"/>
        <c:overlap val="100"/>
        <c:axId val="1719047988"/>
        <c:axId val="986630404"/>
      </c:barChart>
      <c:catAx>
        <c:axId val="1719047988"/>
        <c:scaling>
          <c:orientation val="maxMin"/>
        </c:scaling>
        <c:delete val="1"/>
        <c:axPos val="b"/>
        <c:title>
          <c:tx>
            <c:rich>
              <a:bodyPr/>
              <a:lstStyle/>
              <a:p>
                <a:pPr>
                  <a:defRPr/>
                </a:pPr>
                <a:endParaRPr lang="en-US"/>
              </a:p>
            </c:rich>
          </c:tx>
          <c:overlay val="0"/>
        </c:title>
        <c:numFmt formatCode="General" sourceLinked="1"/>
        <c:majorTickMark val="none"/>
        <c:minorTickMark val="none"/>
        <c:tickLblPos val="nextTo"/>
        <c:crossAx val="986630404"/>
        <c:crosses val="autoZero"/>
        <c:auto val="1"/>
        <c:lblAlgn val="ctr"/>
        <c:lblOffset val="100"/>
        <c:noMultiLvlLbl val="1"/>
      </c:catAx>
      <c:valAx>
        <c:axId val="986630404"/>
        <c:scaling>
          <c:orientation val="minMax"/>
        </c:scaling>
        <c:delete val="1"/>
        <c:axPos val="l"/>
        <c:title>
          <c:tx>
            <c:rich>
              <a:bodyPr/>
              <a:lstStyle/>
              <a:p>
                <a:pPr>
                  <a:defRPr/>
                </a:pPr>
                <a:endParaRPr lang="en-US"/>
              </a:p>
            </c:rich>
          </c:tx>
          <c:overlay val="0"/>
        </c:title>
        <c:numFmt formatCode="_ * #,##0_ ;_ * \-#,##0_ ;_ * &quot;-&quot;??_ ;_ @_ " sourceLinked="1"/>
        <c:majorTickMark val="out"/>
        <c:minorTickMark val="none"/>
        <c:tickLblPos val="nextTo"/>
        <c:crossAx val="1719047988"/>
        <c:crosses val="max"/>
        <c:crossBetween val="between"/>
      </c:valAx>
      <c:spPr>
        <a:noFill/>
        <a:ln>
          <a:noFill/>
        </a:ln>
      </c:spPr>
    </c:plotArea>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ctr" rtl="0">
              <a:defRPr lang="en-GB" sz="1400" b="1" i="0" u="none" strike="noStrike" kern="1200" baseline="0">
                <a:solidFill>
                  <a:srgbClr val="034C81"/>
                </a:solidFill>
                <a:latin typeface="+mn-lt"/>
                <a:ea typeface="+mn-ea"/>
                <a:cs typeface="Poppins" pitchFamily="2" charset="77"/>
              </a:defRPr>
            </a:pPr>
            <a:r>
              <a:rPr lang="en-GB" sz="1400" b="1" i="0" u="none" strike="noStrike" kern="1200" baseline="0">
                <a:solidFill>
                  <a:srgbClr val="034C81"/>
                </a:solidFill>
                <a:latin typeface="+mn-lt"/>
                <a:ea typeface="+mn-ea"/>
                <a:cs typeface="Poppins" pitchFamily="2" charset="77"/>
              </a:rPr>
              <a:t>Energy use [kWh]</a:t>
            </a:r>
          </a:p>
        </c:rich>
      </c:tx>
      <c:overlay val="0"/>
    </c:title>
    <c:autoTitleDeleted val="0"/>
    <c:plotArea>
      <c:layout>
        <c:manualLayout>
          <c:layoutTarget val="inner"/>
          <c:xMode val="edge"/>
          <c:yMode val="edge"/>
          <c:x val="0.11402788473482729"/>
          <c:y val="0.14605726488110043"/>
          <c:w val="0.85955873969816909"/>
          <c:h val="0.68295803130308153"/>
        </c:manualLayout>
      </c:layout>
      <c:barChart>
        <c:barDir val="col"/>
        <c:grouping val="stacked"/>
        <c:varyColors val="1"/>
        <c:ser>
          <c:idx val="3"/>
          <c:order val="0"/>
          <c:tx>
            <c:strRef>
              <c:f>'Load Scenario 3'!$G$2</c:f>
              <c:strCache>
                <c:ptCount val="1"/>
                <c:pt idx="0">
                  <c:v>from Gen [kWh]</c:v>
                </c:pt>
              </c:strCache>
            </c:strRef>
          </c:tx>
          <c:spPr>
            <a:solidFill>
              <a:schemeClr val="tx1">
                <a:lumMod val="50000"/>
                <a:lumOff val="50000"/>
              </a:schemeClr>
            </a:solidFill>
          </c:spPr>
          <c:invertIfNegative val="0"/>
          <c:val>
            <c:numRef>
              <c:f>'Load Scenario 3'!$G$3:$G$14</c:f>
              <c:numCache>
                <c:formatCode>_ * #,##0_ ;_ * \-#,##0_ ;_ * "-"??_ ;_ @_ </c:formatCode>
                <c:ptCount val="12"/>
                <c:pt idx="0">
                  <c:v>4746.7209999999995</c:v>
                </c:pt>
                <c:pt idx="1">
                  <c:v>323.67099999999999</c:v>
                </c:pt>
                <c:pt idx="2">
                  <c:v>0</c:v>
                </c:pt>
                <c:pt idx="3">
                  <c:v>0</c:v>
                </c:pt>
                <c:pt idx="4">
                  <c:v>0</c:v>
                </c:pt>
                <c:pt idx="5">
                  <c:v>0</c:v>
                </c:pt>
                <c:pt idx="6">
                  <c:v>0</c:v>
                </c:pt>
                <c:pt idx="7">
                  <c:v>0</c:v>
                </c:pt>
                <c:pt idx="8">
                  <c:v>0</c:v>
                </c:pt>
                <c:pt idx="9">
                  <c:v>738.85699999999997</c:v>
                </c:pt>
                <c:pt idx="10">
                  <c:v>6035.6859999999997</c:v>
                </c:pt>
                <c:pt idx="11">
                  <c:v>17270.48</c:v>
                </c:pt>
              </c:numCache>
            </c:numRef>
          </c:val>
          <c:extLst>
            <c:ext xmlns:c16="http://schemas.microsoft.com/office/drawing/2014/chart" uri="{C3380CC4-5D6E-409C-BE32-E72D297353CC}">
              <c16:uniqueId val="{00000000-7F38-4913-89A1-959F083EF4E7}"/>
            </c:ext>
          </c:extLst>
        </c:ser>
        <c:ser>
          <c:idx val="1"/>
          <c:order val="1"/>
          <c:tx>
            <c:strRef>
              <c:f>'Load Scenario 3'!$F$2</c:f>
              <c:strCache>
                <c:ptCount val="1"/>
                <c:pt idx="0">
                  <c:v>from Grid [kWh]</c:v>
                </c:pt>
              </c:strCache>
            </c:strRef>
          </c:tx>
          <c:spPr>
            <a:solidFill>
              <a:srgbClr val="064C81"/>
            </a:solidFill>
            <a:ln cmpd="sng">
              <a:noFill/>
            </a:ln>
          </c:spPr>
          <c:invertIfNegative val="1"/>
          <c:cat>
            <c:strRef>
              <c:f>'Load Scenario 3'!$C$3:$C$14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'Load Scenario 3'!$F$3:$F$14</c:f>
              <c:numCache>
                <c:formatCode>_ * #,##0_ ;_ * \-#,##0_ ;_ * "-"??_ ;_ @_ </c:formatCode>
                <c:ptCount val="12"/>
                <c:pt idx="0">
                  <c:v>37107.7899563873</c:v>
                </c:pt>
                <c:pt idx="1">
                  <c:v>16985.357758249302</c:v>
                </c:pt>
                <c:pt idx="2">
                  <c:v>3848.8417856651799</c:v>
                </c:pt>
                <c:pt idx="3">
                  <c:v>1.6000000003259601E-2</c:v>
                </c:pt>
                <c:pt idx="4">
                  <c:v>2.19999999826541E-2</c:v>
                </c:pt>
                <c:pt idx="5">
                  <c:v>1.9999999996798499E-2</c:v>
                </c:pt>
                <c:pt idx="6">
                  <c:v>1.50000000139698E-2</c:v>
                </c:pt>
                <c:pt idx="7">
                  <c:v>2971.5979327447399</c:v>
                </c:pt>
                <c:pt idx="8">
                  <c:v>2507.1093786052002</c:v>
                </c:pt>
                <c:pt idx="9">
                  <c:v>18108.107862536799</c:v>
                </c:pt>
                <c:pt idx="10">
                  <c:v>30714.828830080798</c:v>
                </c:pt>
                <c:pt idx="11">
                  <c:v>39838.462827347597</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1-7F38-4913-89A1-959F083EF4E7}"/>
            </c:ext>
          </c:extLst>
        </c:ser>
        <c:ser>
          <c:idx val="2"/>
          <c:order val="2"/>
          <c:tx>
            <c:strRef>
              <c:f>'Load Scenario 3'!$H$2</c:f>
              <c:strCache>
                <c:ptCount val="1"/>
                <c:pt idx="0">
                  <c:v>Stored [kWh]</c:v>
                </c:pt>
              </c:strCache>
            </c:strRef>
          </c:tx>
          <c:spPr>
            <a:solidFill>
              <a:srgbClr val="ACD5E8"/>
            </a:solidFill>
          </c:spPr>
          <c:invertIfNegative val="0"/>
          <c:val>
            <c:numRef>
              <c:f>'Load Scenario 3'!$H$3:$H$14</c:f>
              <c:numCache>
                <c:formatCode>_ * #,##0_ ;_ * \-#,##0_ ;_ * "-"??_ ;_ @_ </c:formatCode>
                <c:ptCount val="12"/>
                <c:pt idx="0">
                  <c:v>6193.076</c:v>
                </c:pt>
                <c:pt idx="1">
                  <c:v>21763.186000000002</c:v>
                </c:pt>
                <c:pt idx="2">
                  <c:v>26155.078000000001</c:v>
                </c:pt>
                <c:pt idx="3">
                  <c:v>23992.271000000001</c:v>
                </c:pt>
                <c:pt idx="4">
                  <c:v>20040.1149999999</c:v>
                </c:pt>
                <c:pt idx="5">
                  <c:v>18838.554999999898</c:v>
                </c:pt>
                <c:pt idx="6">
                  <c:v>22200.726999999999</c:v>
                </c:pt>
                <c:pt idx="7">
                  <c:v>26082.568999999901</c:v>
                </c:pt>
                <c:pt idx="8">
                  <c:v>28304.594000000001</c:v>
                </c:pt>
                <c:pt idx="9">
                  <c:v>21449.237000000001</c:v>
                </c:pt>
                <c:pt idx="10">
                  <c:v>9733.4599999999991</c:v>
                </c:pt>
                <c:pt idx="11">
                  <c:v>1929.6289999999999</c:v>
                </c:pt>
              </c:numCache>
            </c:numRef>
          </c:val>
          <c:extLst>
            <c:ext xmlns:c16="http://schemas.microsoft.com/office/drawing/2014/chart" uri="{C3380CC4-5D6E-409C-BE32-E72D297353CC}">
              <c16:uniqueId val="{00000002-7F38-4913-89A1-959F083EF4E7}"/>
            </c:ext>
          </c:extLst>
        </c:ser>
        <c:ser>
          <c:idx val="0"/>
          <c:order val="3"/>
          <c:tx>
            <c:strRef>
              <c:f>'Load Scenario 3'!$I$2</c:f>
              <c:strCache>
                <c:ptCount val="1"/>
                <c:pt idx="0">
                  <c:v>Local [kWh]</c:v>
                </c:pt>
              </c:strCache>
            </c:strRef>
          </c:tx>
          <c:spPr>
            <a:solidFill>
              <a:srgbClr val="FF9902"/>
            </a:solidFill>
            <a:ln cmpd="sng">
              <a:noFill/>
            </a:ln>
          </c:spPr>
          <c:invertIfNegative val="1"/>
          <c:cat>
            <c:strRef>
              <c:f>'Load Scenario 3'!$C$3:$C$14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'Load Scenario 3'!$I$3:$I$14</c:f>
              <c:numCache>
                <c:formatCode>_ * #,##0_ ;_ * \-#,##0_ ;_ * "-"??_ ;_ @_ </c:formatCode>
                <c:ptCount val="12"/>
                <c:pt idx="0">
                  <c:v>15490.601043612598</c:v>
                </c:pt>
                <c:pt idx="1">
                  <c:v>27172.870241750599</c:v>
                </c:pt>
                <c:pt idx="2">
                  <c:v>29664.804214334799</c:v>
                </c:pt>
                <c:pt idx="3">
                  <c:v>34484.343999999903</c:v>
                </c:pt>
                <c:pt idx="4">
                  <c:v>36443.156000000105</c:v>
                </c:pt>
                <c:pt idx="5">
                  <c:v>38750.002000000102</c:v>
                </c:pt>
                <c:pt idx="6">
                  <c:v>43414.906999999905</c:v>
                </c:pt>
                <c:pt idx="7">
                  <c:v>34946.1630672553</c:v>
                </c:pt>
                <c:pt idx="8">
                  <c:v>32368.751621394698</c:v>
                </c:pt>
                <c:pt idx="9">
                  <c:v>27346.847137463097</c:v>
                </c:pt>
                <c:pt idx="10">
                  <c:v>19018.325169919102</c:v>
                </c:pt>
                <c:pt idx="11">
                  <c:v>12994.158172652402</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3-7F38-4913-89A1-959F083EF4E7}"/>
            </c:ext>
          </c:extLst>
        </c:ser>
        <c:dLbls>
          <c:showLegendKey val="0"/>
          <c:showVal val="0"/>
          <c:showCatName val="0"/>
          <c:showSerName val="0"/>
          <c:showPercent val="0"/>
          <c:showBubbleSize val="0"/>
        </c:dLbls>
        <c:gapWidth val="150"/>
        <c:overlap val="100"/>
        <c:axId val="1367635366"/>
        <c:axId val="781056130"/>
      </c:barChart>
      <c:catAx>
        <c:axId val="1367635366"/>
        <c:scaling>
          <c:orientation val="minMax"/>
        </c:scaling>
        <c:delete val="0"/>
        <c:axPos val="b"/>
        <c:title>
          <c:tx>
            <c:rich>
              <a:bodyPr/>
              <a:lstStyle/>
              <a:p>
                <a:pPr>
                  <a:defRPr/>
                </a:pPr>
                <a:endParaRPr lang="en-US"/>
              </a:p>
            </c:rich>
          </c:tx>
          <c:overlay val="0"/>
        </c:title>
        <c:numFmt formatCode="General" sourceLinked="1"/>
        <c:majorTickMark val="none"/>
        <c:minorTickMark val="none"/>
        <c:tickLblPos val="nextTo"/>
        <c:crossAx val="781056130"/>
        <c:crosses val="autoZero"/>
        <c:auto val="1"/>
        <c:lblAlgn val="ctr"/>
        <c:lblOffset val="100"/>
        <c:noMultiLvlLbl val="1"/>
      </c:catAx>
      <c:valAx>
        <c:axId val="781056130"/>
        <c:scaling>
          <c:orientation val="minMax"/>
        </c:scaling>
        <c:delete val="0"/>
        <c:axPos val="l"/>
        <c:majorGridlines>
          <c:spPr>
            <a:ln>
              <a:solidFill>
                <a:srgbClr val="B7B7B7"/>
              </a:solidFill>
            </a:ln>
          </c:spPr>
        </c:majorGridlines>
        <c:title>
          <c:tx>
            <c:rich>
              <a:bodyPr/>
              <a:lstStyle/>
              <a:p>
                <a:pPr>
                  <a:defRPr/>
                </a:pPr>
                <a:endParaRPr lang="en-US"/>
              </a:p>
            </c:rich>
          </c:tx>
          <c:overlay val="0"/>
        </c:title>
        <c:numFmt formatCode="_ * #,##0_ ;_ * \-#,##0_ ;_ * &quot;-&quot;??_ ;_ @_ " sourceLinked="1"/>
        <c:majorTickMark val="none"/>
        <c:minorTickMark val="none"/>
        <c:tickLblPos val="nextTo"/>
        <c:spPr>
          <a:ln/>
        </c:spPr>
        <c:crossAx val="1367635366"/>
        <c:crosses val="autoZero"/>
        <c:crossBetween val="between"/>
      </c:valAx>
      <c:spPr>
        <a:noFill/>
        <a:ln>
          <a:noFill/>
        </a:ln>
      </c:spPr>
    </c:plotArea>
    <c:legend>
      <c:legendPos val="b"/>
      <c:layout>
        <c:manualLayout>
          <c:xMode val="edge"/>
          <c:yMode val="edge"/>
          <c:x val="9.8716446079372105E-2"/>
          <c:y val="0.89684386121596571"/>
          <c:w val="0.89861555719460073"/>
          <c:h val="7.7455891360129939E-2"/>
        </c:manualLayout>
      </c:layout>
      <c:overlay val="0"/>
    </c:legend>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91869268517337E-2"/>
          <c:y val="5.0925816683338038E-2"/>
          <c:w val="0.25074371190032396"/>
          <c:h val="0.9083984371660383"/>
        </c:manualLayout>
      </c:layout>
      <c:barChart>
        <c:barDir val="col"/>
        <c:grouping val="stacked"/>
        <c:varyColors val="1"/>
        <c:ser>
          <c:idx val="3"/>
          <c:order val="0"/>
          <c:tx>
            <c:strRef>
              <c:f>'Load Scenario 3'!$G$2</c:f>
              <c:strCache>
                <c:ptCount val="1"/>
                <c:pt idx="0">
                  <c:v>from Gen [kWh]</c:v>
                </c:pt>
              </c:strCache>
            </c:strRef>
          </c:tx>
          <c:spPr>
            <a:solidFill>
              <a:schemeClr val="tx1">
                <a:lumMod val="50000"/>
                <a:lumOff val="50000"/>
              </a:schemeClr>
            </a:solidFill>
          </c:spPr>
          <c:invertIfNegative val="0"/>
          <c:dLbls>
            <c:dLbl>
              <c:idx val="0"/>
              <c:layout>
                <c:manualLayout>
                  <c:x val="-9.6775511029652025E-2"/>
                  <c:y val="-1.4963846970677312E-2"/>
                </c:manualLayout>
              </c:layout>
              <c:tx>
                <c:rich>
                  <a:bodyPr wrap="square" lIns="38100" tIns="19050" rIns="38100" bIns="19050" anchor="ctr" anchorCtr="0">
                    <a:noAutofit/>
                  </a:bodyPr>
                  <a:lstStyle/>
                  <a:p>
                    <a:pPr algn="ctr" rtl="0">
                      <a:defRPr lang="en-US" sz="1200" b="0" i="0" u="none" strike="noStrike" kern="1200" baseline="0">
                        <a:solidFill>
                          <a:schemeClr val="tx1">
                            <a:lumMod val="50000"/>
                            <a:lumOff val="50000"/>
                          </a:schemeClr>
                        </a:solidFill>
                        <a:latin typeface="Poppins" pitchFamily="2" charset="77"/>
                        <a:ea typeface="+mn-ea"/>
                        <a:cs typeface="Poppins" pitchFamily="2" charset="77"/>
                      </a:defRPr>
                    </a:pPr>
                    <a:fld id="{05D5CD9F-80FF-426A-B79B-ED996C8B4FC5}" type="VALUE">
                      <a:rPr lang="en-US">
                        <a:solidFill>
                          <a:schemeClr val="tx1">
                            <a:lumMod val="50000"/>
                            <a:lumOff val="50000"/>
                          </a:schemeClr>
                        </a:solidFill>
                      </a:rPr>
                      <a:pPr algn="ctr" rtl="0">
                        <a:defRPr lang="en-US" sz="1200" b="0" i="0" u="none" strike="noStrike" kern="1200" baseline="0">
                          <a:solidFill>
                            <a:schemeClr val="tx1">
                              <a:lumMod val="50000"/>
                              <a:lumOff val="50000"/>
                            </a:schemeClr>
                          </a:solidFill>
                          <a:latin typeface="Poppins" pitchFamily="2" charset="77"/>
                          <a:ea typeface="+mn-ea"/>
                          <a:cs typeface="Poppins" pitchFamily="2" charset="77"/>
                        </a:defRPr>
                      </a:pPr>
                      <a:t>[VALUE]</a:t>
                    </a:fld>
                    <a:endParaRPr lang="en-US"/>
                  </a:p>
                </c:rich>
              </c:tx>
              <c:spPr>
                <a:noFill/>
                <a:ln>
                  <a:noFill/>
                </a:ln>
                <a:effectLst/>
              </c:spPr>
              <c:dLblPos val="ctr"/>
              <c:showLegendKey val="0"/>
              <c:showVal val="1"/>
              <c:showCatName val="0"/>
              <c:showSerName val="0"/>
              <c:showPercent val="0"/>
              <c:showBubbleSize val="0"/>
              <c:extLst>
                <c:ext xmlns:c15="http://schemas.microsoft.com/office/drawing/2012/chart" uri="{CE6537A1-D6FC-4f65-9D91-7224C49458BB}">
                  <c15:layout>
                    <c:manualLayout>
                      <c:w val="0.79461104489966106"/>
                      <c:h val="7.1018622491965139E-2"/>
                    </c:manualLayout>
                  </c15:layout>
                  <c15:dlblFieldTable/>
                  <c15:showDataLabelsRange val="0"/>
                </c:ext>
                <c:ext xmlns:c16="http://schemas.microsoft.com/office/drawing/2014/chart" uri="{C3380CC4-5D6E-409C-BE32-E72D297353CC}">
                  <c16:uniqueId val="{00000000-03C8-40BA-AA4D-996F7060561A}"/>
                </c:ext>
              </c:extLst>
            </c:dLbl>
            <c:spPr>
              <a:noFill/>
              <a:ln>
                <a:noFill/>
              </a:ln>
              <a:effectLst/>
            </c:spPr>
            <c:txPr>
              <a:bodyPr wrap="square" lIns="38100" tIns="19050" rIns="38100" bIns="19050" anchor="ctr" anchorCtr="0">
                <a:spAutoFit/>
              </a:bodyPr>
              <a:lstStyle/>
              <a:p>
                <a:pPr algn="ctr" rtl="0">
                  <a:defRPr lang="en-US" sz="1200" b="0" i="0" u="none" strike="noStrike" kern="1200" baseline="0">
                    <a:solidFill>
                      <a:schemeClr val="tx1">
                        <a:lumMod val="50000"/>
                        <a:lumOff val="50000"/>
                      </a:schemeClr>
                    </a:solidFill>
                    <a:latin typeface="Poppins" pitchFamily="2" charset="77"/>
                    <a:ea typeface="+mn-ea"/>
                    <a:cs typeface="Poppins" pitchFamily="2" charset="77"/>
                  </a:defRPr>
                </a:pPr>
                <a:endParaRPr lang="nl-NL"/>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3'!$G$16</c:f>
              <c:numCache>
                <c:formatCode>_ * #,##0_ ;_ * \-#,##0_ ;_ * "-"??_ ;_ @_ </c:formatCode>
                <c:ptCount val="1"/>
                <c:pt idx="0">
                  <c:v>29115.415000000001</c:v>
                </c:pt>
              </c:numCache>
            </c:numRef>
          </c:val>
          <c:extLst>
            <c:ext xmlns:c16="http://schemas.microsoft.com/office/drawing/2014/chart" uri="{C3380CC4-5D6E-409C-BE32-E72D297353CC}">
              <c16:uniqueId val="{00000001-03C8-40BA-AA4D-996F7060561A}"/>
            </c:ext>
          </c:extLst>
        </c:ser>
        <c:ser>
          <c:idx val="0"/>
          <c:order val="1"/>
          <c:tx>
            <c:strRef>
              <c:f>'Load Scenario 3'!$F$2</c:f>
              <c:strCache>
                <c:ptCount val="1"/>
                <c:pt idx="0">
                  <c:v>from Grid [kWh]</c:v>
                </c:pt>
              </c:strCache>
            </c:strRef>
          </c:tx>
          <c:spPr>
            <a:solidFill>
              <a:srgbClr val="064C81"/>
            </a:solidFill>
            <a:ln cmpd="sng">
              <a:noFill/>
            </a:ln>
          </c:spPr>
          <c:invertIfNegative val="1"/>
          <c:dLbls>
            <c:dLbl>
              <c:idx val="0"/>
              <c:layout>
                <c:manualLayout>
                  <c:x val="-0.21610941859599025"/>
                  <c:y val="-2.4509736997969062E-2"/>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58406900650670124"/>
                      <c:h val="0.17375036652789835"/>
                    </c:manualLayout>
                  </c15:layout>
                </c:ext>
                <c:ext xmlns:c16="http://schemas.microsoft.com/office/drawing/2014/chart" uri="{C3380CC4-5D6E-409C-BE32-E72D297353CC}">
                  <c16:uniqueId val="{00000002-03C8-40BA-AA4D-996F7060561A}"/>
                </c:ext>
              </c:extLst>
            </c:dLbl>
            <c:spPr>
              <a:noFill/>
              <a:ln>
                <a:noFill/>
              </a:ln>
              <a:effectLst/>
            </c:spPr>
            <c:txPr>
              <a:bodyPr wrap="square" lIns="38100" tIns="19050" rIns="38100" bIns="19050" anchor="ctr">
                <a:spAutoFit/>
              </a:bodyPr>
              <a:lstStyle/>
              <a:p>
                <a:pPr>
                  <a:defRPr sz="1200" b="0">
                    <a:solidFill>
                      <a:srgbClr val="064C81"/>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3'!$F$16</c:f>
              <c:numCache>
                <c:formatCode>_ * #,##0_ ;_ * \-#,##0_ ;_ * "-"??_ ;_ @_ </c:formatCode>
                <c:ptCount val="1"/>
                <c:pt idx="0">
                  <c:v>152082.16933161693</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3-03C8-40BA-AA4D-996F7060561A}"/>
            </c:ext>
          </c:extLst>
        </c:ser>
        <c:ser>
          <c:idx val="2"/>
          <c:order val="2"/>
          <c:tx>
            <c:strRef>
              <c:f>'Load Scenario 3'!$H$2</c:f>
              <c:strCache>
                <c:ptCount val="1"/>
                <c:pt idx="0">
                  <c:v>Stored [kWh]</c:v>
                </c:pt>
              </c:strCache>
            </c:strRef>
          </c:tx>
          <c:spPr>
            <a:solidFill>
              <a:srgbClr val="ACD5E8"/>
            </a:solidFill>
          </c:spPr>
          <c:invertIfNegative val="0"/>
          <c:dLbls>
            <c:dLbl>
              <c:idx val="0"/>
              <c:layout>
                <c:manualLayout>
                  <c:x val="-0.20801171581727179"/>
                  <c:y val="-1.4084592212739838E-2"/>
                </c:manualLayout>
              </c:layout>
              <c:spPr>
                <a:noFill/>
                <a:ln>
                  <a:noFill/>
                </a:ln>
                <a:effectLst/>
              </c:spPr>
              <c:txPr>
                <a:bodyPr wrap="square" lIns="38100" tIns="19050" rIns="38100" bIns="19050" anchor="ctr">
                  <a:spAutoFit/>
                </a:bodyPr>
                <a:lstStyle/>
                <a:p>
                  <a:pPr>
                    <a:defRPr sz="1200" b="0">
                      <a:solidFill>
                        <a:srgbClr val="ACD5E8"/>
                      </a:solidFill>
                      <a:latin typeface="Poppins" pitchFamily="2" charset="77"/>
                      <a:cs typeface="Poppins" pitchFamily="2" charset="77"/>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59991567116109301"/>
                      <c:h val="0.26760583313394509"/>
                    </c:manualLayout>
                  </c15:layout>
                </c:ext>
                <c:ext xmlns:c16="http://schemas.microsoft.com/office/drawing/2014/chart" uri="{C3380CC4-5D6E-409C-BE32-E72D297353CC}">
                  <c16:uniqueId val="{00000004-03C8-40BA-AA4D-996F7060561A}"/>
                </c:ext>
              </c:extLst>
            </c:dLbl>
            <c:spPr>
              <a:noFill/>
              <a:ln>
                <a:noFill/>
              </a:ln>
              <a:effectLst/>
            </c:spPr>
            <c:txPr>
              <a:bodyPr wrap="square" lIns="38100" tIns="19050" rIns="38100" bIns="19050" anchor="ctr">
                <a:spAutoFit/>
              </a:bodyPr>
              <a:lstStyle/>
              <a:p>
                <a:pPr>
                  <a:defRPr sz="1200" b="1">
                    <a:solidFill>
                      <a:srgbClr val="ACD5E8"/>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3'!$H$16</c:f>
              <c:numCache>
                <c:formatCode>_ * #,##0_ ;_ * \-#,##0_ ;_ * "-"??_ ;_ @_ </c:formatCode>
                <c:ptCount val="1"/>
                <c:pt idx="0">
                  <c:v>226682.49699999968</c:v>
                </c:pt>
              </c:numCache>
            </c:numRef>
          </c:val>
          <c:extLst>
            <c:ext xmlns:c16="http://schemas.microsoft.com/office/drawing/2014/chart" uri="{C3380CC4-5D6E-409C-BE32-E72D297353CC}">
              <c16:uniqueId val="{00000005-03C8-40BA-AA4D-996F7060561A}"/>
            </c:ext>
          </c:extLst>
        </c:ser>
        <c:ser>
          <c:idx val="1"/>
          <c:order val="3"/>
          <c:tx>
            <c:strRef>
              <c:f>'Load Scenario 3'!$I$2</c:f>
              <c:strCache>
                <c:ptCount val="1"/>
                <c:pt idx="0">
                  <c:v>Local [kWh]</c:v>
                </c:pt>
              </c:strCache>
            </c:strRef>
          </c:tx>
          <c:spPr>
            <a:solidFill>
              <a:srgbClr val="FF9902"/>
            </a:solidFill>
            <a:ln cmpd="sng">
              <a:noFill/>
            </a:ln>
          </c:spPr>
          <c:invertIfNegative val="1"/>
          <c:dLbls>
            <c:dLbl>
              <c:idx val="0"/>
              <c:layout>
                <c:manualLayout>
                  <c:x val="-0.21521279806821611"/>
                  <c:y val="-3.8609816623273008E-4"/>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65694499332526346"/>
                      <c:h val="0.17375036652789835"/>
                    </c:manualLayout>
                  </c15:layout>
                </c:ext>
                <c:ext xmlns:c16="http://schemas.microsoft.com/office/drawing/2014/chart" uri="{C3380CC4-5D6E-409C-BE32-E72D297353CC}">
                  <c16:uniqueId val="{00000006-03C8-40BA-AA4D-996F7060561A}"/>
                </c:ext>
              </c:extLst>
            </c:dLbl>
            <c:spPr>
              <a:noFill/>
              <a:ln>
                <a:noFill/>
              </a:ln>
              <a:effectLst/>
            </c:spPr>
            <c:txPr>
              <a:bodyPr wrap="square" lIns="38100" tIns="19050" rIns="38100" bIns="19050" anchor="ctr">
                <a:spAutoFit/>
              </a:bodyPr>
              <a:lstStyle/>
              <a:p>
                <a:pPr>
                  <a:defRPr sz="1200" b="0">
                    <a:solidFill>
                      <a:srgbClr val="FF9902"/>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'Load Scenario 3'!$I$16</c:f>
              <c:numCache>
                <c:formatCode>_ * #,##0_ ;_ * \-#,##0_ ;_ * "-"??_ ;_ @_ </c:formatCode>
                <c:ptCount val="1"/>
                <c:pt idx="0">
                  <c:v>352094.92966838263</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7-03C8-40BA-AA4D-996F7060561A}"/>
            </c:ext>
          </c:extLst>
        </c:ser>
        <c:dLbls>
          <c:dLblPos val="ctr"/>
          <c:showLegendKey val="0"/>
          <c:showVal val="1"/>
          <c:showCatName val="0"/>
          <c:showSerName val="0"/>
          <c:showPercent val="0"/>
          <c:showBubbleSize val="0"/>
        </c:dLbls>
        <c:gapWidth val="150"/>
        <c:overlap val="100"/>
        <c:axId val="1719047988"/>
        <c:axId val="986630404"/>
      </c:barChart>
      <c:catAx>
        <c:axId val="1719047988"/>
        <c:scaling>
          <c:orientation val="maxMin"/>
        </c:scaling>
        <c:delete val="1"/>
        <c:axPos val="b"/>
        <c:title>
          <c:tx>
            <c:rich>
              <a:bodyPr/>
              <a:lstStyle/>
              <a:p>
                <a:pPr>
                  <a:defRPr/>
                </a:pPr>
                <a:endParaRPr lang="en-US"/>
              </a:p>
            </c:rich>
          </c:tx>
          <c:overlay val="0"/>
        </c:title>
        <c:numFmt formatCode="General" sourceLinked="1"/>
        <c:majorTickMark val="none"/>
        <c:minorTickMark val="none"/>
        <c:tickLblPos val="nextTo"/>
        <c:crossAx val="986630404"/>
        <c:crosses val="autoZero"/>
        <c:auto val="1"/>
        <c:lblAlgn val="ctr"/>
        <c:lblOffset val="100"/>
        <c:noMultiLvlLbl val="1"/>
      </c:catAx>
      <c:valAx>
        <c:axId val="986630404"/>
        <c:scaling>
          <c:orientation val="minMax"/>
        </c:scaling>
        <c:delete val="1"/>
        <c:axPos val="l"/>
        <c:title>
          <c:tx>
            <c:rich>
              <a:bodyPr/>
              <a:lstStyle/>
              <a:p>
                <a:pPr>
                  <a:defRPr/>
                </a:pPr>
                <a:endParaRPr lang="en-US"/>
              </a:p>
            </c:rich>
          </c:tx>
          <c:overlay val="0"/>
        </c:title>
        <c:numFmt formatCode="_ * #,##0_ ;_ * \-#,##0_ ;_ * &quot;-&quot;??_ ;_ @_ " sourceLinked="1"/>
        <c:majorTickMark val="out"/>
        <c:minorTickMark val="none"/>
        <c:tickLblPos val="nextTo"/>
        <c:crossAx val="1719047988"/>
        <c:crosses val="max"/>
        <c:crossBetween val="between"/>
      </c:valAx>
      <c:spPr>
        <a:noFill/>
        <a:ln>
          <a:noFill/>
        </a:ln>
      </c:spPr>
    </c:plotArea>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lang="en-GB" sz="1400" b="1" i="0" u="none" strike="noStrike" kern="1200" baseline="0">
                <a:solidFill>
                  <a:srgbClr val="034C81"/>
                </a:solidFill>
                <a:latin typeface="+mn-lt"/>
                <a:ea typeface="+mn-ea"/>
                <a:cs typeface="Poppins" pitchFamily="2" charset="77"/>
              </a:defRPr>
            </a:pPr>
            <a:r>
              <a:rPr lang="en-GB" sz="1400" b="1" i="0" u="none" strike="noStrike" kern="1200" baseline="0">
                <a:solidFill>
                  <a:srgbClr val="034C81"/>
                </a:solidFill>
                <a:latin typeface="+mn-lt"/>
                <a:ea typeface="+mn-ea"/>
                <a:cs typeface="Poppins" pitchFamily="2" charset="77"/>
              </a:rPr>
              <a:t>Production [kWh]</a:t>
            </a:r>
          </a:p>
        </c:rich>
      </c:tx>
      <c:overlay val="0"/>
    </c:title>
    <c:autoTitleDeleted val="0"/>
    <c:plotArea>
      <c:layout>
        <c:manualLayout>
          <c:layoutTarget val="inner"/>
          <c:xMode val="edge"/>
          <c:yMode val="edge"/>
          <c:x val="0.1309770942770897"/>
          <c:y val="0.21434709144474612"/>
          <c:w val="0.84067710152079189"/>
          <c:h val="0.60095459534400086"/>
        </c:manualLayout>
      </c:layout>
      <c:barChart>
        <c:barDir val="col"/>
        <c:grouping val="stacked"/>
        <c:varyColors val="1"/>
        <c:ser>
          <c:idx val="0"/>
          <c:order val="0"/>
          <c:tx>
            <c:strRef>
              <c:f>'Production Scenario 3'!$E$2</c:f>
              <c:strCache>
                <c:ptCount val="1"/>
                <c:pt idx="0">
                  <c:v>Local use [kWh]</c:v>
                </c:pt>
              </c:strCache>
            </c:strRef>
          </c:tx>
          <c:spPr>
            <a:solidFill>
              <a:srgbClr val="FF9902"/>
            </a:solidFill>
            <a:ln cmpd="sng">
              <a:noFill/>
            </a:ln>
          </c:spPr>
          <c:invertIfNegative val="1"/>
          <c:cat>
            <c:strRef>
              <c:f>'Production Scenario 3'!$C$3:$C$14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'Production Scenario 3'!$E$3:$E$14</c:f>
              <c:numCache>
                <c:formatCode>_ * #,##0_ ;_ * \-#,##0_ ;_ * "-"??_ ;_ @_ </c:formatCode>
                <c:ptCount val="12"/>
                <c:pt idx="0">
                  <c:v>15490.601043612598</c:v>
                </c:pt>
                <c:pt idx="1">
                  <c:v>27172.870241750599</c:v>
                </c:pt>
                <c:pt idx="2">
                  <c:v>29664.804214334799</c:v>
                </c:pt>
                <c:pt idx="3">
                  <c:v>34484.343999999903</c:v>
                </c:pt>
                <c:pt idx="4">
                  <c:v>36443.156000000105</c:v>
                </c:pt>
                <c:pt idx="5">
                  <c:v>38750.002000000102</c:v>
                </c:pt>
                <c:pt idx="6">
                  <c:v>43414.906999999905</c:v>
                </c:pt>
                <c:pt idx="7">
                  <c:v>34946.1630672553</c:v>
                </c:pt>
                <c:pt idx="8">
                  <c:v>32368.751621394698</c:v>
                </c:pt>
                <c:pt idx="9">
                  <c:v>27346.847137463097</c:v>
                </c:pt>
                <c:pt idx="10">
                  <c:v>19018.325169919102</c:v>
                </c:pt>
                <c:pt idx="11">
                  <c:v>12994.158172652402</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0-37C7-4FC3-8966-E8A3D4F7FCD0}"/>
            </c:ext>
          </c:extLst>
        </c:ser>
        <c:ser>
          <c:idx val="1"/>
          <c:order val="1"/>
          <c:tx>
            <c:strRef>
              <c:f>'Production Scenario 3'!$F$2</c:f>
              <c:strCache>
                <c:ptCount val="1"/>
                <c:pt idx="0">
                  <c:v>Stored [kWh]</c:v>
                </c:pt>
              </c:strCache>
            </c:strRef>
          </c:tx>
          <c:spPr>
            <a:solidFill>
              <a:srgbClr val="ACD5E8"/>
            </a:solidFill>
            <a:ln cmpd="sng">
              <a:noFill/>
            </a:ln>
          </c:spPr>
          <c:invertIfNegative val="1"/>
          <c:cat>
            <c:strRef>
              <c:f>'Production Scenario 3'!$C$3:$C$14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'Production Scenario 3'!$F$3:$F$14</c:f>
              <c:numCache>
                <c:formatCode>_ * #,##0_ ;_ * \-#,##0_ ;_ * "-"??_ ;_ @_ </c:formatCode>
                <c:ptCount val="12"/>
                <c:pt idx="0">
                  <c:v>6193.076</c:v>
                </c:pt>
                <c:pt idx="1">
                  <c:v>21763.186000000002</c:v>
                </c:pt>
                <c:pt idx="2">
                  <c:v>26155.078000000001</c:v>
                </c:pt>
                <c:pt idx="3">
                  <c:v>23992.271000000001</c:v>
                </c:pt>
                <c:pt idx="4">
                  <c:v>20040.1149999999</c:v>
                </c:pt>
                <c:pt idx="5">
                  <c:v>18838.554999999898</c:v>
                </c:pt>
                <c:pt idx="6">
                  <c:v>22200.726999999999</c:v>
                </c:pt>
                <c:pt idx="7">
                  <c:v>26082.568999999901</c:v>
                </c:pt>
                <c:pt idx="8">
                  <c:v>28304.594000000001</c:v>
                </c:pt>
                <c:pt idx="9">
                  <c:v>21449.237000000001</c:v>
                </c:pt>
                <c:pt idx="10">
                  <c:v>9733.4599999999991</c:v>
                </c:pt>
                <c:pt idx="11">
                  <c:v>1929.6289999999999</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1-37C7-4FC3-8966-E8A3D4F7FCD0}"/>
            </c:ext>
          </c:extLst>
        </c:ser>
        <c:ser>
          <c:idx val="2"/>
          <c:order val="2"/>
          <c:tx>
            <c:strRef>
              <c:f>'Production Scenario 3'!$G$2</c:f>
              <c:strCache>
                <c:ptCount val="1"/>
                <c:pt idx="0">
                  <c:v>Curtailed [kWh]</c:v>
                </c:pt>
              </c:strCache>
            </c:strRef>
          </c:tx>
          <c:spPr>
            <a:solidFill>
              <a:srgbClr val="D9D9D9"/>
            </a:solidFill>
            <a:ln cmpd="sng">
              <a:noFill/>
            </a:ln>
          </c:spPr>
          <c:invertIfNegative val="1"/>
          <c:cat>
            <c:strRef>
              <c:f>'Production Scenario 3'!$C$3:$C$14</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'Production Scenario 3'!$G$3:$G$14</c:f>
              <c:numCache>
                <c:formatCode>_ * #,##0_ ;_ * \-#,##0_ ;_ * "-"??_ ;_ @_ </c:formatCode>
                <c:ptCount val="12"/>
                <c:pt idx="0">
                  <c:v>0</c:v>
                </c:pt>
                <c:pt idx="1">
                  <c:v>6873.2079999999996</c:v>
                </c:pt>
                <c:pt idx="2">
                  <c:v>27478.845000000001</c:v>
                </c:pt>
                <c:pt idx="3">
                  <c:v>70810.561999999903</c:v>
                </c:pt>
                <c:pt idx="4">
                  <c:v>98471.654999999999</c:v>
                </c:pt>
                <c:pt idx="5">
                  <c:v>107418.742999999</c:v>
                </c:pt>
                <c:pt idx="6">
                  <c:v>108093.29300000001</c:v>
                </c:pt>
                <c:pt idx="7">
                  <c:v>58717.396000000001</c:v>
                </c:pt>
                <c:pt idx="8">
                  <c:v>30315.314999999999</c:v>
                </c:pt>
                <c:pt idx="9">
                  <c:v>5620.0860000000002</c:v>
                </c:pt>
                <c:pt idx="10">
                  <c:v>0</c:v>
                </c:pt>
                <c:pt idx="11">
                  <c:v>0</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2-37C7-4FC3-8966-E8A3D4F7FCD0}"/>
            </c:ext>
          </c:extLst>
        </c:ser>
        <c:dLbls>
          <c:showLegendKey val="0"/>
          <c:showVal val="0"/>
          <c:showCatName val="0"/>
          <c:showSerName val="0"/>
          <c:showPercent val="0"/>
          <c:showBubbleSize val="0"/>
        </c:dLbls>
        <c:gapWidth val="150"/>
        <c:overlap val="100"/>
        <c:axId val="878011893"/>
        <c:axId val="1303300568"/>
      </c:barChart>
      <c:catAx>
        <c:axId val="878011893"/>
        <c:scaling>
          <c:orientation val="minMax"/>
        </c:scaling>
        <c:delete val="0"/>
        <c:axPos val="b"/>
        <c:title>
          <c:tx>
            <c:rich>
              <a:bodyPr/>
              <a:lstStyle/>
              <a:p>
                <a:pPr>
                  <a:defRPr/>
                </a:pPr>
                <a:endParaRPr lang="en-US"/>
              </a:p>
            </c:rich>
          </c:tx>
          <c:overlay val="0"/>
        </c:title>
        <c:numFmt formatCode="General" sourceLinked="0"/>
        <c:majorTickMark val="none"/>
        <c:minorTickMark val="none"/>
        <c:tickLblPos val="nextTo"/>
        <c:crossAx val="1303300568"/>
        <c:crosses val="autoZero"/>
        <c:auto val="1"/>
        <c:lblAlgn val="ctr"/>
        <c:lblOffset val="100"/>
        <c:noMultiLvlLbl val="1"/>
      </c:catAx>
      <c:valAx>
        <c:axId val="1303300568"/>
        <c:scaling>
          <c:orientation val="minMax"/>
        </c:scaling>
        <c:delete val="0"/>
        <c:axPos val="l"/>
        <c:majorGridlines>
          <c:spPr>
            <a:ln>
              <a:solidFill>
                <a:srgbClr val="B7B7B7"/>
              </a:solidFill>
            </a:ln>
          </c:spPr>
        </c:majorGridlines>
        <c:title>
          <c:tx>
            <c:rich>
              <a:bodyPr/>
              <a:lstStyle/>
              <a:p>
                <a:pPr>
                  <a:defRPr/>
                </a:pPr>
                <a:endParaRPr lang="en-US"/>
              </a:p>
            </c:rich>
          </c:tx>
          <c:overlay val="0"/>
        </c:title>
        <c:numFmt formatCode="_ * #,##0_ ;_ * \-#,##0_ ;_ * &quot;-&quot;??_ ;_ @_ " sourceLinked="1"/>
        <c:majorTickMark val="none"/>
        <c:minorTickMark val="none"/>
        <c:tickLblPos val="nextTo"/>
        <c:spPr>
          <a:ln/>
        </c:spPr>
        <c:crossAx val="878011893"/>
        <c:crosses val="autoZero"/>
        <c:crossBetween val="between"/>
      </c:valAx>
      <c:spPr>
        <a:noFill/>
        <a:ln>
          <a:noFill/>
        </a:ln>
      </c:spPr>
    </c:plotArea>
    <c:legend>
      <c:legendPos val="b"/>
      <c:layout>
        <c:manualLayout>
          <c:xMode val="edge"/>
          <c:yMode val="edge"/>
          <c:x val="0.11302346655184958"/>
          <c:y val="0.90548439014371085"/>
          <c:w val="0.88475939241367263"/>
          <c:h val="9.1719539278172529E-2"/>
        </c:manualLayout>
      </c:layout>
      <c:overlay val="0"/>
    </c:legend>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581836251051117E-2"/>
          <c:y val="7.1540126548684774E-2"/>
          <c:w val="0.25370486456183272"/>
          <c:h val="0.9083984371660383"/>
        </c:manualLayout>
      </c:layout>
      <c:barChart>
        <c:barDir val="col"/>
        <c:grouping val="stacked"/>
        <c:varyColors val="1"/>
        <c:ser>
          <c:idx val="0"/>
          <c:order val="0"/>
          <c:tx>
            <c:strRef>
              <c:f>'Production Scenario 3'!$E$2</c:f>
              <c:strCache>
                <c:ptCount val="1"/>
                <c:pt idx="0">
                  <c:v>Local use [kWh]</c:v>
                </c:pt>
              </c:strCache>
            </c:strRef>
          </c:tx>
          <c:spPr>
            <a:solidFill>
              <a:srgbClr val="064C81"/>
            </a:solidFill>
            <a:ln cmpd="sng">
              <a:noFill/>
            </a:ln>
          </c:spPr>
          <c:invertIfNegative val="1"/>
          <c:dPt>
            <c:idx val="0"/>
            <c:invertIfNegative val="1"/>
            <c:bubble3D val="0"/>
            <c:spPr>
              <a:solidFill>
                <a:srgbClr val="FF9902"/>
              </a:solidFill>
              <a:ln cmpd="sng">
                <a:noFill/>
              </a:ln>
            </c:spPr>
            <c:extLst>
              <c:ext xmlns:c16="http://schemas.microsoft.com/office/drawing/2014/chart" uri="{C3380CC4-5D6E-409C-BE32-E72D297353CC}">
                <c16:uniqueId val="{00000001-2858-4552-9311-3B8E7A31320C}"/>
              </c:ext>
            </c:extLst>
          </c:dPt>
          <c:dLbls>
            <c:dLbl>
              <c:idx val="0"/>
              <c:layout>
                <c:manualLayout>
                  <c:x val="-0.20586306810122984"/>
                  <c:y val="5.9427350479343815E-3"/>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73623812128948607"/>
                      <c:h val="0.23384600410205245"/>
                    </c:manualLayout>
                  </c15:layout>
                </c:ext>
                <c:ext xmlns:c16="http://schemas.microsoft.com/office/drawing/2014/chart" uri="{C3380CC4-5D6E-409C-BE32-E72D297353CC}">
                  <c16:uniqueId val="{00000001-2858-4552-9311-3B8E7A31320C}"/>
                </c:ext>
              </c:extLst>
            </c:dLbl>
            <c:spPr>
              <a:noFill/>
              <a:ln>
                <a:noFill/>
              </a:ln>
              <a:effectLst/>
            </c:spPr>
            <c:txPr>
              <a:bodyPr/>
              <a:lstStyle/>
              <a:p>
                <a:pPr>
                  <a:defRPr sz="1200" b="0">
                    <a:solidFill>
                      <a:srgbClr val="FF9902"/>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'Production Scenario 3'!$E$15</c:f>
              <c:numCache>
                <c:formatCode>_ * #,##0_ ;_ * \-#,##0_ ;_ * "-"??_ ;_ @_ </c:formatCode>
                <c:ptCount val="1"/>
                <c:pt idx="0">
                  <c:v>352094.92966838263</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2-2858-4552-9311-3B8E7A31320C}"/>
            </c:ext>
          </c:extLst>
        </c:ser>
        <c:ser>
          <c:idx val="1"/>
          <c:order val="1"/>
          <c:tx>
            <c:strRef>
              <c:f>'Production Scenario 3'!$F$2</c:f>
              <c:strCache>
                <c:ptCount val="1"/>
                <c:pt idx="0">
                  <c:v>Stored [kWh]</c:v>
                </c:pt>
              </c:strCache>
            </c:strRef>
          </c:tx>
          <c:spPr>
            <a:solidFill>
              <a:srgbClr val="ACD5E8"/>
            </a:solidFill>
            <a:ln cmpd="sng">
              <a:noFill/>
            </a:ln>
          </c:spPr>
          <c:invertIfNegative val="1"/>
          <c:dLbls>
            <c:dLbl>
              <c:idx val="0"/>
              <c:layout>
                <c:manualLayout>
                  <c:x val="-0.16092557696593923"/>
                  <c:y val="2.0531320148677173E-3"/>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79288148643446199"/>
                      <c:h val="0.23384600410205245"/>
                    </c:manualLayout>
                  </c15:layout>
                </c:ext>
                <c:ext xmlns:c16="http://schemas.microsoft.com/office/drawing/2014/chart" uri="{C3380CC4-5D6E-409C-BE32-E72D297353CC}">
                  <c16:uniqueId val="{00000003-2858-4552-9311-3B8E7A31320C}"/>
                </c:ext>
              </c:extLst>
            </c:dLbl>
            <c:spPr>
              <a:noFill/>
              <a:ln>
                <a:noFill/>
              </a:ln>
              <a:effectLst/>
            </c:spPr>
            <c:txPr>
              <a:bodyPr/>
              <a:lstStyle/>
              <a:p>
                <a:pPr>
                  <a:defRPr sz="1200" b="0">
                    <a:solidFill>
                      <a:srgbClr val="ACD5E8"/>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'Production Scenario 3'!$F$15</c:f>
              <c:numCache>
                <c:formatCode>_ * #,##0_ ;_ * \-#,##0_ ;_ * "-"??_ ;_ @_ </c:formatCode>
                <c:ptCount val="1"/>
                <c:pt idx="0">
                  <c:v>226682.49699999968</c:v>
                </c:pt>
              </c:numCache>
            </c:numRef>
          </c:val>
          <c:extLst>
            <c:ext xmlns:c14="http://schemas.microsoft.com/office/drawing/2007/8/2/chart" uri="{6F2FDCE9-48DA-4B69-8628-5D25D57E5C99}">
              <c14:invertSolidFillFmt>
                <c14:spPr xmlns:c14="http://schemas.microsoft.com/office/drawing/2007/8/2/chart">
                  <a:solidFill>
                    <a:srgbClr val="FFFFFF"/>
                  </a:solidFill>
                  <a:ln cmpd="sng">
                    <a:noFill/>
                  </a:ln>
                </c14:spPr>
              </c14:invertSolidFillFmt>
            </c:ext>
            <c:ext xmlns:c16="http://schemas.microsoft.com/office/drawing/2014/chart" uri="{C3380CC4-5D6E-409C-BE32-E72D297353CC}">
              <c16:uniqueId val="{00000004-2858-4552-9311-3B8E7A31320C}"/>
            </c:ext>
          </c:extLst>
        </c:ser>
        <c:ser>
          <c:idx val="2"/>
          <c:order val="2"/>
          <c:tx>
            <c:strRef>
              <c:f>'Production Scenario 3'!$G$2</c:f>
              <c:strCache>
                <c:ptCount val="1"/>
                <c:pt idx="0">
                  <c:v>Curtailed [kWh]</c:v>
                </c:pt>
              </c:strCache>
            </c:strRef>
          </c:tx>
          <c:spPr>
            <a:solidFill>
              <a:srgbClr val="DADADA"/>
            </a:solidFill>
          </c:spPr>
          <c:invertIfNegative val="0"/>
          <c:dLbls>
            <c:dLbl>
              <c:idx val="0"/>
              <c:layout>
                <c:manualLayout>
                  <c:x val="-0.17491581058902195"/>
                  <c:y val="-5.9432029982512966E-3"/>
                </c:manualLayout>
              </c:layout>
              <c:spPr>
                <a:noFill/>
                <a:ln>
                  <a:noFill/>
                </a:ln>
                <a:effectLst/>
              </c:spPr>
              <c:txPr>
                <a:bodyPr wrap="square" lIns="38100" tIns="19050" rIns="38100" bIns="19050" anchor="ctr">
                  <a:spAutoFit/>
                </a:bodyPr>
                <a:lstStyle/>
                <a:p>
                  <a:pPr>
                    <a:defRPr sz="1200" b="0">
                      <a:solidFill>
                        <a:srgbClr val="DADADA"/>
                      </a:solidFill>
                      <a:latin typeface="Poppins" pitchFamily="2" charset="77"/>
                      <a:cs typeface="Poppins" pitchFamily="2" charset="77"/>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71820558020789005"/>
                      <c:h val="0.23384600410205245"/>
                    </c:manualLayout>
                  </c15:layout>
                </c:ext>
                <c:ext xmlns:c16="http://schemas.microsoft.com/office/drawing/2014/chart" uri="{C3380CC4-5D6E-409C-BE32-E72D297353CC}">
                  <c16:uniqueId val="{00000005-2858-4552-9311-3B8E7A31320C}"/>
                </c:ext>
              </c:extLst>
            </c:dLbl>
            <c:spPr>
              <a:noFill/>
              <a:ln>
                <a:noFill/>
              </a:ln>
              <a:effectLst/>
            </c:spPr>
            <c:txPr>
              <a:bodyPr wrap="square" lIns="38100" tIns="19050" rIns="38100" bIns="19050" anchor="ctr">
                <a:spAutoFit/>
              </a:bodyPr>
              <a:lstStyle/>
              <a:p>
                <a:pPr>
                  <a:defRPr sz="1200" b="0">
                    <a:solidFill>
                      <a:srgbClr val="064C81"/>
                    </a:solidFill>
                    <a:latin typeface="Poppins" pitchFamily="2" charset="77"/>
                    <a:cs typeface="Poppins" pitchFamily="2" charset="77"/>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'Production Scenario 3'!$G$15</c:f>
              <c:numCache>
                <c:formatCode>_ * #,##0_ ;_ * \-#,##0_ ;_ * "-"??_ ;_ @_ </c:formatCode>
                <c:ptCount val="1"/>
                <c:pt idx="0">
                  <c:v>513799.1029999989</c:v>
                </c:pt>
              </c:numCache>
            </c:numRef>
          </c:val>
          <c:extLst>
            <c:ext xmlns:c16="http://schemas.microsoft.com/office/drawing/2014/chart" uri="{C3380CC4-5D6E-409C-BE32-E72D297353CC}">
              <c16:uniqueId val="{00000006-2858-4552-9311-3B8E7A31320C}"/>
            </c:ext>
          </c:extLst>
        </c:ser>
        <c:dLbls>
          <c:dLblPos val="ctr"/>
          <c:showLegendKey val="0"/>
          <c:showVal val="1"/>
          <c:showCatName val="0"/>
          <c:showSerName val="0"/>
          <c:showPercent val="0"/>
          <c:showBubbleSize val="0"/>
        </c:dLbls>
        <c:gapWidth val="150"/>
        <c:overlap val="100"/>
        <c:axId val="1719047988"/>
        <c:axId val="986630404"/>
      </c:barChart>
      <c:catAx>
        <c:axId val="1719047988"/>
        <c:scaling>
          <c:orientation val="maxMin"/>
        </c:scaling>
        <c:delete val="1"/>
        <c:axPos val="b"/>
        <c:title>
          <c:tx>
            <c:rich>
              <a:bodyPr/>
              <a:lstStyle/>
              <a:p>
                <a:pPr>
                  <a:defRPr/>
                </a:pPr>
                <a:endParaRPr lang="en-US"/>
              </a:p>
            </c:rich>
          </c:tx>
          <c:overlay val="0"/>
        </c:title>
        <c:numFmt formatCode="General" sourceLinked="1"/>
        <c:majorTickMark val="none"/>
        <c:minorTickMark val="none"/>
        <c:tickLblPos val="nextTo"/>
        <c:crossAx val="986630404"/>
        <c:crosses val="autoZero"/>
        <c:auto val="1"/>
        <c:lblAlgn val="ctr"/>
        <c:lblOffset val="100"/>
        <c:noMultiLvlLbl val="1"/>
      </c:catAx>
      <c:valAx>
        <c:axId val="986630404"/>
        <c:scaling>
          <c:orientation val="minMax"/>
        </c:scaling>
        <c:delete val="1"/>
        <c:axPos val="l"/>
        <c:title>
          <c:tx>
            <c:rich>
              <a:bodyPr/>
              <a:lstStyle/>
              <a:p>
                <a:pPr>
                  <a:defRPr/>
                </a:pPr>
                <a:endParaRPr lang="en-US"/>
              </a:p>
            </c:rich>
          </c:tx>
          <c:overlay val="0"/>
        </c:title>
        <c:numFmt formatCode="_ * #,##0_ ;_ * \-#,##0_ ;_ * &quot;-&quot;??_ ;_ @_ " sourceLinked="1"/>
        <c:majorTickMark val="out"/>
        <c:minorTickMark val="none"/>
        <c:tickLblPos val="nextTo"/>
        <c:crossAx val="1719047988"/>
        <c:crosses val="max"/>
        <c:crossBetween val="between"/>
      </c:valAx>
      <c:spPr>
        <a:noFill/>
        <a:ln>
          <a:noFill/>
        </a:ln>
      </c:spPr>
    </c:plotArea>
    <c:plotVisOnly val="1"/>
    <c:dispBlanksAs val="zero"/>
    <c:showDLblsOverMax val="1"/>
  </c:chart>
  <c:spPr>
    <a:noFill/>
    <a:ln>
      <a:noFill/>
    </a:ln>
  </c:spPr>
  <c:txPr>
    <a:bodyPr/>
    <a:lstStyle/>
    <a:p>
      <a:pPr>
        <a:defRPr b="0" i="0">
          <a:latin typeface="Aptos Light" panose="020B0004020202020204" pitchFamily="34" charset="0"/>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6000" y="812520"/>
            <a:ext cx="7127280" cy="40089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
        <p:nvSpPr>
          <p:cNvPr id="4" name="Google Shape;4;n"/>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hdr" idx="3"/>
          </p:nvPr>
        </p:nvSpPr>
        <p:spPr>
          <a:xfrm>
            <a:off x="0" y="0"/>
            <a:ext cx="3280680" cy="53424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 name="Google Shape;6;n"/>
          <p:cNvSpPr txBox="1">
            <a:spLocks noGrp="1"/>
          </p:cNvSpPr>
          <p:nvPr>
            <p:ph type="dt" idx="10"/>
          </p:nvPr>
        </p:nvSpPr>
        <p:spPr>
          <a:xfrm>
            <a:off x="4278960" y="0"/>
            <a:ext cx="3280680" cy="53424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10157400"/>
            <a:ext cx="3280680" cy="53424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a:t>
            </a:fld>
            <a:endParaRPr sz="14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a:extLst>
            <a:ext uri="{FF2B5EF4-FFF2-40B4-BE49-F238E27FC236}">
              <a16:creationId xmlns:a16="http://schemas.microsoft.com/office/drawing/2014/main" id="{1742F3FB-7E4D-CC35-A3E5-1ADA2691256F}"/>
            </a:ext>
          </a:extLst>
        </p:cNvPr>
        <p:cNvGrpSpPr/>
        <p:nvPr/>
      </p:nvGrpSpPr>
      <p:grpSpPr>
        <a:xfrm>
          <a:off x="0" y="0"/>
          <a:ext cx="0" cy="0"/>
          <a:chOff x="0" y="0"/>
          <a:chExt cx="0" cy="0"/>
        </a:xfrm>
      </p:grpSpPr>
      <p:sp>
        <p:nvSpPr>
          <p:cNvPr id="243" name="Google Shape;243;p1:notes">
            <a:extLst>
              <a:ext uri="{FF2B5EF4-FFF2-40B4-BE49-F238E27FC236}">
                <a16:creationId xmlns:a16="http://schemas.microsoft.com/office/drawing/2014/main" id="{6437B696-7E10-7505-471D-531F772D8889}"/>
              </a:ext>
            </a:extLst>
          </p:cNvPr>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r>
              <a:rPr lang="nl-NL" b="0" i="0" err="1">
                <a:solidFill>
                  <a:srgbClr val="333333"/>
                </a:solidFill>
                <a:effectLst/>
                <a:latin typeface="Segoe UI" panose="020B0502040204020203" pitchFamily="34" charset="0"/>
              </a:rPr>
              <a:t>Could</a:t>
            </a:r>
            <a:r>
              <a:rPr lang="nl-NL" b="0" i="0">
                <a:solidFill>
                  <a:srgbClr val="333333"/>
                </a:solidFill>
                <a:effectLst/>
                <a:latin typeface="Segoe UI" panose="020B0502040204020203" pitchFamily="34" charset="0"/>
              </a:rPr>
              <a:t> </a:t>
            </a:r>
            <a:r>
              <a:rPr lang="nl-NL" b="0" i="0" err="1">
                <a:solidFill>
                  <a:srgbClr val="333333"/>
                </a:solidFill>
                <a:effectLst/>
                <a:latin typeface="Segoe UI" panose="020B0502040204020203" pitchFamily="34" charset="0"/>
              </a:rPr>
              <a:t>you</a:t>
            </a:r>
            <a:r>
              <a:rPr lang="nl-NL" b="0" i="0">
                <a:solidFill>
                  <a:srgbClr val="333333"/>
                </a:solidFill>
                <a:effectLst/>
                <a:latin typeface="Segoe UI" panose="020B0502040204020203" pitchFamily="34" charset="0"/>
              </a:rPr>
              <a:t> </a:t>
            </a:r>
            <a:r>
              <a:rPr lang="nl-NL" b="0" i="0" err="1">
                <a:solidFill>
                  <a:srgbClr val="333333"/>
                </a:solidFill>
                <a:effectLst/>
                <a:latin typeface="Segoe UI" panose="020B0502040204020203" pitchFamily="34" charset="0"/>
              </a:rPr>
              <a:t>create</a:t>
            </a:r>
            <a:r>
              <a:rPr lang="nl-NL" b="0" i="0">
                <a:solidFill>
                  <a:srgbClr val="333333"/>
                </a:solidFill>
                <a:effectLst/>
                <a:latin typeface="Segoe UI" panose="020B0502040204020203" pitchFamily="34" charset="0"/>
              </a:rPr>
              <a:t> a list of </a:t>
            </a:r>
            <a:r>
              <a:rPr lang="nl-NL" b="0" i="0" err="1">
                <a:solidFill>
                  <a:srgbClr val="333333"/>
                </a:solidFill>
                <a:effectLst/>
                <a:latin typeface="Segoe UI" panose="020B0502040204020203" pitchFamily="34" charset="0"/>
              </a:rPr>
              <a:t>icons</a:t>
            </a:r>
            <a:r>
              <a:rPr lang="nl-NL" b="0" i="0">
                <a:solidFill>
                  <a:srgbClr val="333333"/>
                </a:solidFill>
                <a:effectLst/>
                <a:latin typeface="Segoe UI" panose="020B0502040204020203" pitchFamily="34" charset="0"/>
              </a:rPr>
              <a:t> (as </a:t>
            </a:r>
            <a:r>
              <a:rPr lang="nl-NL" b="0" i="0" err="1">
                <a:solidFill>
                  <a:srgbClr val="333333"/>
                </a:solidFill>
                <a:effectLst/>
                <a:latin typeface="Segoe UI" panose="020B0502040204020203" pitchFamily="34" charset="0"/>
              </a:rPr>
              <a:t>used</a:t>
            </a:r>
            <a:r>
              <a:rPr lang="nl-NL" b="0" i="0">
                <a:solidFill>
                  <a:srgbClr val="333333"/>
                </a:solidFill>
                <a:effectLst/>
                <a:latin typeface="Segoe UI" panose="020B0502040204020203" pitchFamily="34" charset="0"/>
              </a:rPr>
              <a:t> in slide 23) </a:t>
            </a:r>
            <a:r>
              <a:rPr lang="nl-NL" b="0" i="0" err="1">
                <a:solidFill>
                  <a:srgbClr val="333333"/>
                </a:solidFill>
                <a:effectLst/>
                <a:latin typeface="Segoe UI" panose="020B0502040204020203" pitchFamily="34" charset="0"/>
              </a:rPr>
              <a:t>and</a:t>
            </a:r>
            <a:r>
              <a:rPr lang="nl-NL" b="0" i="0">
                <a:solidFill>
                  <a:srgbClr val="333333"/>
                </a:solidFill>
                <a:effectLst/>
                <a:latin typeface="Segoe UI" panose="020B0502040204020203" pitchFamily="34" charset="0"/>
              </a:rPr>
              <a:t> </a:t>
            </a:r>
            <a:r>
              <a:rPr lang="nl-NL" b="0" i="0" err="1">
                <a:solidFill>
                  <a:srgbClr val="333333"/>
                </a:solidFill>
                <a:effectLst/>
                <a:latin typeface="Segoe UI" panose="020B0502040204020203" pitchFamily="34" charset="0"/>
              </a:rPr>
              <a:t>send</a:t>
            </a:r>
            <a:r>
              <a:rPr lang="nl-NL" b="0" i="0">
                <a:solidFill>
                  <a:srgbClr val="333333"/>
                </a:solidFill>
                <a:effectLst/>
                <a:latin typeface="Segoe UI" panose="020B0502040204020203" pitchFamily="34" charset="0"/>
              </a:rPr>
              <a:t> </a:t>
            </a:r>
            <a:r>
              <a:rPr lang="nl-NL" b="0" i="0" err="1">
                <a:solidFill>
                  <a:srgbClr val="333333"/>
                </a:solidFill>
                <a:effectLst/>
                <a:latin typeface="Segoe UI" panose="020B0502040204020203" pitchFamily="34" charset="0"/>
              </a:rPr>
              <a:t>them</a:t>
            </a:r>
            <a:r>
              <a:rPr lang="nl-NL" b="0" i="0">
                <a:solidFill>
                  <a:srgbClr val="333333"/>
                </a:solidFill>
                <a:effectLst/>
                <a:latin typeface="Segoe UI" panose="020B0502040204020203" pitchFamily="34" charset="0"/>
              </a:rPr>
              <a:t> </a:t>
            </a:r>
            <a:r>
              <a:rPr lang="nl-NL" b="0" i="0" err="1">
                <a:solidFill>
                  <a:srgbClr val="333333"/>
                </a:solidFill>
                <a:effectLst/>
                <a:latin typeface="Segoe UI" panose="020B0502040204020203" pitchFamily="34" charset="0"/>
              </a:rPr>
              <a:t>separately</a:t>
            </a:r>
            <a:r>
              <a:rPr lang="nl-NL" b="0" i="0">
                <a:solidFill>
                  <a:srgbClr val="333333"/>
                </a:solidFill>
                <a:effectLst/>
                <a:latin typeface="Segoe UI" panose="020B0502040204020203" pitchFamily="34" charset="0"/>
              </a:rPr>
              <a:t> </a:t>
            </a:r>
            <a:r>
              <a:rPr lang="nl-NL" b="0" i="0" err="1">
                <a:solidFill>
                  <a:srgbClr val="333333"/>
                </a:solidFill>
                <a:effectLst/>
                <a:latin typeface="Segoe UI" panose="020B0502040204020203" pitchFamily="34" charset="0"/>
              </a:rPr>
              <a:t>for</a:t>
            </a:r>
            <a:r>
              <a:rPr lang="nl-NL" b="0" i="0">
                <a:solidFill>
                  <a:srgbClr val="333333"/>
                </a:solidFill>
                <a:effectLst/>
                <a:latin typeface="Segoe UI" panose="020B0502040204020203" pitchFamily="34" charset="0"/>
              </a:rPr>
              <a:t>:</a:t>
            </a:r>
          </a:p>
          <a:p>
            <a:pPr marL="342900" indent="-342900">
              <a:buFont typeface="+mj-lt"/>
              <a:buAutoNum type="arabicPeriod"/>
            </a:pPr>
            <a:endParaRPr/>
          </a:p>
        </p:txBody>
      </p:sp>
      <p:sp>
        <p:nvSpPr>
          <p:cNvPr id="244" name="Google Shape;244;p1:notes">
            <a:extLst>
              <a:ext uri="{FF2B5EF4-FFF2-40B4-BE49-F238E27FC236}">
                <a16:creationId xmlns:a16="http://schemas.microsoft.com/office/drawing/2014/main" id="{C26C6EFD-1456-0CAC-3221-EE1D12AFF102}"/>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Tree>
    <p:extLst>
      <p:ext uri="{BB962C8B-B14F-4D97-AF65-F5344CB8AC3E}">
        <p14:creationId xmlns:p14="http://schemas.microsoft.com/office/powerpoint/2010/main" val="3018488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txBody>
          <a:bodyPr/>
          <a:lstStyle/>
          <a:p>
            <a:endParaRPr lang="en-US"/>
          </a:p>
        </p:txBody>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a:solidFill>
                  <a:schemeClr val="tx1">
                    <a:lumMod val="65000"/>
                    <a:lumOff val="35000"/>
                  </a:schemeClr>
                </a:solidFill>
                <a:latin typeface="Arial"/>
                <a:ea typeface="Calibri Light" pitchFamily="34" charset="-122"/>
                <a:cs typeface="Calibri Light" pitchFamily="34" charset="-120"/>
                <a:sym typeface="Arial"/>
              </a:rPr>
              <a:t>Our findings, conclusions and recommendations</a:t>
            </a:r>
            <a:endParaRPr lang="en-US" sz="1100" b="0" i="0" u="none" strike="noStrike" cap="none">
              <a:solidFill>
                <a:schemeClr val="tx1">
                  <a:lumMod val="65000"/>
                  <a:lumOff val="35000"/>
                </a:schemeClr>
              </a:solidFill>
              <a:latin typeface="Arial"/>
              <a:ea typeface="Arial"/>
              <a:cs typeface="Arial"/>
              <a:sym typeface="Arial"/>
            </a:endParaRP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F8847-3C3A-7743-6926-907344255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19E84-E87D-DC46-EEB6-0C0D46BA13B9}"/>
              </a:ext>
            </a:extLst>
          </p:cNvPr>
          <p:cNvSpPr>
            <a:spLocks noGrp="1" noRot="1" noChangeAspect="1"/>
          </p:cNvSpPr>
          <p:nvPr>
            <p:ph type="sldImg"/>
          </p:nvPr>
        </p:nvSpPr>
        <p:spPr>
          <a:xfrm>
            <a:off x="217488" y="812800"/>
            <a:ext cx="7124700" cy="4008438"/>
          </a:xfrm>
        </p:spPr>
        <p:txBody>
          <a:bodyPr/>
          <a:lstStyle/>
          <a:p>
            <a:endParaRPr lang="en-US"/>
          </a:p>
        </p:txBody>
      </p:sp>
      <p:sp>
        <p:nvSpPr>
          <p:cNvPr id="3" name="Notes Placeholder 2">
            <a:extLst>
              <a:ext uri="{FF2B5EF4-FFF2-40B4-BE49-F238E27FC236}">
                <a16:creationId xmlns:a16="http://schemas.microsoft.com/office/drawing/2014/main" id="{AB866690-090D-C594-3143-2BD6ED5ED828}"/>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a:solidFill>
                  <a:schemeClr val="tx1">
                    <a:lumMod val="65000"/>
                    <a:lumOff val="35000"/>
                  </a:schemeClr>
                </a:solidFill>
                <a:latin typeface="Arial"/>
                <a:ea typeface="Arial"/>
                <a:cs typeface="Calibri Light" pitchFamily="34" charset="-120"/>
                <a:sym typeface="Arial"/>
              </a:rPr>
              <a:t>Asset setup and contextual factors impacting performance and value</a:t>
            </a:r>
          </a:p>
          <a:p>
            <a:endParaRPr lang="en-US"/>
          </a:p>
        </p:txBody>
      </p:sp>
      <p:sp>
        <p:nvSpPr>
          <p:cNvPr id="4" name="Slide Number Placeholder 3">
            <a:extLst>
              <a:ext uri="{FF2B5EF4-FFF2-40B4-BE49-F238E27FC236}">
                <a16:creationId xmlns:a16="http://schemas.microsoft.com/office/drawing/2014/main" id="{9248EE0B-A0DE-BD1F-7878-05EF0D57680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185305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C0733-65B7-BB3F-AD9C-4BA08C0EB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785DB-2467-4566-DBBA-AA4565F4DBB6}"/>
              </a:ext>
            </a:extLst>
          </p:cNvPr>
          <p:cNvSpPr>
            <a:spLocks noGrp="1" noRot="1" noChangeAspect="1"/>
          </p:cNvSpPr>
          <p:nvPr>
            <p:ph type="sldImg"/>
          </p:nvPr>
        </p:nvSpPr>
        <p:spPr>
          <a:xfrm>
            <a:off x="217488" y="812800"/>
            <a:ext cx="7124700" cy="4008438"/>
          </a:xfrm>
        </p:spPr>
        <p:txBody>
          <a:bodyPr/>
          <a:lstStyle/>
          <a:p>
            <a:endParaRPr lang="en-US"/>
          </a:p>
        </p:txBody>
      </p:sp>
      <p:sp>
        <p:nvSpPr>
          <p:cNvPr id="3" name="Notes Placeholder 2">
            <a:extLst>
              <a:ext uri="{FF2B5EF4-FFF2-40B4-BE49-F238E27FC236}">
                <a16:creationId xmlns:a16="http://schemas.microsoft.com/office/drawing/2014/main" id="{C72A0F53-37EA-902F-2F6D-467AB076C523}"/>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a:solidFill>
                  <a:schemeClr val="tx1">
                    <a:lumMod val="65000"/>
                    <a:lumOff val="35000"/>
                  </a:schemeClr>
                </a:solidFill>
                <a:latin typeface="Arial"/>
                <a:ea typeface="Arial"/>
                <a:cs typeface="Calibri Light" pitchFamily="34" charset="-120"/>
                <a:sym typeface="Arial"/>
              </a:rPr>
              <a:t>Asset setup and contextual factors impacting performance and value</a:t>
            </a:r>
          </a:p>
          <a:p>
            <a:endParaRPr lang="en-US"/>
          </a:p>
        </p:txBody>
      </p:sp>
      <p:sp>
        <p:nvSpPr>
          <p:cNvPr id="4" name="Slide Number Placeholder 3">
            <a:extLst>
              <a:ext uri="{FF2B5EF4-FFF2-40B4-BE49-F238E27FC236}">
                <a16:creationId xmlns:a16="http://schemas.microsoft.com/office/drawing/2014/main" id="{503CA8CB-B64B-9691-D44F-45141A2481D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013303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C8A48-344D-2553-A8FB-F17E4D7025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B8AE67-2C27-77C9-BDAC-F249FCE0C497}"/>
              </a:ext>
            </a:extLst>
          </p:cNvPr>
          <p:cNvSpPr>
            <a:spLocks noGrp="1" noRot="1" noChangeAspect="1"/>
          </p:cNvSpPr>
          <p:nvPr>
            <p:ph type="sldImg"/>
          </p:nvPr>
        </p:nvSpPr>
        <p:spPr>
          <a:xfrm>
            <a:off x="217488" y="812800"/>
            <a:ext cx="7124700" cy="4008438"/>
          </a:xfrm>
        </p:spPr>
        <p:txBody>
          <a:bodyPr/>
          <a:lstStyle/>
          <a:p>
            <a:endParaRPr lang="en-US"/>
          </a:p>
        </p:txBody>
      </p:sp>
      <p:sp>
        <p:nvSpPr>
          <p:cNvPr id="3" name="Notes Placeholder 2">
            <a:extLst>
              <a:ext uri="{FF2B5EF4-FFF2-40B4-BE49-F238E27FC236}">
                <a16:creationId xmlns:a16="http://schemas.microsoft.com/office/drawing/2014/main" id="{02E63F4E-EFEB-948D-0C35-D720B1A2656E}"/>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a:solidFill>
                  <a:schemeClr val="tx1">
                    <a:lumMod val="65000"/>
                    <a:lumOff val="35000"/>
                  </a:schemeClr>
                </a:solidFill>
                <a:latin typeface="Arial"/>
                <a:ea typeface="Arial"/>
                <a:cs typeface="Calibri Light" pitchFamily="34" charset="-120"/>
                <a:sym typeface="Arial"/>
              </a:rPr>
              <a:t>Asset setup and contextual factors impacting performance and value</a:t>
            </a:r>
          </a:p>
          <a:p>
            <a:endParaRPr lang="en-US"/>
          </a:p>
        </p:txBody>
      </p:sp>
      <p:sp>
        <p:nvSpPr>
          <p:cNvPr id="4" name="Slide Number Placeholder 3">
            <a:extLst>
              <a:ext uri="{FF2B5EF4-FFF2-40B4-BE49-F238E27FC236}">
                <a16:creationId xmlns:a16="http://schemas.microsoft.com/office/drawing/2014/main" id="{C39408F4-3504-9764-6E76-171EC38E2C23}"/>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939719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9C13A-9ABC-CEB2-0FF9-1850CCE4D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7F1FC-78C2-8D39-8C55-33EF343C44AF}"/>
              </a:ext>
            </a:extLst>
          </p:cNvPr>
          <p:cNvSpPr>
            <a:spLocks noGrp="1" noRot="1" noChangeAspect="1"/>
          </p:cNvSpPr>
          <p:nvPr>
            <p:ph type="sldImg"/>
          </p:nvPr>
        </p:nvSpPr>
        <p:spPr>
          <a:xfrm>
            <a:off x="217488" y="812800"/>
            <a:ext cx="7124700" cy="4008438"/>
          </a:xfrm>
        </p:spPr>
        <p:txBody>
          <a:bodyPr/>
          <a:lstStyle/>
          <a:p>
            <a:endParaRPr lang="en-US"/>
          </a:p>
        </p:txBody>
      </p:sp>
      <p:sp>
        <p:nvSpPr>
          <p:cNvPr id="3" name="Notes Placeholder 2">
            <a:extLst>
              <a:ext uri="{FF2B5EF4-FFF2-40B4-BE49-F238E27FC236}">
                <a16:creationId xmlns:a16="http://schemas.microsoft.com/office/drawing/2014/main" id="{362E3B15-F77E-2A8B-9E1E-9F2CFFD5CEEE}"/>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a:solidFill>
                  <a:schemeClr val="tx1">
                    <a:lumMod val="65000"/>
                    <a:lumOff val="35000"/>
                  </a:schemeClr>
                </a:solidFill>
                <a:latin typeface="Arial"/>
                <a:ea typeface="Arial"/>
                <a:cs typeface="Calibri Light" pitchFamily="34" charset="-120"/>
                <a:sym typeface="Arial"/>
              </a:rPr>
              <a:t>Asset setup and contextual factors impacting performance and value</a:t>
            </a:r>
          </a:p>
          <a:p>
            <a:endParaRPr lang="en-US"/>
          </a:p>
        </p:txBody>
      </p:sp>
      <p:sp>
        <p:nvSpPr>
          <p:cNvPr id="4" name="Slide Number Placeholder 3">
            <a:extLst>
              <a:ext uri="{FF2B5EF4-FFF2-40B4-BE49-F238E27FC236}">
                <a16:creationId xmlns:a16="http://schemas.microsoft.com/office/drawing/2014/main" id="{D4ACB2BB-B26A-D97F-05EE-57746C63F63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99216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txBody>
          <a:bodyPr/>
          <a:lstStyle/>
          <a:p>
            <a:endParaRPr lang="en-US"/>
          </a:p>
        </p:txBody>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a:solidFill>
                  <a:schemeClr val="tx1">
                    <a:lumMod val="65000"/>
                    <a:lumOff val="35000"/>
                  </a:schemeClr>
                </a:solidFill>
                <a:latin typeface="Arial"/>
                <a:ea typeface="Arial"/>
                <a:cs typeface="Calibri Light" pitchFamily="34" charset="-120"/>
                <a:sym typeface="Arial"/>
              </a:rPr>
              <a:t>Asset setup and contextual factors impacting performance and value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4A6FF-1335-FCC6-76B7-FCC22D6C9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CA9EB-B4CB-130E-0AAA-33B0CE71BC94}"/>
              </a:ext>
            </a:extLst>
          </p:cNvPr>
          <p:cNvSpPr>
            <a:spLocks noGrp="1" noRot="1" noChangeAspect="1"/>
          </p:cNvSpPr>
          <p:nvPr>
            <p:ph type="sldImg"/>
          </p:nvPr>
        </p:nvSpPr>
        <p:spPr>
          <a:xfrm>
            <a:off x="217488" y="812800"/>
            <a:ext cx="7124700" cy="4008438"/>
          </a:xfrm>
        </p:spPr>
        <p:txBody>
          <a:bodyPr/>
          <a:lstStyle/>
          <a:p>
            <a:endParaRPr lang="en-US"/>
          </a:p>
        </p:txBody>
      </p:sp>
      <p:sp>
        <p:nvSpPr>
          <p:cNvPr id="3" name="Notes Placeholder 2">
            <a:extLst>
              <a:ext uri="{FF2B5EF4-FFF2-40B4-BE49-F238E27FC236}">
                <a16:creationId xmlns:a16="http://schemas.microsoft.com/office/drawing/2014/main" id="{296C657F-2B87-CFC1-4985-021C6E20170B}"/>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a:solidFill>
                  <a:schemeClr val="tx1">
                    <a:lumMod val="65000"/>
                    <a:lumOff val="35000"/>
                  </a:schemeClr>
                </a:solidFill>
                <a:latin typeface="Arial"/>
                <a:ea typeface="Arial"/>
                <a:cs typeface="Calibri Light" pitchFamily="34" charset="-120"/>
                <a:sym typeface="Arial"/>
              </a:rPr>
              <a:t>Asset setup and contextual factors impacting performance and value</a:t>
            </a:r>
          </a:p>
          <a:p>
            <a:endParaRPr lang="en-US"/>
          </a:p>
        </p:txBody>
      </p:sp>
      <p:sp>
        <p:nvSpPr>
          <p:cNvPr id="4" name="Slide Number Placeholder 3">
            <a:extLst>
              <a:ext uri="{FF2B5EF4-FFF2-40B4-BE49-F238E27FC236}">
                <a16:creationId xmlns:a16="http://schemas.microsoft.com/office/drawing/2014/main" id="{6C735597-09A3-3A9B-2B47-B0270DBC6D2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653013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982A8-AA40-0536-BB89-6597EDF33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31FF0-A4DD-CC18-2169-3826D0B750A0}"/>
              </a:ext>
            </a:extLst>
          </p:cNvPr>
          <p:cNvSpPr>
            <a:spLocks noGrp="1" noRot="1" noChangeAspect="1"/>
          </p:cNvSpPr>
          <p:nvPr>
            <p:ph type="sldImg"/>
          </p:nvPr>
        </p:nvSpPr>
        <p:spPr>
          <a:xfrm>
            <a:off x="217488" y="812800"/>
            <a:ext cx="7124700" cy="4008438"/>
          </a:xfrm>
        </p:spPr>
        <p:txBody>
          <a:bodyPr/>
          <a:lstStyle/>
          <a:p>
            <a:endParaRPr lang="en-US"/>
          </a:p>
        </p:txBody>
      </p:sp>
      <p:sp>
        <p:nvSpPr>
          <p:cNvPr id="3" name="Notes Placeholder 2">
            <a:extLst>
              <a:ext uri="{FF2B5EF4-FFF2-40B4-BE49-F238E27FC236}">
                <a16:creationId xmlns:a16="http://schemas.microsoft.com/office/drawing/2014/main" id="{71D8C3E4-49F6-03F3-A6D3-148CC553A2D3}"/>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a:solidFill>
                  <a:schemeClr val="tx1">
                    <a:lumMod val="65000"/>
                    <a:lumOff val="35000"/>
                  </a:schemeClr>
                </a:solidFill>
                <a:latin typeface="Arial"/>
                <a:ea typeface="Arial"/>
                <a:cs typeface="Calibri Light" pitchFamily="34" charset="-120"/>
                <a:sym typeface="Arial"/>
              </a:rPr>
              <a:t>Asset setup and contextual factors impacting performance and value</a:t>
            </a:r>
          </a:p>
          <a:p>
            <a:endParaRPr lang="en-US"/>
          </a:p>
        </p:txBody>
      </p:sp>
      <p:sp>
        <p:nvSpPr>
          <p:cNvPr id="4" name="Slide Number Placeholder 3">
            <a:extLst>
              <a:ext uri="{FF2B5EF4-FFF2-40B4-BE49-F238E27FC236}">
                <a16:creationId xmlns:a16="http://schemas.microsoft.com/office/drawing/2014/main" id="{6A24A924-2E14-E177-32C4-CE88385D262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42350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312D1-ACC4-A76F-1FB4-4E171B4FF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6015C5-38CC-BC10-4865-CD86AB84EDF2}"/>
              </a:ext>
            </a:extLst>
          </p:cNvPr>
          <p:cNvSpPr>
            <a:spLocks noGrp="1" noRot="1" noChangeAspect="1"/>
          </p:cNvSpPr>
          <p:nvPr>
            <p:ph type="sldImg"/>
          </p:nvPr>
        </p:nvSpPr>
        <p:spPr>
          <a:xfrm>
            <a:off x="217488" y="812800"/>
            <a:ext cx="7124700" cy="4008438"/>
          </a:xfrm>
        </p:spPr>
        <p:txBody>
          <a:bodyPr/>
          <a:lstStyle/>
          <a:p>
            <a:endParaRPr lang="en-US"/>
          </a:p>
        </p:txBody>
      </p:sp>
      <p:sp>
        <p:nvSpPr>
          <p:cNvPr id="3" name="Notes Placeholder 2">
            <a:extLst>
              <a:ext uri="{FF2B5EF4-FFF2-40B4-BE49-F238E27FC236}">
                <a16:creationId xmlns:a16="http://schemas.microsoft.com/office/drawing/2014/main" id="{2A86B4F9-4627-70E8-8C21-1ADE7AC70CB2}"/>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a:solidFill>
                  <a:schemeClr val="tx1">
                    <a:lumMod val="65000"/>
                    <a:lumOff val="35000"/>
                  </a:schemeClr>
                </a:solidFill>
                <a:latin typeface="Arial"/>
                <a:ea typeface="Arial"/>
                <a:cs typeface="Calibri Light" pitchFamily="34" charset="-120"/>
                <a:sym typeface="Arial"/>
              </a:rPr>
              <a:t>Asset setup and contextual factors impacting performance and value</a:t>
            </a:r>
          </a:p>
          <a:p>
            <a:endParaRPr lang="en-US"/>
          </a:p>
        </p:txBody>
      </p:sp>
      <p:sp>
        <p:nvSpPr>
          <p:cNvPr id="4" name="Slide Number Placeholder 3">
            <a:extLst>
              <a:ext uri="{FF2B5EF4-FFF2-40B4-BE49-F238E27FC236}">
                <a16:creationId xmlns:a16="http://schemas.microsoft.com/office/drawing/2014/main" id="{4FDF3452-51F4-51F4-9632-C77D323B828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23334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8395F-69BA-42BC-00D5-FBBC2F638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F55E9-EF1A-2346-BAE3-D693F22E00BD}"/>
              </a:ext>
            </a:extLst>
          </p:cNvPr>
          <p:cNvSpPr>
            <a:spLocks noGrp="1" noRot="1" noChangeAspect="1"/>
          </p:cNvSpPr>
          <p:nvPr>
            <p:ph type="sldImg"/>
          </p:nvPr>
        </p:nvSpPr>
        <p:spPr>
          <a:xfrm>
            <a:off x="217488" y="812800"/>
            <a:ext cx="7124700" cy="4008438"/>
          </a:xfrm>
        </p:spPr>
        <p:txBody>
          <a:bodyPr/>
          <a:lstStyle/>
          <a:p>
            <a:endParaRPr lang="en-US"/>
          </a:p>
        </p:txBody>
      </p:sp>
      <p:sp>
        <p:nvSpPr>
          <p:cNvPr id="3" name="Notes Placeholder 2">
            <a:extLst>
              <a:ext uri="{FF2B5EF4-FFF2-40B4-BE49-F238E27FC236}">
                <a16:creationId xmlns:a16="http://schemas.microsoft.com/office/drawing/2014/main" id="{0F99C174-10EE-1A80-E74B-0FE98F82F732}"/>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a:solidFill>
                  <a:schemeClr val="tx1">
                    <a:lumMod val="65000"/>
                    <a:lumOff val="35000"/>
                  </a:schemeClr>
                </a:solidFill>
                <a:latin typeface="Arial"/>
                <a:ea typeface="Arial"/>
                <a:cs typeface="Calibri Light" pitchFamily="34" charset="-120"/>
                <a:sym typeface="Arial"/>
              </a:rPr>
              <a:t>Asset setup and contextual factors impacting performance and value</a:t>
            </a:r>
          </a:p>
          <a:p>
            <a:endParaRPr lang="en-US"/>
          </a:p>
        </p:txBody>
      </p:sp>
      <p:sp>
        <p:nvSpPr>
          <p:cNvPr id="4" name="Slide Number Placeholder 3">
            <a:extLst>
              <a:ext uri="{FF2B5EF4-FFF2-40B4-BE49-F238E27FC236}">
                <a16:creationId xmlns:a16="http://schemas.microsoft.com/office/drawing/2014/main" id="{9C116003-4BB4-8EDC-9057-37C442A7EB2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061469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B6B84-446D-F909-C59D-91825D835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F7F7D-6BFA-6271-B6C8-0B110F40642E}"/>
              </a:ext>
            </a:extLst>
          </p:cNvPr>
          <p:cNvSpPr>
            <a:spLocks noGrp="1" noRot="1" noChangeAspect="1"/>
          </p:cNvSpPr>
          <p:nvPr>
            <p:ph type="sldImg"/>
          </p:nvPr>
        </p:nvSpPr>
        <p:spPr>
          <a:xfrm>
            <a:off x="217488" y="812800"/>
            <a:ext cx="7124700" cy="4008438"/>
          </a:xfrm>
        </p:spPr>
        <p:txBody>
          <a:bodyPr/>
          <a:lstStyle/>
          <a:p>
            <a:endParaRPr lang="en-US"/>
          </a:p>
        </p:txBody>
      </p:sp>
      <p:sp>
        <p:nvSpPr>
          <p:cNvPr id="3" name="Notes Placeholder 2">
            <a:extLst>
              <a:ext uri="{FF2B5EF4-FFF2-40B4-BE49-F238E27FC236}">
                <a16:creationId xmlns:a16="http://schemas.microsoft.com/office/drawing/2014/main" id="{20C71085-4997-24D6-F1CD-2535FAF5B426}"/>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i="0" u="none" strike="noStrike" cap="none">
                <a:solidFill>
                  <a:schemeClr val="tx1">
                    <a:lumMod val="65000"/>
                    <a:lumOff val="35000"/>
                  </a:schemeClr>
                </a:solidFill>
                <a:latin typeface="Arial"/>
                <a:ea typeface="Arial"/>
                <a:cs typeface="Calibri Light" pitchFamily="34" charset="-120"/>
                <a:sym typeface="Arial"/>
              </a:rPr>
              <a:t>Asset setup and contextual factors impacting performance and value</a:t>
            </a:r>
          </a:p>
          <a:p>
            <a:endParaRPr lang="en-US"/>
          </a:p>
        </p:txBody>
      </p:sp>
      <p:sp>
        <p:nvSpPr>
          <p:cNvPr id="4" name="Slide Number Placeholder 3">
            <a:extLst>
              <a:ext uri="{FF2B5EF4-FFF2-40B4-BE49-F238E27FC236}">
                <a16:creationId xmlns:a16="http://schemas.microsoft.com/office/drawing/2014/main" id="{D4EC6626-C0E9-3F12-5B28-6EE6492A5E5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218927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a:extLst>
            <a:ext uri="{FF2B5EF4-FFF2-40B4-BE49-F238E27FC236}">
              <a16:creationId xmlns:a16="http://schemas.microsoft.com/office/drawing/2014/main" id="{9F5F4294-7468-F75D-783F-5823E1DD6F7C}"/>
            </a:ext>
          </a:extLst>
        </p:cNvPr>
        <p:cNvGrpSpPr/>
        <p:nvPr/>
      </p:nvGrpSpPr>
      <p:grpSpPr>
        <a:xfrm>
          <a:off x="0" y="0"/>
          <a:ext cx="0" cy="0"/>
          <a:chOff x="0" y="0"/>
          <a:chExt cx="0" cy="0"/>
        </a:xfrm>
      </p:grpSpPr>
      <p:sp>
        <p:nvSpPr>
          <p:cNvPr id="239" name="Google Shape;239;g3b6bfccb84b_0_395:notes">
            <a:extLst>
              <a:ext uri="{FF2B5EF4-FFF2-40B4-BE49-F238E27FC236}">
                <a16:creationId xmlns:a16="http://schemas.microsoft.com/office/drawing/2014/main" id="{996F4717-594A-42AA-9793-ADAA49D709B5}"/>
              </a:ext>
            </a:extLst>
          </p:cNvPr>
          <p:cNvSpPr txBox="1">
            <a:spLocks noGrp="1"/>
          </p:cNvSpPr>
          <p:nvPr>
            <p:ph type="body" idx="1"/>
          </p:nvPr>
        </p:nvSpPr>
        <p:spPr>
          <a:xfrm>
            <a:off x="756000" y="5078520"/>
            <a:ext cx="6047700" cy="48111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b6bfccb84b_0_395:notes">
            <a:extLst>
              <a:ext uri="{FF2B5EF4-FFF2-40B4-BE49-F238E27FC236}">
                <a16:creationId xmlns:a16="http://schemas.microsoft.com/office/drawing/2014/main" id="{9A2841DA-7845-08B9-072B-F92A74E30DB4}"/>
              </a:ext>
            </a:extLst>
          </p:cNvPr>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Tree>
    <p:extLst>
      <p:ext uri="{BB962C8B-B14F-4D97-AF65-F5344CB8AC3E}">
        <p14:creationId xmlns:p14="http://schemas.microsoft.com/office/powerpoint/2010/main" val="37300971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Alleen titel" type="titleOnly">
  <p:cSld name="TITLE_ONLY">
    <p:bg>
      <p:bgPr>
        <a:solidFill>
          <a:schemeClr val="lt1"/>
        </a:solidFill>
        <a:effectLst/>
      </p:bgPr>
    </p:bg>
    <p:spTree>
      <p:nvGrpSpPr>
        <p:cNvPr id="1" name="Shape 69"/>
        <p:cNvGrpSpPr/>
        <p:nvPr/>
      </p:nvGrpSpPr>
      <p:grpSpPr>
        <a:xfrm>
          <a:off x="0" y="0"/>
          <a:ext cx="0" cy="0"/>
          <a:chOff x="0" y="0"/>
          <a:chExt cx="0" cy="0"/>
        </a:xfrm>
      </p:grpSpPr>
      <p:sp>
        <p:nvSpPr>
          <p:cNvPr id="70" name="Google Shape;70;g3764b2a12a7_0_535"/>
          <p:cNvSpPr txBox="1">
            <a:spLocks noGrp="1"/>
          </p:cNvSpPr>
          <p:nvPr>
            <p:ph type="title"/>
          </p:nvPr>
        </p:nvSpPr>
        <p:spPr>
          <a:xfrm>
            <a:off x="505064" y="365130"/>
            <a:ext cx="10703100" cy="5277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1800"/>
              <a:buNone/>
              <a:defRPr sz="2400" b="1">
                <a:solidFill>
                  <a:schemeClr val="accen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g3764b2a12a7_0_535"/>
          <p:cNvSpPr/>
          <p:nvPr/>
        </p:nvSpPr>
        <p:spPr>
          <a:xfrm>
            <a:off x="1" y="342329"/>
            <a:ext cx="424924" cy="561271"/>
          </a:xfrm>
          <a:prstGeom prst="rect">
            <a:avLst/>
          </a:prstGeom>
          <a:solidFill>
            <a:schemeClr val="accent4">
              <a:lumMod val="20000"/>
              <a:lumOff val="8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73" name="Google Shape;73;g3764b2a12a7_0_535"/>
          <p:cNvCxnSpPr>
            <a:cxnSpLocks/>
          </p:cNvCxnSpPr>
          <p:nvPr/>
        </p:nvCxnSpPr>
        <p:spPr>
          <a:xfrm rot="5400000">
            <a:off x="223359" y="6292929"/>
            <a:ext cx="0" cy="178200"/>
          </a:xfrm>
          <a:prstGeom prst="straightConnector1">
            <a:avLst/>
          </a:prstGeom>
          <a:noFill/>
          <a:ln w="9525" cap="flat" cmpd="sng">
            <a:solidFill>
              <a:srgbClr val="D8D8D8"/>
            </a:solidFill>
            <a:prstDash val="solid"/>
            <a:round/>
            <a:headEnd type="none" w="sm" len="sm"/>
            <a:tailEnd type="none" w="sm" len="sm"/>
          </a:ln>
        </p:spPr>
      </p:cxnSp>
      <p:sp>
        <p:nvSpPr>
          <p:cNvPr id="74" name="Google Shape;74;g3764b2a12a7_0_535"/>
          <p:cNvSpPr txBox="1"/>
          <p:nvPr/>
        </p:nvSpPr>
        <p:spPr>
          <a:xfrm>
            <a:off x="73209" y="6521878"/>
            <a:ext cx="300300" cy="1692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1200"/>
              <a:buFont typeface="Arial"/>
              <a:buNone/>
            </a:pPr>
            <a:fld id="{00000000-1234-1234-1234-123412341234}" type="slidenum">
              <a:rPr lang="en-US" sz="1100" b="0" i="0" u="none" strike="noStrike" cap="none">
                <a:solidFill>
                  <a:schemeClr val="accent1"/>
                </a:solidFill>
                <a:latin typeface="Poppins Light"/>
                <a:ea typeface="Poppins Light"/>
                <a:cs typeface="Poppins Light"/>
                <a:sym typeface="Poppins Light"/>
              </a:rPr>
              <a:t>‹#›</a:t>
            </a:fld>
            <a:endParaRPr sz="1100" b="0" i="0" u="none" strike="noStrike" cap="none">
              <a:solidFill>
                <a:schemeClr val="accent1"/>
              </a:solidFill>
              <a:latin typeface="Poppins Light"/>
              <a:ea typeface="Poppins Light"/>
              <a:cs typeface="Poppins Light"/>
              <a:sym typeface="Poppins Light"/>
            </a:endParaRPr>
          </a:p>
        </p:txBody>
      </p:sp>
      <p:pic>
        <p:nvPicPr>
          <p:cNvPr id="75" name="Google Shape;75;g3764b2a12a7_0_535"/>
          <p:cNvPicPr preferRelativeResize="0"/>
          <p:nvPr/>
        </p:nvPicPr>
        <p:blipFill>
          <a:blip r:embed="rId2">
            <a:alphaModFix/>
          </a:blip>
          <a:stretch>
            <a:fillRect/>
          </a:stretch>
        </p:blipFill>
        <p:spPr>
          <a:xfrm rot="16200000">
            <a:off x="-700928" y="5242004"/>
            <a:ext cx="1848575" cy="291627"/>
          </a:xfrm>
          <a:prstGeom prst="rect">
            <a:avLst/>
          </a:prstGeom>
          <a:noFill/>
          <a:ln>
            <a:noFill/>
          </a:ln>
        </p:spPr>
      </p:pic>
      <p:cxnSp>
        <p:nvCxnSpPr>
          <p:cNvPr id="3" name="Straight Connector 2">
            <a:extLst>
              <a:ext uri="{FF2B5EF4-FFF2-40B4-BE49-F238E27FC236}">
                <a16:creationId xmlns:a16="http://schemas.microsoft.com/office/drawing/2014/main" id="{34F211DD-F0FC-9E7E-DAEA-EC815D82B4AF}"/>
              </a:ext>
            </a:extLst>
          </p:cNvPr>
          <p:cNvCxnSpPr>
            <a:cxnSpLocks/>
          </p:cNvCxnSpPr>
          <p:nvPr userDrawn="1"/>
        </p:nvCxnSpPr>
        <p:spPr>
          <a:xfrm>
            <a:off x="424927" y="37652"/>
            <a:ext cx="0" cy="6820348"/>
          </a:xfrm>
          <a:prstGeom prst="line">
            <a:avLst/>
          </a:prstGeom>
          <a:ln w="6350">
            <a:gradFill>
              <a:gsLst>
                <a:gs pos="0">
                  <a:schemeClr val="accent1">
                    <a:lumMod val="5000"/>
                    <a:lumOff val="95000"/>
                  </a:schemeClr>
                </a:gs>
                <a:gs pos="56000">
                  <a:schemeClr val="bg1">
                    <a:lumMod val="95000"/>
                  </a:schemeClr>
                </a:gs>
                <a:gs pos="100000">
                  <a:schemeClr val="accent1">
                    <a:lumMod val="30000"/>
                    <a:lumOff val="70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eeg" type="blank">
  <p:cSld name="BLANK">
    <p:spTree>
      <p:nvGrpSpPr>
        <p:cNvPr id="1" name="Shape 76"/>
        <p:cNvGrpSpPr/>
        <p:nvPr/>
      </p:nvGrpSpPr>
      <p:grpSpPr>
        <a:xfrm>
          <a:off x="0" y="0"/>
          <a:ext cx="0" cy="0"/>
          <a:chOff x="0" y="0"/>
          <a:chExt cx="0" cy="0"/>
        </a:xfrm>
      </p:grpSpPr>
      <p:sp>
        <p:nvSpPr>
          <p:cNvPr id="77" name="Google Shape;77;g3764b2a12a7_0_531"/>
          <p:cNvSpPr txBox="1">
            <a:spLocks noGrp="1"/>
          </p:cNvSpPr>
          <p:nvPr>
            <p:ph type="dt" idx="10"/>
          </p:nvPr>
        </p:nvSpPr>
        <p:spPr>
          <a:xfrm>
            <a:off x="838201" y="6356355"/>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g3764b2a12a7_0_531"/>
          <p:cNvSpPr txBox="1">
            <a:spLocks noGrp="1"/>
          </p:cNvSpPr>
          <p:nvPr>
            <p:ph type="ftr" idx="11"/>
          </p:nvPr>
        </p:nvSpPr>
        <p:spPr>
          <a:xfrm>
            <a:off x="4038601" y="6356355"/>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g3764b2a12a7_0_531"/>
          <p:cNvSpPr txBox="1">
            <a:spLocks noGrp="1"/>
          </p:cNvSpPr>
          <p:nvPr>
            <p:ph type="sldNum" idx="12"/>
          </p:nvPr>
        </p:nvSpPr>
        <p:spPr>
          <a:xfrm>
            <a:off x="8610601" y="6356355"/>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ekop" type="secHead">
  <p:cSld name="SECTION_HEADER">
    <p:spTree>
      <p:nvGrpSpPr>
        <p:cNvPr id="1" name="Shape 80"/>
        <p:cNvGrpSpPr/>
        <p:nvPr/>
      </p:nvGrpSpPr>
      <p:grpSpPr>
        <a:xfrm>
          <a:off x="0" y="0"/>
          <a:ext cx="0" cy="0"/>
          <a:chOff x="0" y="0"/>
          <a:chExt cx="0" cy="0"/>
        </a:xfrm>
      </p:grpSpPr>
      <p:sp>
        <p:nvSpPr>
          <p:cNvPr id="81" name="Google Shape;81;g3764b2a12a7_0_542"/>
          <p:cNvSpPr txBox="1">
            <a:spLocks noGrp="1"/>
          </p:cNvSpPr>
          <p:nvPr>
            <p:ph type="title"/>
          </p:nvPr>
        </p:nvSpPr>
        <p:spPr>
          <a:xfrm>
            <a:off x="831853" y="1709743"/>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g3764b2a12a7_0_542"/>
          <p:cNvSpPr txBox="1">
            <a:spLocks noGrp="1"/>
          </p:cNvSpPr>
          <p:nvPr>
            <p:ph type="body" idx="1"/>
          </p:nvPr>
        </p:nvSpPr>
        <p:spPr>
          <a:xfrm>
            <a:off x="831853" y="4589468"/>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83" name="Google Shape;83;g3764b2a12a7_0_542"/>
          <p:cNvSpPr txBox="1">
            <a:spLocks noGrp="1"/>
          </p:cNvSpPr>
          <p:nvPr>
            <p:ph type="dt" idx="10"/>
          </p:nvPr>
        </p:nvSpPr>
        <p:spPr>
          <a:xfrm>
            <a:off x="838201" y="6356355"/>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g3764b2a12a7_0_542"/>
          <p:cNvSpPr txBox="1">
            <a:spLocks noGrp="1"/>
          </p:cNvSpPr>
          <p:nvPr>
            <p:ph type="ftr" idx="11"/>
          </p:nvPr>
        </p:nvSpPr>
        <p:spPr>
          <a:xfrm>
            <a:off x="4038601" y="6356355"/>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g3764b2a12a7_0_542"/>
          <p:cNvSpPr txBox="1">
            <a:spLocks noGrp="1"/>
          </p:cNvSpPr>
          <p:nvPr>
            <p:ph type="sldNum" idx="12"/>
          </p:nvPr>
        </p:nvSpPr>
        <p:spPr>
          <a:xfrm>
            <a:off x="8610601" y="6356355"/>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houd van twee" type="twoObj">
  <p:cSld name="TWO_OBJECTS">
    <p:spTree>
      <p:nvGrpSpPr>
        <p:cNvPr id="1" name="Shape 86"/>
        <p:cNvGrpSpPr/>
        <p:nvPr/>
      </p:nvGrpSpPr>
      <p:grpSpPr>
        <a:xfrm>
          <a:off x="0" y="0"/>
          <a:ext cx="0" cy="0"/>
          <a:chOff x="0" y="0"/>
          <a:chExt cx="0" cy="0"/>
        </a:xfrm>
      </p:grpSpPr>
      <p:sp>
        <p:nvSpPr>
          <p:cNvPr id="87" name="Google Shape;87;g3764b2a12a7_0_548"/>
          <p:cNvSpPr txBox="1">
            <a:spLocks noGrp="1"/>
          </p:cNvSpPr>
          <p:nvPr>
            <p:ph type="title"/>
          </p:nvPr>
        </p:nvSpPr>
        <p:spPr>
          <a:xfrm>
            <a:off x="838201" y="365129"/>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g3764b2a12a7_0_548"/>
          <p:cNvSpPr txBox="1">
            <a:spLocks noGrp="1"/>
          </p:cNvSpPr>
          <p:nvPr>
            <p:ph type="body" idx="1"/>
          </p:nvPr>
        </p:nvSpPr>
        <p:spPr>
          <a:xfrm>
            <a:off x="838201"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g3764b2a12a7_0_548"/>
          <p:cNvSpPr txBox="1">
            <a:spLocks noGrp="1"/>
          </p:cNvSpPr>
          <p:nvPr>
            <p:ph type="body" idx="2"/>
          </p:nvPr>
        </p:nvSpPr>
        <p:spPr>
          <a:xfrm>
            <a:off x="6172201"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g3764b2a12a7_0_548"/>
          <p:cNvSpPr txBox="1">
            <a:spLocks noGrp="1"/>
          </p:cNvSpPr>
          <p:nvPr>
            <p:ph type="dt" idx="10"/>
          </p:nvPr>
        </p:nvSpPr>
        <p:spPr>
          <a:xfrm>
            <a:off x="838201" y="6356355"/>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g3764b2a12a7_0_548"/>
          <p:cNvSpPr txBox="1">
            <a:spLocks noGrp="1"/>
          </p:cNvSpPr>
          <p:nvPr>
            <p:ph type="ftr" idx="11"/>
          </p:nvPr>
        </p:nvSpPr>
        <p:spPr>
          <a:xfrm>
            <a:off x="4038601" y="6356355"/>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g3764b2a12a7_0_548"/>
          <p:cNvSpPr txBox="1">
            <a:spLocks noGrp="1"/>
          </p:cNvSpPr>
          <p:nvPr>
            <p:ph type="sldNum" idx="12"/>
          </p:nvPr>
        </p:nvSpPr>
        <p:spPr>
          <a:xfrm>
            <a:off x="8610601" y="6356355"/>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gelijking" type="twoTxTwoObj">
  <p:cSld name="TWO_OBJECTS_WITH_TEXT">
    <p:spTree>
      <p:nvGrpSpPr>
        <p:cNvPr id="1" name="Shape 93"/>
        <p:cNvGrpSpPr/>
        <p:nvPr/>
      </p:nvGrpSpPr>
      <p:grpSpPr>
        <a:xfrm>
          <a:off x="0" y="0"/>
          <a:ext cx="0" cy="0"/>
          <a:chOff x="0" y="0"/>
          <a:chExt cx="0" cy="0"/>
        </a:xfrm>
      </p:grpSpPr>
      <p:sp>
        <p:nvSpPr>
          <p:cNvPr id="94" name="Google Shape;94;g3764b2a12a7_0_555"/>
          <p:cNvSpPr txBox="1">
            <a:spLocks noGrp="1"/>
          </p:cNvSpPr>
          <p:nvPr>
            <p:ph type="title"/>
          </p:nvPr>
        </p:nvSpPr>
        <p:spPr>
          <a:xfrm>
            <a:off x="839790" y="365129"/>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g3764b2a12a7_0_555"/>
          <p:cNvSpPr txBox="1">
            <a:spLocks noGrp="1"/>
          </p:cNvSpPr>
          <p:nvPr>
            <p:ph type="body" idx="1"/>
          </p:nvPr>
        </p:nvSpPr>
        <p:spPr>
          <a:xfrm>
            <a:off x="839791"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6" name="Google Shape;96;g3764b2a12a7_0_555"/>
          <p:cNvSpPr txBox="1">
            <a:spLocks noGrp="1"/>
          </p:cNvSpPr>
          <p:nvPr>
            <p:ph type="body" idx="2"/>
          </p:nvPr>
        </p:nvSpPr>
        <p:spPr>
          <a:xfrm>
            <a:off x="839791"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g3764b2a12a7_0_555"/>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8" name="Google Shape;98;g3764b2a12a7_0_555"/>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g3764b2a12a7_0_555"/>
          <p:cNvSpPr txBox="1">
            <a:spLocks noGrp="1"/>
          </p:cNvSpPr>
          <p:nvPr>
            <p:ph type="dt" idx="10"/>
          </p:nvPr>
        </p:nvSpPr>
        <p:spPr>
          <a:xfrm>
            <a:off x="838201" y="6356355"/>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g3764b2a12a7_0_555"/>
          <p:cNvSpPr txBox="1">
            <a:spLocks noGrp="1"/>
          </p:cNvSpPr>
          <p:nvPr>
            <p:ph type="ftr" idx="11"/>
          </p:nvPr>
        </p:nvSpPr>
        <p:spPr>
          <a:xfrm>
            <a:off x="4038601" y="6356355"/>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g3764b2a12a7_0_555"/>
          <p:cNvSpPr txBox="1">
            <a:spLocks noGrp="1"/>
          </p:cNvSpPr>
          <p:nvPr>
            <p:ph type="sldNum" idx="12"/>
          </p:nvPr>
        </p:nvSpPr>
        <p:spPr>
          <a:xfrm>
            <a:off x="8610601" y="6356355"/>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nhoud met bijschrift" type="objTx">
  <p:cSld name="OBJECT_WITH_CAPTION_TEXT">
    <p:spTree>
      <p:nvGrpSpPr>
        <p:cNvPr id="1" name="Shape 102"/>
        <p:cNvGrpSpPr/>
        <p:nvPr/>
      </p:nvGrpSpPr>
      <p:grpSpPr>
        <a:xfrm>
          <a:off x="0" y="0"/>
          <a:ext cx="0" cy="0"/>
          <a:chOff x="0" y="0"/>
          <a:chExt cx="0" cy="0"/>
        </a:xfrm>
      </p:grpSpPr>
      <p:sp>
        <p:nvSpPr>
          <p:cNvPr id="103" name="Google Shape;103;g3764b2a12a7_0_564"/>
          <p:cNvSpPr txBox="1">
            <a:spLocks noGrp="1"/>
          </p:cNvSpPr>
          <p:nvPr>
            <p:ph type="title"/>
          </p:nvPr>
        </p:nvSpPr>
        <p:spPr>
          <a:xfrm>
            <a:off x="839790"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g3764b2a12a7_0_564"/>
          <p:cNvSpPr txBox="1">
            <a:spLocks noGrp="1"/>
          </p:cNvSpPr>
          <p:nvPr>
            <p:ph type="body" idx="1"/>
          </p:nvPr>
        </p:nvSpPr>
        <p:spPr>
          <a:xfrm>
            <a:off x="5183189" y="987430"/>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5" name="Google Shape;105;g3764b2a12a7_0_564"/>
          <p:cNvSpPr txBox="1">
            <a:spLocks noGrp="1"/>
          </p:cNvSpPr>
          <p:nvPr>
            <p:ph type="body" idx="2"/>
          </p:nvPr>
        </p:nvSpPr>
        <p:spPr>
          <a:xfrm>
            <a:off x="839790"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g3764b2a12a7_0_564"/>
          <p:cNvSpPr txBox="1">
            <a:spLocks noGrp="1"/>
          </p:cNvSpPr>
          <p:nvPr>
            <p:ph type="dt" idx="10"/>
          </p:nvPr>
        </p:nvSpPr>
        <p:spPr>
          <a:xfrm>
            <a:off x="838201" y="6356355"/>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g3764b2a12a7_0_564"/>
          <p:cNvSpPr txBox="1">
            <a:spLocks noGrp="1"/>
          </p:cNvSpPr>
          <p:nvPr>
            <p:ph type="ftr" idx="11"/>
          </p:nvPr>
        </p:nvSpPr>
        <p:spPr>
          <a:xfrm>
            <a:off x="4038601" y="6356355"/>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g3764b2a12a7_0_564"/>
          <p:cNvSpPr txBox="1">
            <a:spLocks noGrp="1"/>
          </p:cNvSpPr>
          <p:nvPr>
            <p:ph type="sldNum" idx="12"/>
          </p:nvPr>
        </p:nvSpPr>
        <p:spPr>
          <a:xfrm>
            <a:off x="8610601" y="6356355"/>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fbeelding met bijschrift" type="picTx">
  <p:cSld name="PICTURE_WITH_CAPTION_TEXT">
    <p:spTree>
      <p:nvGrpSpPr>
        <p:cNvPr id="1" name="Shape 109"/>
        <p:cNvGrpSpPr/>
        <p:nvPr/>
      </p:nvGrpSpPr>
      <p:grpSpPr>
        <a:xfrm>
          <a:off x="0" y="0"/>
          <a:ext cx="0" cy="0"/>
          <a:chOff x="0" y="0"/>
          <a:chExt cx="0" cy="0"/>
        </a:xfrm>
      </p:grpSpPr>
      <p:sp>
        <p:nvSpPr>
          <p:cNvPr id="110" name="Google Shape;110;g3764b2a12a7_0_571"/>
          <p:cNvSpPr txBox="1">
            <a:spLocks noGrp="1"/>
          </p:cNvSpPr>
          <p:nvPr>
            <p:ph type="title"/>
          </p:nvPr>
        </p:nvSpPr>
        <p:spPr>
          <a:xfrm>
            <a:off x="839790"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g3764b2a12a7_0_571"/>
          <p:cNvSpPr>
            <a:spLocks noGrp="1"/>
          </p:cNvSpPr>
          <p:nvPr>
            <p:ph type="pic" idx="2"/>
          </p:nvPr>
        </p:nvSpPr>
        <p:spPr>
          <a:xfrm>
            <a:off x="5183189" y="987430"/>
            <a:ext cx="6172200" cy="4873500"/>
          </a:xfrm>
          <a:prstGeom prst="rect">
            <a:avLst/>
          </a:prstGeom>
          <a:noFill/>
          <a:ln>
            <a:noFill/>
          </a:ln>
        </p:spPr>
        <p:txBody>
          <a:bodyPr/>
          <a:lstStyle/>
          <a:p>
            <a:endParaRPr lang="en-US"/>
          </a:p>
        </p:txBody>
      </p:sp>
      <p:sp>
        <p:nvSpPr>
          <p:cNvPr id="112" name="Google Shape;112;g3764b2a12a7_0_571"/>
          <p:cNvSpPr txBox="1">
            <a:spLocks noGrp="1"/>
          </p:cNvSpPr>
          <p:nvPr>
            <p:ph type="body" idx="1"/>
          </p:nvPr>
        </p:nvSpPr>
        <p:spPr>
          <a:xfrm>
            <a:off x="839790"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3" name="Google Shape;113;g3764b2a12a7_0_571"/>
          <p:cNvSpPr txBox="1">
            <a:spLocks noGrp="1"/>
          </p:cNvSpPr>
          <p:nvPr>
            <p:ph type="dt" idx="10"/>
          </p:nvPr>
        </p:nvSpPr>
        <p:spPr>
          <a:xfrm>
            <a:off x="838201" y="6356355"/>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g3764b2a12a7_0_571"/>
          <p:cNvSpPr txBox="1">
            <a:spLocks noGrp="1"/>
          </p:cNvSpPr>
          <p:nvPr>
            <p:ph type="ftr" idx="11"/>
          </p:nvPr>
        </p:nvSpPr>
        <p:spPr>
          <a:xfrm>
            <a:off x="4038601" y="6356355"/>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g3764b2a12a7_0_571"/>
          <p:cNvSpPr txBox="1">
            <a:spLocks noGrp="1"/>
          </p:cNvSpPr>
          <p:nvPr>
            <p:ph type="sldNum" idx="12"/>
          </p:nvPr>
        </p:nvSpPr>
        <p:spPr>
          <a:xfrm>
            <a:off x="8610601" y="6356355"/>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el en verticale tekst" type="vertTx">
  <p:cSld name="VERTICAL_TEXT">
    <p:spTree>
      <p:nvGrpSpPr>
        <p:cNvPr id="1" name="Shape 116"/>
        <p:cNvGrpSpPr/>
        <p:nvPr/>
      </p:nvGrpSpPr>
      <p:grpSpPr>
        <a:xfrm>
          <a:off x="0" y="0"/>
          <a:ext cx="0" cy="0"/>
          <a:chOff x="0" y="0"/>
          <a:chExt cx="0" cy="0"/>
        </a:xfrm>
      </p:grpSpPr>
      <p:sp>
        <p:nvSpPr>
          <p:cNvPr id="117" name="Google Shape;117;g3764b2a12a7_0_578"/>
          <p:cNvSpPr txBox="1">
            <a:spLocks noGrp="1"/>
          </p:cNvSpPr>
          <p:nvPr>
            <p:ph type="title"/>
          </p:nvPr>
        </p:nvSpPr>
        <p:spPr>
          <a:xfrm>
            <a:off x="838201" y="365129"/>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g3764b2a12a7_0_578"/>
          <p:cNvSpPr txBox="1">
            <a:spLocks noGrp="1"/>
          </p:cNvSpPr>
          <p:nvPr>
            <p:ph type="body" idx="1"/>
          </p:nvPr>
        </p:nvSpPr>
        <p:spPr>
          <a:xfrm rot="5400000">
            <a:off x="3920401" y="-1256574"/>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g3764b2a12a7_0_578"/>
          <p:cNvSpPr txBox="1">
            <a:spLocks noGrp="1"/>
          </p:cNvSpPr>
          <p:nvPr>
            <p:ph type="dt" idx="10"/>
          </p:nvPr>
        </p:nvSpPr>
        <p:spPr>
          <a:xfrm>
            <a:off x="838201" y="6356355"/>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g3764b2a12a7_0_578"/>
          <p:cNvSpPr txBox="1">
            <a:spLocks noGrp="1"/>
          </p:cNvSpPr>
          <p:nvPr>
            <p:ph type="ftr" idx="11"/>
          </p:nvPr>
        </p:nvSpPr>
        <p:spPr>
          <a:xfrm>
            <a:off x="4038601" y="6356355"/>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g3764b2a12a7_0_578"/>
          <p:cNvSpPr txBox="1">
            <a:spLocks noGrp="1"/>
          </p:cNvSpPr>
          <p:nvPr>
            <p:ph type="sldNum" idx="12"/>
          </p:nvPr>
        </p:nvSpPr>
        <p:spPr>
          <a:xfrm>
            <a:off x="8610601" y="6356355"/>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e titel en tekst" type="vertTitleAndTx">
  <p:cSld name="VERTICAL_TITLE_AND_VERTICAL_TEXT">
    <p:spTree>
      <p:nvGrpSpPr>
        <p:cNvPr id="1" name="Shape 122"/>
        <p:cNvGrpSpPr/>
        <p:nvPr/>
      </p:nvGrpSpPr>
      <p:grpSpPr>
        <a:xfrm>
          <a:off x="0" y="0"/>
          <a:ext cx="0" cy="0"/>
          <a:chOff x="0" y="0"/>
          <a:chExt cx="0" cy="0"/>
        </a:xfrm>
      </p:grpSpPr>
      <p:sp>
        <p:nvSpPr>
          <p:cNvPr id="123" name="Google Shape;123;g3764b2a12a7_0_584"/>
          <p:cNvSpPr txBox="1">
            <a:spLocks noGrp="1"/>
          </p:cNvSpPr>
          <p:nvPr>
            <p:ph type="title"/>
          </p:nvPr>
        </p:nvSpPr>
        <p:spPr>
          <a:xfrm rot="5400000">
            <a:off x="7133401" y="1956627"/>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g3764b2a12a7_0_584"/>
          <p:cNvSpPr txBox="1">
            <a:spLocks noGrp="1"/>
          </p:cNvSpPr>
          <p:nvPr>
            <p:ph type="body" idx="1"/>
          </p:nvPr>
        </p:nvSpPr>
        <p:spPr>
          <a:xfrm rot="5400000">
            <a:off x="1799401" y="-596074"/>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g3764b2a12a7_0_584"/>
          <p:cNvSpPr txBox="1">
            <a:spLocks noGrp="1"/>
          </p:cNvSpPr>
          <p:nvPr>
            <p:ph type="dt" idx="10"/>
          </p:nvPr>
        </p:nvSpPr>
        <p:spPr>
          <a:xfrm>
            <a:off x="838201" y="6356355"/>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g3764b2a12a7_0_584"/>
          <p:cNvSpPr txBox="1">
            <a:spLocks noGrp="1"/>
          </p:cNvSpPr>
          <p:nvPr>
            <p:ph type="ftr" idx="11"/>
          </p:nvPr>
        </p:nvSpPr>
        <p:spPr>
          <a:xfrm>
            <a:off x="4038601" y="6356355"/>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g3764b2a12a7_0_584"/>
          <p:cNvSpPr txBox="1">
            <a:spLocks noGrp="1"/>
          </p:cNvSpPr>
          <p:nvPr>
            <p:ph type="sldNum" idx="12"/>
          </p:nvPr>
        </p:nvSpPr>
        <p:spPr>
          <a:xfrm>
            <a:off x="8610601" y="6356355"/>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5643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
        <p:cNvGrpSpPr/>
        <p:nvPr/>
      </p:nvGrpSpPr>
      <p:grpSpPr>
        <a:xfrm>
          <a:off x="0" y="0"/>
          <a:ext cx="0" cy="0"/>
          <a:chOff x="0" y="0"/>
          <a:chExt cx="0" cy="0"/>
        </a:xfrm>
      </p:grpSpPr>
      <p:sp>
        <p:nvSpPr>
          <p:cNvPr id="64" name="Google Shape;64;g3764b2a12a7_0_525"/>
          <p:cNvSpPr txBox="1">
            <a:spLocks noGrp="1"/>
          </p:cNvSpPr>
          <p:nvPr>
            <p:ph type="title"/>
          </p:nvPr>
        </p:nvSpPr>
        <p:spPr>
          <a:xfrm>
            <a:off x="838201" y="365129"/>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 name="Google Shape;65;g3764b2a12a7_0_525"/>
          <p:cNvSpPr txBox="1">
            <a:spLocks noGrp="1"/>
          </p:cNvSpPr>
          <p:nvPr>
            <p:ph type="body" idx="1"/>
          </p:nvPr>
        </p:nvSpPr>
        <p:spPr>
          <a:xfrm>
            <a:off x="838201"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6" name="Google Shape;66;g3764b2a12a7_0_525"/>
          <p:cNvSpPr txBox="1">
            <a:spLocks noGrp="1"/>
          </p:cNvSpPr>
          <p:nvPr>
            <p:ph type="dt" idx="10"/>
          </p:nvPr>
        </p:nvSpPr>
        <p:spPr>
          <a:xfrm>
            <a:off x="838201" y="6356355"/>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g3764b2a12a7_0_525"/>
          <p:cNvSpPr txBox="1">
            <a:spLocks noGrp="1"/>
          </p:cNvSpPr>
          <p:nvPr>
            <p:ph type="ftr" idx="11"/>
          </p:nvPr>
        </p:nvSpPr>
        <p:spPr>
          <a:xfrm>
            <a:off x="4038601" y="6356355"/>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g3764b2a12a7_0_525"/>
          <p:cNvSpPr txBox="1">
            <a:spLocks noGrp="1"/>
          </p:cNvSpPr>
          <p:nvPr>
            <p:ph type="sldNum" idx="12"/>
          </p:nvPr>
        </p:nvSpPr>
        <p:spPr>
          <a:xfrm>
            <a:off x="8610601" y="6356355"/>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chart" Target="../charts/chart14.xml"/><Relationship Id="rId5" Type="http://schemas.openxmlformats.org/officeDocument/2006/relationships/chart" Target="../charts/chart13.xml"/><Relationship Id="rId4" Type="http://schemas.openxmlformats.org/officeDocument/2006/relationships/chart" Target="../charts/char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5">
          <a:extLst>
            <a:ext uri="{FF2B5EF4-FFF2-40B4-BE49-F238E27FC236}">
              <a16:creationId xmlns:a16="http://schemas.microsoft.com/office/drawing/2014/main" id="{2C802DCA-F5AA-8171-DCE5-451B03900B8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D2D8619-F1FA-41A8-DA75-93FE03347D83}"/>
              </a:ext>
            </a:extLst>
          </p:cNvPr>
          <p:cNvSpPr/>
          <p:nvPr/>
        </p:nvSpPr>
        <p:spPr>
          <a:xfrm>
            <a:off x="-1" y="1026072"/>
            <a:ext cx="5163823" cy="5261429"/>
          </a:xfrm>
          <a:prstGeom prst="rect">
            <a:avLst/>
          </a:prstGeom>
          <a:gradFill>
            <a:gsLst>
              <a:gs pos="0">
                <a:schemeClr val="accent1"/>
              </a:gs>
              <a:gs pos="100000">
                <a:schemeClr val="accent2">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Google Shape;256;p1">
            <a:extLst>
              <a:ext uri="{FF2B5EF4-FFF2-40B4-BE49-F238E27FC236}">
                <a16:creationId xmlns:a16="http://schemas.microsoft.com/office/drawing/2014/main" id="{963FA6B1-945B-857E-9528-7BDD5DA80F34}"/>
              </a:ext>
            </a:extLst>
          </p:cNvPr>
          <p:cNvSpPr/>
          <p:nvPr/>
        </p:nvSpPr>
        <p:spPr>
          <a:xfrm>
            <a:off x="6275608" y="4820349"/>
            <a:ext cx="344280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tx1">
                    <a:lumMod val="65000"/>
                    <a:lumOff val="35000"/>
                  </a:schemeClr>
                </a:solidFill>
                <a:latin typeface="Poppins Light"/>
                <a:ea typeface="Poppins Light"/>
                <a:cs typeface="Poppins Light"/>
                <a:sym typeface="Poppins Light"/>
              </a:rPr>
              <a:t>Date March 16</a:t>
            </a:r>
            <a:r>
              <a:rPr lang="en-US" sz="1400" b="0" i="0" u="none" strike="noStrike" cap="none" baseline="30000">
                <a:solidFill>
                  <a:schemeClr val="tx1">
                    <a:lumMod val="65000"/>
                    <a:lumOff val="35000"/>
                  </a:schemeClr>
                </a:solidFill>
                <a:latin typeface="Poppins Light"/>
                <a:ea typeface="Poppins Light"/>
                <a:cs typeface="Poppins Light"/>
                <a:sym typeface="Poppins Light"/>
              </a:rPr>
              <a:t>th</a:t>
            </a:r>
            <a:r>
              <a:rPr lang="en-US" sz="1400" b="0" i="0" u="none" strike="noStrike" cap="none">
                <a:solidFill>
                  <a:schemeClr val="tx1">
                    <a:lumMod val="65000"/>
                    <a:lumOff val="35000"/>
                  </a:schemeClr>
                </a:solidFill>
                <a:latin typeface="Poppins Light"/>
                <a:ea typeface="Poppins Light"/>
                <a:cs typeface="Poppins Light"/>
                <a:sym typeface="Poppins Light"/>
              </a:rPr>
              <a:t> 2026</a:t>
            </a:r>
            <a:endParaRPr sz="1400" b="0" i="0" u="none" strike="noStrike" cap="none">
              <a:solidFill>
                <a:schemeClr val="tx1">
                  <a:lumMod val="65000"/>
                  <a:lumOff val="35000"/>
                </a:schemeClr>
              </a:solidFill>
              <a:latin typeface="Arial"/>
              <a:ea typeface="Arial"/>
              <a:cs typeface="Arial"/>
              <a:sym typeface="Arial"/>
            </a:endParaRPr>
          </a:p>
        </p:txBody>
      </p:sp>
      <p:sp>
        <p:nvSpPr>
          <p:cNvPr id="257" name="Google Shape;257;p1">
            <a:extLst>
              <a:ext uri="{FF2B5EF4-FFF2-40B4-BE49-F238E27FC236}">
                <a16:creationId xmlns:a16="http://schemas.microsoft.com/office/drawing/2014/main" id="{170FB4B9-F8EE-69AB-4711-B42A835CDC70}"/>
              </a:ext>
            </a:extLst>
          </p:cNvPr>
          <p:cNvSpPr/>
          <p:nvPr/>
        </p:nvSpPr>
        <p:spPr>
          <a:xfrm>
            <a:off x="6368412" y="3174999"/>
            <a:ext cx="45719" cy="1216664"/>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8" name="Google Shape;258;p1">
            <a:extLst>
              <a:ext uri="{FF2B5EF4-FFF2-40B4-BE49-F238E27FC236}">
                <a16:creationId xmlns:a16="http://schemas.microsoft.com/office/drawing/2014/main" id="{EE197AB4-721B-F6A8-437B-626CC75C4314}"/>
              </a:ext>
            </a:extLst>
          </p:cNvPr>
          <p:cNvPicPr preferRelativeResize="0"/>
          <p:nvPr/>
        </p:nvPicPr>
        <p:blipFill>
          <a:blip r:embed="rId3">
            <a:alphaModFix/>
          </a:blip>
          <a:stretch>
            <a:fillRect/>
          </a:stretch>
        </p:blipFill>
        <p:spPr>
          <a:xfrm>
            <a:off x="6207190" y="1622994"/>
            <a:ext cx="3578050" cy="542875"/>
          </a:xfrm>
          <a:prstGeom prst="rect">
            <a:avLst/>
          </a:prstGeom>
          <a:noFill/>
          <a:ln>
            <a:noFill/>
          </a:ln>
        </p:spPr>
      </p:pic>
      <p:sp>
        <p:nvSpPr>
          <p:cNvPr id="2" name="Google Shape;79;g3b6bfccb84b_0_0">
            <a:extLst>
              <a:ext uri="{FF2B5EF4-FFF2-40B4-BE49-F238E27FC236}">
                <a16:creationId xmlns:a16="http://schemas.microsoft.com/office/drawing/2014/main" id="{697D45B3-3CA7-24C7-50AF-3AD72615F2C6}"/>
              </a:ext>
            </a:extLst>
          </p:cNvPr>
          <p:cNvSpPr/>
          <p:nvPr/>
        </p:nvSpPr>
        <p:spPr>
          <a:xfrm>
            <a:off x="6275608" y="2165869"/>
            <a:ext cx="4817052" cy="42868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300" b="1" i="0" u="none" strike="noStrike" cap="none">
                <a:solidFill>
                  <a:srgbClr val="034C81"/>
                </a:solidFill>
                <a:latin typeface="Poppins"/>
                <a:ea typeface="Poppins"/>
                <a:cs typeface="Poppins"/>
                <a:sym typeface="Poppins"/>
              </a:rPr>
              <a:t>Energy </a:t>
            </a:r>
            <a:r>
              <a:rPr lang="nl-NL" sz="2300" b="1" i="0" u="none" strike="noStrike" cap="none">
                <a:solidFill>
                  <a:srgbClr val="034C81"/>
                </a:solidFill>
                <a:latin typeface="Poppins"/>
                <a:ea typeface="Poppins"/>
                <a:cs typeface="Poppins"/>
                <a:sym typeface="Poppins"/>
              </a:rPr>
              <a:t>Scenario Scan</a:t>
            </a:r>
            <a:endParaRPr sz="1600" b="0" i="0" u="none" strike="noStrike" cap="none">
              <a:solidFill>
                <a:srgbClr val="004667"/>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2800"/>
              <a:buFont typeface="Arial"/>
              <a:buNone/>
            </a:pPr>
            <a:endParaRPr sz="1600" b="0" i="0" u="none" strike="noStrike" cap="none">
              <a:solidFill>
                <a:srgbClr val="004667"/>
              </a:solidFill>
              <a:latin typeface="Poppins"/>
              <a:ea typeface="Poppins"/>
              <a:cs typeface="Poppins"/>
              <a:sym typeface="Poppins"/>
            </a:endParaRPr>
          </a:p>
        </p:txBody>
      </p:sp>
      <p:sp>
        <p:nvSpPr>
          <p:cNvPr id="4" name="TextBox 3">
            <a:extLst>
              <a:ext uri="{FF2B5EF4-FFF2-40B4-BE49-F238E27FC236}">
                <a16:creationId xmlns:a16="http://schemas.microsoft.com/office/drawing/2014/main" id="{3D593A48-C60E-519F-C1F2-3AB958FB4E17}"/>
              </a:ext>
            </a:extLst>
          </p:cNvPr>
          <p:cNvSpPr txBox="1"/>
          <p:nvPr/>
        </p:nvSpPr>
        <p:spPr>
          <a:xfrm>
            <a:off x="6532677" y="3062948"/>
            <a:ext cx="3749937" cy="1346522"/>
          </a:xfrm>
          <a:prstGeom prst="rect">
            <a:avLst/>
          </a:prstGeom>
          <a:noFill/>
        </p:spPr>
        <p:txBody>
          <a:bodyPr wrap="square">
            <a:spAutoFit/>
          </a:bodyPr>
          <a:lstStyle/>
          <a:p>
            <a:pPr marL="0" marR="0" lvl="0" indent="0" algn="l" rtl="0">
              <a:lnSpc>
                <a:spcPct val="100000"/>
              </a:lnSpc>
              <a:spcBef>
                <a:spcPts val="0"/>
              </a:spcBef>
              <a:spcAft>
                <a:spcPts val="300"/>
              </a:spcAft>
              <a:buClr>
                <a:srgbClr val="000000"/>
              </a:buClr>
              <a:buSzPts val="2800"/>
              <a:buFont typeface="Arial"/>
              <a:buNone/>
            </a:pPr>
            <a:r>
              <a:rPr lang="en-US" sz="2000" b="1" i="0" u="none" strike="noStrike" cap="none">
                <a:solidFill>
                  <a:schemeClr val="accent1"/>
                </a:solidFill>
                <a:latin typeface="+mj-lt"/>
                <a:ea typeface="Poppins"/>
                <a:cs typeface="Poppins"/>
                <a:sym typeface="Poppins"/>
              </a:rPr>
              <a:t>6AM NV</a:t>
            </a:r>
          </a:p>
          <a:p>
            <a:pPr marL="0" marR="0" lvl="0" indent="0" algn="l" rtl="0">
              <a:lnSpc>
                <a:spcPct val="100000"/>
              </a:lnSpc>
              <a:spcBef>
                <a:spcPts val="0"/>
              </a:spcBef>
              <a:spcAft>
                <a:spcPts val="300"/>
              </a:spcAft>
              <a:buClr>
                <a:srgbClr val="000000"/>
              </a:buClr>
              <a:buSzPts val="2800"/>
              <a:buFont typeface="Arial"/>
              <a:buNone/>
            </a:pPr>
            <a:r>
              <a:rPr lang="en-US" sz="1800" b="0" i="0" u="none" strike="noStrike" cap="none">
                <a:solidFill>
                  <a:schemeClr val="tx1">
                    <a:lumMod val="65000"/>
                    <a:lumOff val="35000"/>
                  </a:schemeClr>
                </a:solidFill>
                <a:latin typeface="+mn-lt"/>
                <a:ea typeface="Poppins"/>
                <a:cs typeface="Poppins"/>
                <a:sym typeface="Poppins"/>
              </a:rPr>
              <a:t>[client] Park [location]</a:t>
            </a:r>
          </a:p>
          <a:p>
            <a:pPr marL="0" marR="0" lvl="0" indent="0" algn="l" rtl="0">
              <a:lnSpc>
                <a:spcPct val="100000"/>
              </a:lnSpc>
              <a:spcBef>
                <a:spcPts val="0"/>
              </a:spcBef>
              <a:spcAft>
                <a:spcPts val="300"/>
              </a:spcAft>
              <a:buClr>
                <a:srgbClr val="000000"/>
              </a:buClr>
              <a:buSzPts val="2800"/>
              <a:buFont typeface="Arial"/>
              <a:buNone/>
            </a:pPr>
            <a:r>
              <a:rPr lang="en-US" sz="1800">
                <a:solidFill>
                  <a:schemeClr val="tx1">
                    <a:lumMod val="65000"/>
                    <a:lumOff val="35000"/>
                  </a:schemeClr>
                </a:solidFill>
                <a:latin typeface="+mn-lt"/>
                <a:ea typeface="Poppins"/>
                <a:cs typeface="Poppins"/>
                <a:sym typeface="Poppins"/>
              </a:rPr>
              <a:t>BESS + PV + </a:t>
            </a:r>
            <a:r>
              <a:rPr lang="en-US" sz="1800" err="1">
                <a:solidFill>
                  <a:schemeClr val="tx1">
                    <a:lumMod val="65000"/>
                    <a:lumOff val="35000"/>
                  </a:schemeClr>
                </a:solidFill>
                <a:latin typeface="+mn-lt"/>
                <a:ea typeface="Poppins"/>
                <a:cs typeface="Poppins"/>
                <a:sym typeface="Poppins"/>
              </a:rPr>
              <a:t>GenSet</a:t>
            </a:r>
            <a:r>
              <a:rPr lang="en-US" sz="1800">
                <a:solidFill>
                  <a:schemeClr val="tx1">
                    <a:lumMod val="65000"/>
                    <a:lumOff val="35000"/>
                  </a:schemeClr>
                </a:solidFill>
                <a:latin typeface="+mn-lt"/>
                <a:ea typeface="Poppins"/>
                <a:cs typeface="Poppins"/>
                <a:sym typeface="Poppins"/>
              </a:rPr>
              <a:t> + </a:t>
            </a:r>
          </a:p>
          <a:p>
            <a:pPr marL="0" marR="0" lvl="0" indent="0" algn="l" rtl="0">
              <a:lnSpc>
                <a:spcPct val="100000"/>
              </a:lnSpc>
              <a:spcBef>
                <a:spcPts val="0"/>
              </a:spcBef>
              <a:spcAft>
                <a:spcPts val="300"/>
              </a:spcAft>
              <a:buClr>
                <a:srgbClr val="000000"/>
              </a:buClr>
              <a:buSzPts val="2800"/>
              <a:buFont typeface="Arial"/>
              <a:buNone/>
            </a:pPr>
            <a:r>
              <a:rPr lang="en-US" sz="1800">
                <a:solidFill>
                  <a:schemeClr val="tx1">
                    <a:lumMod val="65000"/>
                    <a:lumOff val="35000"/>
                  </a:schemeClr>
                </a:solidFill>
                <a:latin typeface="+mn-lt"/>
                <a:ea typeface="Poppins"/>
                <a:cs typeface="Poppins"/>
                <a:sym typeface="Poppins"/>
              </a:rPr>
              <a:t>Grid connection</a:t>
            </a:r>
            <a:endParaRPr lang="en-US" sz="1600">
              <a:solidFill>
                <a:schemeClr val="tx1">
                  <a:lumMod val="65000"/>
                  <a:lumOff val="35000"/>
                </a:schemeClr>
              </a:solidFill>
              <a:latin typeface="+mn-lt"/>
              <a:cs typeface="Poppins"/>
              <a:sym typeface="Poppins"/>
            </a:endParaRPr>
          </a:p>
        </p:txBody>
      </p:sp>
      <p:sp>
        <p:nvSpPr>
          <p:cNvPr id="3" name="Text 29">
            <a:extLst>
              <a:ext uri="{FF2B5EF4-FFF2-40B4-BE49-F238E27FC236}">
                <a16:creationId xmlns:a16="http://schemas.microsoft.com/office/drawing/2014/main" id="{22BB902B-254B-214C-D569-13BB6CA2AD32}"/>
              </a:ext>
            </a:extLst>
          </p:cNvPr>
          <p:cNvSpPr/>
          <p:nvPr/>
        </p:nvSpPr>
        <p:spPr>
          <a:xfrm>
            <a:off x="6414131" y="5465037"/>
            <a:ext cx="4288867" cy="428686"/>
          </a:xfrm>
          <a:prstGeom prst="rect">
            <a:avLst/>
          </a:prstGeom>
          <a:noFill/>
          <a:ln/>
        </p:spPr>
        <p:txBody>
          <a:bodyPr wrap="square" lIns="0" tIns="0" rIns="0" bIns="0" rtlCol="0" anchor="ctr"/>
          <a:lstStyle/>
          <a:p>
            <a:r>
              <a:rPr lang="en-US" sz="933" dirty="0">
                <a:solidFill>
                  <a:srgbClr val="A0AEC0"/>
                </a:solidFill>
                <a:latin typeface="+mn-lt"/>
                <a:ea typeface="Calibri Light" pitchFamily="34" charset="-122"/>
                <a:cs typeface="Calibri Light" pitchFamily="34" charset="-120"/>
              </a:rPr>
              <a:t>© </a:t>
            </a:r>
            <a:r>
              <a:rPr lang="en-US" sz="933" dirty="0" err="1">
                <a:solidFill>
                  <a:srgbClr val="A0AEC0"/>
                </a:solidFill>
                <a:latin typeface="+mn-lt"/>
                <a:ea typeface="Calibri Light" pitchFamily="34" charset="-122"/>
                <a:cs typeface="Calibri Light" pitchFamily="34" charset="-120"/>
              </a:rPr>
              <a:t>Bluepeak.energy</a:t>
            </a:r>
            <a:r>
              <a:rPr lang="en-US" sz="933" dirty="0">
                <a:solidFill>
                  <a:srgbClr val="A0AEC0"/>
                </a:solidFill>
                <a:latin typeface="+mn-lt"/>
                <a:ea typeface="Calibri Light" pitchFamily="34" charset="-122"/>
                <a:cs typeface="Calibri Light" pitchFamily="34" charset="-120"/>
              </a:rPr>
              <a:t> B.V. | Confidential – For intended recipient only.</a:t>
            </a:r>
          </a:p>
          <a:p>
            <a:r>
              <a:rPr lang="en-US" sz="933" dirty="0">
                <a:solidFill>
                  <a:srgbClr val="A0AEC0"/>
                </a:solidFill>
                <a:latin typeface="+mn-lt"/>
                <a:cs typeface="Calibri Light" pitchFamily="34" charset="-120"/>
                <a:sym typeface="Poppins Light"/>
              </a:rPr>
              <a:t>No liability accepted for use of this document.</a:t>
            </a:r>
            <a:endParaRPr lang="en-US" sz="933" dirty="0">
              <a:solidFill>
                <a:srgbClr val="A0AEC0"/>
              </a:solidFill>
              <a:latin typeface="+mn-lt"/>
              <a:cs typeface="Calibri Light" pitchFamily="34" charset="-120"/>
            </a:endParaRPr>
          </a:p>
        </p:txBody>
      </p:sp>
      <p:pic>
        <p:nvPicPr>
          <p:cNvPr id="7" name="Afbeelding 6">
            <a:extLst>
              <a:ext uri="{FF2B5EF4-FFF2-40B4-BE49-F238E27FC236}">
                <a16:creationId xmlns:a16="http://schemas.microsoft.com/office/drawing/2014/main" id="{6627154B-F856-8E4E-0BC1-4EA81878F2AC}"/>
              </a:ext>
            </a:extLst>
          </p:cNvPr>
          <p:cNvPicPr>
            <a:picLocks noChangeAspect="1"/>
          </p:cNvPicPr>
          <p:nvPr/>
        </p:nvPicPr>
        <p:blipFill>
          <a:blip r:embed="rId4"/>
          <a:stretch>
            <a:fillRect/>
          </a:stretch>
        </p:blipFill>
        <p:spPr>
          <a:xfrm>
            <a:off x="0" y="1026071"/>
            <a:ext cx="5163823" cy="5261429"/>
          </a:xfrm>
          <a:prstGeom prst="rect">
            <a:avLst/>
          </a:prstGeom>
        </p:spPr>
      </p:pic>
    </p:spTree>
    <p:extLst>
      <p:ext uri="{BB962C8B-B14F-4D97-AF65-F5344CB8AC3E}">
        <p14:creationId xmlns:p14="http://schemas.microsoft.com/office/powerpoint/2010/main" val="481222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hape 6">
            <a:extLst>
              <a:ext uri="{FF2B5EF4-FFF2-40B4-BE49-F238E27FC236}">
                <a16:creationId xmlns:a16="http://schemas.microsoft.com/office/drawing/2014/main" id="{36504F26-E489-FA2A-0379-ADA6FE99D9E8}"/>
              </a:ext>
            </a:extLst>
          </p:cNvPr>
          <p:cNvSpPr/>
          <p:nvPr/>
        </p:nvSpPr>
        <p:spPr>
          <a:xfrm>
            <a:off x="816265" y="2816567"/>
            <a:ext cx="10789919" cy="3553343"/>
          </a:xfrm>
          <a:prstGeom prst="rect">
            <a:avLst/>
          </a:prstGeom>
          <a:solidFill>
            <a:srgbClr val="F4F7FA"/>
          </a:solidFill>
          <a:ln/>
          <a:effectLst>
            <a:outerShdw blurRad="50800" dist="12700" dir="8100000" algn="bl" rotWithShape="0">
              <a:srgbClr val="000000">
                <a:alpha val="8000"/>
              </a:srgbClr>
            </a:outerShdw>
          </a:effectLst>
        </p:spPr>
        <p:txBody>
          <a:bodyPr/>
          <a:lstStyle/>
          <a:p>
            <a:endParaRPr lang="en-US" sz="1867"/>
          </a:p>
        </p:txBody>
      </p:sp>
      <p:sp>
        <p:nvSpPr>
          <p:cNvPr id="6" name="Text 4"/>
          <p:cNvSpPr/>
          <p:nvPr/>
        </p:nvSpPr>
        <p:spPr>
          <a:xfrm>
            <a:off x="609600" y="548640"/>
            <a:ext cx="8534400" cy="487680"/>
          </a:xfrm>
          <a:prstGeom prst="rect">
            <a:avLst/>
          </a:prstGeom>
          <a:noFill/>
          <a:ln/>
        </p:spPr>
        <p:txBody>
          <a:bodyPr wrap="square" lIns="0" tIns="0" rIns="0" bIns="0" rtlCol="0" anchor="ctr"/>
          <a:lstStyle/>
          <a:p>
            <a:endParaRPr lang="en-US" sz="2933"/>
          </a:p>
        </p:txBody>
      </p:sp>
      <p:sp>
        <p:nvSpPr>
          <p:cNvPr id="7" name="Text 5"/>
          <p:cNvSpPr/>
          <p:nvPr/>
        </p:nvSpPr>
        <p:spPr>
          <a:xfrm>
            <a:off x="585816" y="2340089"/>
            <a:ext cx="9753600" cy="304800"/>
          </a:xfrm>
          <a:prstGeom prst="rect">
            <a:avLst/>
          </a:prstGeom>
          <a:noFill/>
          <a:ln/>
        </p:spPr>
        <p:txBody>
          <a:bodyPr wrap="square" lIns="0" tIns="0" rIns="0" bIns="0" rtlCol="0" anchor="ctr"/>
          <a:lstStyle/>
          <a:p>
            <a:endParaRPr lang="en-US">
              <a:solidFill>
                <a:schemeClr val="tx1">
                  <a:lumMod val="65000"/>
                  <a:lumOff val="35000"/>
                </a:schemeClr>
              </a:solidFill>
              <a:latin typeface="+mj-lt"/>
            </a:endParaRPr>
          </a:p>
        </p:txBody>
      </p:sp>
      <p:sp>
        <p:nvSpPr>
          <p:cNvPr id="24" name="Text 22"/>
          <p:cNvSpPr/>
          <p:nvPr/>
        </p:nvSpPr>
        <p:spPr>
          <a:xfrm>
            <a:off x="585816" y="2664539"/>
            <a:ext cx="5242560" cy="365760"/>
          </a:xfrm>
          <a:prstGeom prst="rect">
            <a:avLst/>
          </a:prstGeom>
          <a:noFill/>
          <a:ln/>
        </p:spPr>
        <p:txBody>
          <a:bodyPr wrap="square" lIns="0" tIns="0" rIns="0" bIns="0" rtlCol="0" anchor="ctr"/>
          <a:lstStyle/>
          <a:p>
            <a:endParaRPr lang="en-US" sz="1600"/>
          </a:p>
        </p:txBody>
      </p:sp>
      <p:sp>
        <p:nvSpPr>
          <p:cNvPr id="27" name="Text 25"/>
          <p:cNvSpPr/>
          <p:nvPr/>
        </p:nvSpPr>
        <p:spPr>
          <a:xfrm>
            <a:off x="7181141" y="5721758"/>
            <a:ext cx="4214948" cy="1517753"/>
          </a:xfrm>
          <a:prstGeom prst="rect">
            <a:avLst/>
          </a:prstGeom>
          <a:noFill/>
          <a:ln/>
        </p:spPr>
        <p:txBody>
          <a:bodyPr wrap="square" rtlCol="0" anchor="t"/>
          <a:lstStyle/>
          <a:p>
            <a:pPr>
              <a:spcAft>
                <a:spcPts val="533"/>
              </a:spcAft>
              <a:buSzPct val="100000"/>
            </a:pPr>
            <a:endParaRPr lang="en-US" sz="1200">
              <a:solidFill>
                <a:srgbClr val="3D4F5F"/>
              </a:solidFill>
              <a:latin typeface="+mn-lt"/>
              <a:cs typeface="Calibri Light" pitchFamily="34" charset="-120"/>
            </a:endParaRPr>
          </a:p>
        </p:txBody>
      </p:sp>
      <p:sp>
        <p:nvSpPr>
          <p:cNvPr id="34" name="Title 33">
            <a:extLst>
              <a:ext uri="{FF2B5EF4-FFF2-40B4-BE49-F238E27FC236}">
                <a16:creationId xmlns:a16="http://schemas.microsoft.com/office/drawing/2014/main" id="{F0836135-AD0E-B629-37DE-6A9F510A2D5A}"/>
              </a:ext>
            </a:extLst>
          </p:cNvPr>
          <p:cNvSpPr>
            <a:spLocks noGrp="1"/>
          </p:cNvSpPr>
          <p:nvPr>
            <p:ph type="title"/>
          </p:nvPr>
        </p:nvSpPr>
        <p:spPr/>
        <p:txBody>
          <a:bodyPr/>
          <a:lstStyle/>
          <a:p>
            <a:r>
              <a:rPr lang="en-US" dirty="0"/>
              <a:t>Executive Summary</a:t>
            </a:r>
          </a:p>
        </p:txBody>
      </p:sp>
      <p:sp>
        <p:nvSpPr>
          <p:cNvPr id="35" name="Rectangle 34">
            <a:extLst>
              <a:ext uri="{FF2B5EF4-FFF2-40B4-BE49-F238E27FC236}">
                <a16:creationId xmlns:a16="http://schemas.microsoft.com/office/drawing/2014/main" id="{DC70D422-4FE0-6E4A-6BA3-EF0BA9267772}"/>
              </a:ext>
            </a:extLst>
          </p:cNvPr>
          <p:cNvSpPr/>
          <p:nvPr/>
        </p:nvSpPr>
        <p:spPr>
          <a:xfrm>
            <a:off x="609600" y="2612284"/>
            <a:ext cx="2122714"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ea typeface="Calibri" pitchFamily="34" charset="-122"/>
                <a:cs typeface="Calibri" pitchFamily="34" charset="-120"/>
              </a:rPr>
              <a:t>Summary</a:t>
            </a:r>
            <a:endParaRPr lang="en-US">
              <a:solidFill>
                <a:schemeClr val="bg1"/>
              </a:solidFill>
              <a:latin typeface="+mj-lt"/>
            </a:endParaRPr>
          </a:p>
        </p:txBody>
      </p:sp>
      <p:sp>
        <p:nvSpPr>
          <p:cNvPr id="36" name="Right Triangle 35">
            <a:extLst>
              <a:ext uri="{FF2B5EF4-FFF2-40B4-BE49-F238E27FC236}">
                <a16:creationId xmlns:a16="http://schemas.microsoft.com/office/drawing/2014/main" id="{9606B2BA-91D0-CCC0-10F3-E9B919505908}"/>
              </a:ext>
            </a:extLst>
          </p:cNvPr>
          <p:cNvSpPr/>
          <p:nvPr/>
        </p:nvSpPr>
        <p:spPr>
          <a:xfrm flipH="1" flipV="1">
            <a:off x="609600" y="2999380"/>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Graphic 37">
            <a:extLst>
              <a:ext uri="{FF2B5EF4-FFF2-40B4-BE49-F238E27FC236}">
                <a16:creationId xmlns:a16="http://schemas.microsoft.com/office/drawing/2014/main" id="{C05021C9-B476-59C5-1B7E-C222345E48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9948" y="3074767"/>
            <a:ext cx="288000" cy="288000"/>
          </a:xfrm>
          <a:prstGeom prst="rect">
            <a:avLst/>
          </a:prstGeom>
        </p:spPr>
      </p:pic>
      <p:sp>
        <p:nvSpPr>
          <p:cNvPr id="41" name="TextBox 40">
            <a:extLst>
              <a:ext uri="{FF2B5EF4-FFF2-40B4-BE49-F238E27FC236}">
                <a16:creationId xmlns:a16="http://schemas.microsoft.com/office/drawing/2014/main" id="{4D8BDAD2-0D8F-B0D9-4CCE-776ACA7072ED}"/>
              </a:ext>
            </a:extLst>
          </p:cNvPr>
          <p:cNvSpPr txBox="1"/>
          <p:nvPr/>
        </p:nvSpPr>
        <p:spPr>
          <a:xfrm>
            <a:off x="1463683" y="3082554"/>
            <a:ext cx="9932406" cy="830997"/>
          </a:xfrm>
          <a:prstGeom prst="rect">
            <a:avLst/>
          </a:prstGeom>
          <a:noFill/>
        </p:spPr>
        <p:txBody>
          <a:bodyPr wrap="square" lIns="91440" tIns="45720" rIns="91440" bIns="45720" anchor="t">
            <a:spAutoFit/>
          </a:bodyPr>
          <a:lstStyle/>
          <a:p>
            <a:pPr>
              <a:spcAft>
                <a:spcPts val="533"/>
              </a:spcAft>
              <a:buSzPct val="100000"/>
            </a:pPr>
            <a:r>
              <a:rPr lang="en-US" sz="1200" dirty="0" err="1">
                <a:solidFill>
                  <a:schemeClr val="tx1">
                    <a:lumMod val="65000"/>
                    <a:lumOff val="35000"/>
                  </a:schemeClr>
                </a:solidFill>
                <a:latin typeface="+mn-lt"/>
                <a:ea typeface="Calibri Light"/>
                <a:cs typeface="Calibri Light"/>
              </a:rPr>
              <a:t>Bluepeak.energy</a:t>
            </a:r>
            <a:r>
              <a:rPr lang="en-US" sz="1200" dirty="0">
                <a:solidFill>
                  <a:schemeClr val="tx1">
                    <a:lumMod val="65000"/>
                    <a:lumOff val="35000"/>
                  </a:schemeClr>
                </a:solidFill>
                <a:latin typeface="+mn-lt"/>
                <a:ea typeface="Calibri Light"/>
                <a:cs typeface="Calibri Light"/>
              </a:rPr>
              <a:t> assessed potential energy system configurations for [client], where the available grid connection is limited to 55 kVA and a previously requested 1.5 MVA connection was rejected due to grid congestion. The objective was to identify a reliable and economically viable solution capable of supporting the site’s expected annual consumption of approximately 760 MWh and winter peak demand of around 225 kVA</a:t>
            </a:r>
          </a:p>
        </p:txBody>
      </p:sp>
      <p:cxnSp>
        <p:nvCxnSpPr>
          <p:cNvPr id="43" name="Straight Connector 42">
            <a:extLst>
              <a:ext uri="{FF2B5EF4-FFF2-40B4-BE49-F238E27FC236}">
                <a16:creationId xmlns:a16="http://schemas.microsoft.com/office/drawing/2014/main" id="{ABA5CA5E-CF18-ABB5-A8F3-4EFC8E2C92DB}"/>
              </a:ext>
            </a:extLst>
          </p:cNvPr>
          <p:cNvCxnSpPr/>
          <p:nvPr/>
        </p:nvCxnSpPr>
        <p:spPr>
          <a:xfrm>
            <a:off x="1560170" y="3913551"/>
            <a:ext cx="40320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4" name="Graphic 43">
            <a:extLst>
              <a:ext uri="{FF2B5EF4-FFF2-40B4-BE49-F238E27FC236}">
                <a16:creationId xmlns:a16="http://schemas.microsoft.com/office/drawing/2014/main" id="{23736746-1208-6F82-FD9E-1B692E4989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838" y="3902550"/>
            <a:ext cx="288000" cy="288000"/>
          </a:xfrm>
          <a:prstGeom prst="rect">
            <a:avLst/>
          </a:prstGeom>
        </p:spPr>
      </p:pic>
      <p:sp>
        <p:nvSpPr>
          <p:cNvPr id="45" name="TextBox 44">
            <a:extLst>
              <a:ext uri="{FF2B5EF4-FFF2-40B4-BE49-F238E27FC236}">
                <a16:creationId xmlns:a16="http://schemas.microsoft.com/office/drawing/2014/main" id="{8044D55B-8E74-3D93-E927-1D6598146C6A}"/>
              </a:ext>
            </a:extLst>
          </p:cNvPr>
          <p:cNvSpPr txBox="1"/>
          <p:nvPr/>
        </p:nvSpPr>
        <p:spPr>
          <a:xfrm>
            <a:off x="1472573" y="3913551"/>
            <a:ext cx="9865987" cy="646331"/>
          </a:xfrm>
          <a:prstGeom prst="rect">
            <a:avLst/>
          </a:prstGeom>
          <a:noFill/>
        </p:spPr>
        <p:txBody>
          <a:bodyPr wrap="square">
            <a:spAutoFit/>
          </a:bodyPr>
          <a:lstStyle/>
          <a:p>
            <a:pPr>
              <a:spcAft>
                <a:spcPts val="533"/>
              </a:spcAft>
              <a:buSzPct val="100000"/>
            </a:pPr>
            <a:r>
              <a:rPr lang="en-US" sz="1200">
                <a:solidFill>
                  <a:schemeClr val="tx1">
                    <a:lumMod val="65000"/>
                    <a:lumOff val="35000"/>
                  </a:schemeClr>
                </a:solidFill>
                <a:latin typeface="+mn-lt"/>
                <a:cs typeface="Calibri Light" pitchFamily="34" charset="-120"/>
              </a:rPr>
              <a:t>Two system configurations combining solar PV, battery storage (BESS), backup generation and the existing grid connection were evaluated. The analysis shows that the configuration with a 100 kVA generator is not adequate, as it cannot reliably cover peak loads and introduces operational risks.</a:t>
            </a:r>
          </a:p>
        </p:txBody>
      </p:sp>
      <p:cxnSp>
        <p:nvCxnSpPr>
          <p:cNvPr id="46" name="Straight Connector 45">
            <a:extLst>
              <a:ext uri="{FF2B5EF4-FFF2-40B4-BE49-F238E27FC236}">
                <a16:creationId xmlns:a16="http://schemas.microsoft.com/office/drawing/2014/main" id="{88794F58-499B-1777-A4D5-3E59A18C0799}"/>
              </a:ext>
            </a:extLst>
          </p:cNvPr>
          <p:cNvCxnSpPr/>
          <p:nvPr/>
        </p:nvCxnSpPr>
        <p:spPr>
          <a:xfrm>
            <a:off x="1560170" y="4527288"/>
            <a:ext cx="40320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7" name="Graphic 46">
            <a:extLst>
              <a:ext uri="{FF2B5EF4-FFF2-40B4-BE49-F238E27FC236}">
                <a16:creationId xmlns:a16="http://schemas.microsoft.com/office/drawing/2014/main" id="{990D1E3C-7B50-FBFB-A91F-02675253E8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838" y="4583618"/>
            <a:ext cx="288000" cy="288000"/>
          </a:xfrm>
          <a:prstGeom prst="rect">
            <a:avLst/>
          </a:prstGeom>
        </p:spPr>
      </p:pic>
      <p:sp>
        <p:nvSpPr>
          <p:cNvPr id="48" name="TextBox 47">
            <a:extLst>
              <a:ext uri="{FF2B5EF4-FFF2-40B4-BE49-F238E27FC236}">
                <a16:creationId xmlns:a16="http://schemas.microsoft.com/office/drawing/2014/main" id="{B4B7B154-C9CE-B35E-1E89-7D1DDBFFBFCF}"/>
              </a:ext>
            </a:extLst>
          </p:cNvPr>
          <p:cNvSpPr txBox="1"/>
          <p:nvPr/>
        </p:nvSpPr>
        <p:spPr>
          <a:xfrm>
            <a:off x="1472573" y="4588674"/>
            <a:ext cx="9939251" cy="461665"/>
          </a:xfrm>
          <a:prstGeom prst="rect">
            <a:avLst/>
          </a:prstGeom>
          <a:noFill/>
        </p:spPr>
        <p:txBody>
          <a:bodyPr wrap="square">
            <a:spAutoFit/>
          </a:bodyPr>
          <a:lstStyle/>
          <a:p>
            <a:pPr>
              <a:spcAft>
                <a:spcPts val="533"/>
              </a:spcAft>
              <a:buSzPct val="100000"/>
            </a:pPr>
            <a:r>
              <a:rPr lang="en-US" sz="1200">
                <a:solidFill>
                  <a:schemeClr val="tx1">
                    <a:lumMod val="65000"/>
                    <a:lumOff val="35000"/>
                  </a:schemeClr>
                </a:solidFill>
                <a:latin typeface="+mn-lt"/>
                <a:cs typeface="Calibri Light" pitchFamily="34" charset="-120"/>
              </a:rPr>
              <a:t>The configuration including a 500 kVA generator combined with a BESS (1 MW / 2.3 MWh) and approximately 1.5 MWp of solar PV provides a technically reliable solution under the current grid constraints.</a:t>
            </a:r>
          </a:p>
        </p:txBody>
      </p:sp>
      <p:cxnSp>
        <p:nvCxnSpPr>
          <p:cNvPr id="49" name="Straight Connector 48">
            <a:extLst>
              <a:ext uri="{FF2B5EF4-FFF2-40B4-BE49-F238E27FC236}">
                <a16:creationId xmlns:a16="http://schemas.microsoft.com/office/drawing/2014/main" id="{A7C44024-3121-54AD-C4F5-A558FD9CFAA1}"/>
              </a:ext>
            </a:extLst>
          </p:cNvPr>
          <p:cNvCxnSpPr>
            <a:cxnSpLocks/>
          </p:cNvCxnSpPr>
          <p:nvPr/>
        </p:nvCxnSpPr>
        <p:spPr>
          <a:xfrm>
            <a:off x="1560170" y="5072363"/>
            <a:ext cx="40320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5784E6D3-D324-A1FE-6346-2A624FFAE0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8838" y="5223249"/>
            <a:ext cx="288000" cy="288000"/>
          </a:xfrm>
          <a:prstGeom prst="rect">
            <a:avLst/>
          </a:prstGeom>
        </p:spPr>
      </p:pic>
      <p:cxnSp>
        <p:nvCxnSpPr>
          <p:cNvPr id="52" name="Straight Connector 51">
            <a:extLst>
              <a:ext uri="{FF2B5EF4-FFF2-40B4-BE49-F238E27FC236}">
                <a16:creationId xmlns:a16="http://schemas.microsoft.com/office/drawing/2014/main" id="{EB466DAF-C287-2815-5186-2618427EB618}"/>
              </a:ext>
            </a:extLst>
          </p:cNvPr>
          <p:cNvCxnSpPr>
            <a:cxnSpLocks/>
          </p:cNvCxnSpPr>
          <p:nvPr/>
        </p:nvCxnSpPr>
        <p:spPr>
          <a:xfrm>
            <a:off x="1560170" y="5807599"/>
            <a:ext cx="4032000" cy="859"/>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3" name="Graphic 52">
            <a:extLst>
              <a:ext uri="{FF2B5EF4-FFF2-40B4-BE49-F238E27FC236}">
                <a16:creationId xmlns:a16="http://schemas.microsoft.com/office/drawing/2014/main" id="{9D95991A-6404-A921-F235-D569F636818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84573" y="5966588"/>
            <a:ext cx="288000" cy="288000"/>
          </a:xfrm>
          <a:prstGeom prst="rect">
            <a:avLst/>
          </a:prstGeom>
        </p:spPr>
      </p:pic>
      <p:sp>
        <p:nvSpPr>
          <p:cNvPr id="60" name="Text 22">
            <a:extLst>
              <a:ext uri="{FF2B5EF4-FFF2-40B4-BE49-F238E27FC236}">
                <a16:creationId xmlns:a16="http://schemas.microsoft.com/office/drawing/2014/main" id="{FB6CD420-7651-2E6D-B51C-0F608BBE1ED7}"/>
              </a:ext>
            </a:extLst>
          </p:cNvPr>
          <p:cNvSpPr/>
          <p:nvPr/>
        </p:nvSpPr>
        <p:spPr>
          <a:xfrm>
            <a:off x="6096000" y="2664539"/>
            <a:ext cx="5242560" cy="365760"/>
          </a:xfrm>
          <a:prstGeom prst="rect">
            <a:avLst/>
          </a:prstGeom>
          <a:noFill/>
          <a:ln/>
        </p:spPr>
        <p:txBody>
          <a:bodyPr wrap="square" lIns="0" tIns="0" rIns="0" bIns="0" rtlCol="0" anchor="ctr"/>
          <a:lstStyle/>
          <a:p>
            <a:endParaRPr lang="en-US" sz="1600"/>
          </a:p>
        </p:txBody>
      </p:sp>
      <p:sp>
        <p:nvSpPr>
          <p:cNvPr id="12" name="TextBox 50">
            <a:extLst>
              <a:ext uri="{FF2B5EF4-FFF2-40B4-BE49-F238E27FC236}">
                <a16:creationId xmlns:a16="http://schemas.microsoft.com/office/drawing/2014/main" id="{60804CBC-BBD8-96BE-8E0F-7E176E31ACE7}"/>
              </a:ext>
            </a:extLst>
          </p:cNvPr>
          <p:cNvSpPr txBox="1"/>
          <p:nvPr/>
        </p:nvSpPr>
        <p:spPr>
          <a:xfrm>
            <a:off x="1495153" y="5895427"/>
            <a:ext cx="9881722" cy="461665"/>
          </a:xfrm>
          <a:prstGeom prst="rect">
            <a:avLst/>
          </a:prstGeom>
          <a:noFill/>
        </p:spPr>
        <p:txBody>
          <a:bodyPr wrap="square">
            <a:spAutoFit/>
          </a:bodyPr>
          <a:lstStyle/>
          <a:p>
            <a:pPr>
              <a:spcAft>
                <a:spcPts val="533"/>
              </a:spcAft>
              <a:buSzPct val="100000"/>
            </a:pPr>
            <a:r>
              <a:rPr lang="en-US" sz="1200">
                <a:solidFill>
                  <a:schemeClr val="tx1">
                    <a:lumMod val="65000"/>
                    <a:lumOff val="35000"/>
                  </a:schemeClr>
                </a:solidFill>
                <a:latin typeface="+mn-lt"/>
                <a:cs typeface="Calibri Light" pitchFamily="34" charset="-120"/>
              </a:rPr>
              <a:t>Under the current conditions, Solution 2 represents the most robust and economically balanced configuration, with potential for further optimization if grid feed-in capacity or local energy demand increases.</a:t>
            </a:r>
          </a:p>
        </p:txBody>
      </p:sp>
      <p:sp>
        <p:nvSpPr>
          <p:cNvPr id="13" name="TextBox 50">
            <a:extLst>
              <a:ext uri="{FF2B5EF4-FFF2-40B4-BE49-F238E27FC236}">
                <a16:creationId xmlns:a16="http://schemas.microsoft.com/office/drawing/2014/main" id="{579CCF7B-0037-8CE8-86DD-AE1BDE507F12}"/>
              </a:ext>
            </a:extLst>
          </p:cNvPr>
          <p:cNvSpPr txBox="1"/>
          <p:nvPr/>
        </p:nvSpPr>
        <p:spPr>
          <a:xfrm>
            <a:off x="1472573" y="5179629"/>
            <a:ext cx="9881722" cy="646331"/>
          </a:xfrm>
          <a:prstGeom prst="rect">
            <a:avLst/>
          </a:prstGeom>
          <a:noFill/>
        </p:spPr>
        <p:txBody>
          <a:bodyPr wrap="square">
            <a:spAutoFit/>
          </a:bodyPr>
          <a:lstStyle/>
          <a:p>
            <a:pPr>
              <a:spcAft>
                <a:spcPts val="533"/>
              </a:spcAft>
              <a:buSzPct val="100000"/>
            </a:pPr>
            <a:r>
              <a:rPr lang="en-US" sz="1200">
                <a:solidFill>
                  <a:schemeClr val="tx1">
                    <a:lumMod val="65000"/>
                    <a:lumOff val="35000"/>
                  </a:schemeClr>
                </a:solidFill>
                <a:latin typeface="+mn-lt"/>
                <a:cs typeface="Calibri Light" pitchFamily="34" charset="-120"/>
              </a:rPr>
              <a:t>The 55 kVA grid connection remains the primary system constraint, requiring careful system control and local balancing of generation and demand. Larger PV or BESS configurations would significantly increase CAPEX while providing only limited improvement in local energy utilization</a:t>
            </a:r>
          </a:p>
        </p:txBody>
      </p:sp>
      <p:grpSp>
        <p:nvGrpSpPr>
          <p:cNvPr id="14" name="Group 13">
            <a:extLst>
              <a:ext uri="{FF2B5EF4-FFF2-40B4-BE49-F238E27FC236}">
                <a16:creationId xmlns:a16="http://schemas.microsoft.com/office/drawing/2014/main" id="{EBB6D94D-C631-F39D-4FAC-0B3EA45B950C}"/>
              </a:ext>
            </a:extLst>
          </p:cNvPr>
          <p:cNvGrpSpPr/>
          <p:nvPr/>
        </p:nvGrpSpPr>
        <p:grpSpPr>
          <a:xfrm>
            <a:off x="6211375" y="1074911"/>
            <a:ext cx="2560320" cy="1305629"/>
            <a:chOff x="6108053" y="1365504"/>
            <a:chExt cx="2560320" cy="1305629"/>
          </a:xfrm>
        </p:grpSpPr>
        <p:sp>
          <p:nvSpPr>
            <p:cNvPr id="32" name="Shape 6">
              <a:extLst>
                <a:ext uri="{FF2B5EF4-FFF2-40B4-BE49-F238E27FC236}">
                  <a16:creationId xmlns:a16="http://schemas.microsoft.com/office/drawing/2014/main" id="{183407AC-6E12-6CEB-052F-E3A0F1968E24}"/>
                </a:ext>
              </a:extLst>
            </p:cNvPr>
            <p:cNvSpPr/>
            <p:nvPr/>
          </p:nvSpPr>
          <p:spPr>
            <a:xfrm>
              <a:off x="6108053" y="1365504"/>
              <a:ext cx="2560320" cy="1305629"/>
            </a:xfrm>
            <a:prstGeom prst="rect">
              <a:avLst/>
            </a:prstGeom>
            <a:solidFill>
              <a:srgbClr val="F4F7FA"/>
            </a:solidFill>
            <a:ln/>
            <a:effectLst>
              <a:outerShdw blurRad="50800" dist="12700" dir="8100000" algn="bl" rotWithShape="0">
                <a:srgbClr val="000000">
                  <a:alpha val="8000"/>
                </a:srgbClr>
              </a:outerShdw>
            </a:effectLst>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867"/>
            </a:p>
          </p:txBody>
        </p:sp>
        <p:sp>
          <p:nvSpPr>
            <p:cNvPr id="33" name="Shape 7">
              <a:extLst>
                <a:ext uri="{FF2B5EF4-FFF2-40B4-BE49-F238E27FC236}">
                  <a16:creationId xmlns:a16="http://schemas.microsoft.com/office/drawing/2014/main" id="{87F9EDBA-9A56-1D1B-39D8-E2FA02656612}"/>
                </a:ext>
              </a:extLst>
            </p:cNvPr>
            <p:cNvSpPr/>
            <p:nvPr/>
          </p:nvSpPr>
          <p:spPr>
            <a:xfrm>
              <a:off x="6108053" y="1573853"/>
              <a:ext cx="60960" cy="853440"/>
            </a:xfrm>
            <a:prstGeom prst="rect">
              <a:avLst/>
            </a:prstGeom>
            <a:solidFill>
              <a:schemeClr val="accent4"/>
            </a:solid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867">
                <a:latin typeface="+mn-lt"/>
              </a:endParaRPr>
            </a:p>
          </p:txBody>
        </p:sp>
        <p:sp>
          <p:nvSpPr>
            <p:cNvPr id="37" name="Text 8">
              <a:extLst>
                <a:ext uri="{FF2B5EF4-FFF2-40B4-BE49-F238E27FC236}">
                  <a16:creationId xmlns:a16="http://schemas.microsoft.com/office/drawing/2014/main" id="{12F2BEAE-1AA5-EFCC-4C36-1159F3DB9506}"/>
                </a:ext>
              </a:extLst>
            </p:cNvPr>
            <p:cNvSpPr/>
            <p:nvPr/>
          </p:nvSpPr>
          <p:spPr>
            <a:xfrm>
              <a:off x="6290933" y="1573853"/>
              <a:ext cx="2316480" cy="512064"/>
            </a:xfrm>
            <a:prstGeom prst="rect">
              <a:avLst/>
            </a:prstGeom>
            <a:noFill/>
            <a:ln/>
          </p:spPr>
          <p:txBody>
            <a:bodyPr wrap="square" lIns="0" tIns="0" rIns="0" bIns="0" rtlCol="0" anchor="b"/>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b="1" dirty="0">
                  <a:solidFill>
                    <a:schemeClr val="accent2">
                      <a:lumMod val="76000"/>
                    </a:schemeClr>
                  </a:solidFill>
                  <a:latin typeface="+mn-lt"/>
                  <a:ea typeface="Calibri"/>
                  <a:cs typeface="Calibri"/>
                </a:rPr>
                <a:t>225 </a:t>
              </a:r>
              <a:r>
                <a:rPr lang="en-US" sz="2800" b="1" dirty="0" err="1">
                  <a:solidFill>
                    <a:schemeClr val="accent2">
                      <a:lumMod val="76000"/>
                    </a:schemeClr>
                  </a:solidFill>
                  <a:latin typeface="+mn-lt"/>
                  <a:ea typeface="Calibri"/>
                  <a:cs typeface="Calibri"/>
                </a:rPr>
                <a:t>kVa</a:t>
              </a:r>
              <a:endParaRPr lang="en-US" sz="2800" b="1" dirty="0" err="1">
                <a:solidFill>
                  <a:schemeClr val="accent2">
                    <a:lumMod val="76000"/>
                  </a:schemeClr>
                </a:solidFill>
                <a:latin typeface="Poppins Light"/>
                <a:ea typeface="Calibri"/>
                <a:cs typeface="Calibri"/>
              </a:endParaRPr>
            </a:p>
          </p:txBody>
        </p:sp>
        <p:sp>
          <p:nvSpPr>
            <p:cNvPr id="40" name="Text 9">
              <a:extLst>
                <a:ext uri="{FF2B5EF4-FFF2-40B4-BE49-F238E27FC236}">
                  <a16:creationId xmlns:a16="http://schemas.microsoft.com/office/drawing/2014/main" id="{A0D5056F-4697-E530-9F45-7AF2A927196E}"/>
                </a:ext>
              </a:extLst>
            </p:cNvPr>
            <p:cNvSpPr/>
            <p:nvPr/>
          </p:nvSpPr>
          <p:spPr>
            <a:xfrm>
              <a:off x="6290933" y="2085917"/>
              <a:ext cx="2316480" cy="304800"/>
            </a:xfrm>
            <a:prstGeom prst="rect">
              <a:avLst/>
            </a:prstGeom>
            <a:noFill/>
            <a:ln/>
          </p:spPr>
          <p:txBody>
            <a:bodyPr wrap="square" lIns="0" tIns="0" rIns="0" bIns="0"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dirty="0">
                  <a:solidFill>
                    <a:srgbClr val="6B7B8D"/>
                  </a:solidFill>
                  <a:latin typeface="+mn-lt"/>
                  <a:ea typeface="Calibri Light"/>
                  <a:cs typeface="Calibri Light"/>
                </a:rPr>
                <a:t>peak </a:t>
              </a:r>
              <a:r>
                <a:rPr lang="en-US" sz="1200">
                  <a:solidFill>
                    <a:srgbClr val="6B7B8D"/>
                  </a:solidFill>
                  <a:latin typeface="+mn-lt"/>
                  <a:ea typeface="Calibri Light"/>
                  <a:cs typeface="Calibri Light"/>
                </a:rPr>
                <a:t>demand supported</a:t>
              </a:r>
              <a:endParaRPr lang="en-US" sz="1200" dirty="0">
                <a:solidFill>
                  <a:srgbClr val="6B7B8D"/>
                </a:solidFill>
                <a:latin typeface="+mn-lt"/>
                <a:ea typeface="Calibri Light"/>
                <a:cs typeface="Calibri Light"/>
              </a:endParaRPr>
            </a:p>
          </p:txBody>
        </p:sp>
      </p:grpSp>
      <p:grpSp>
        <p:nvGrpSpPr>
          <p:cNvPr id="15" name="Group 14">
            <a:extLst>
              <a:ext uri="{FF2B5EF4-FFF2-40B4-BE49-F238E27FC236}">
                <a16:creationId xmlns:a16="http://schemas.microsoft.com/office/drawing/2014/main" id="{69469391-35F5-5931-C6A2-CF8F8027EF8A}"/>
              </a:ext>
            </a:extLst>
          </p:cNvPr>
          <p:cNvGrpSpPr/>
          <p:nvPr/>
        </p:nvGrpSpPr>
        <p:grpSpPr>
          <a:xfrm>
            <a:off x="3418236" y="1061996"/>
            <a:ext cx="2560320" cy="1305629"/>
            <a:chOff x="3347202" y="1365504"/>
            <a:chExt cx="2560320" cy="1305629"/>
          </a:xfrm>
        </p:grpSpPr>
        <p:sp>
          <p:nvSpPr>
            <p:cNvPr id="28" name="Shape 18">
              <a:extLst>
                <a:ext uri="{FF2B5EF4-FFF2-40B4-BE49-F238E27FC236}">
                  <a16:creationId xmlns:a16="http://schemas.microsoft.com/office/drawing/2014/main" id="{C1E4D485-7DDC-127F-AFD9-4BFD77F3A78B}"/>
                </a:ext>
              </a:extLst>
            </p:cNvPr>
            <p:cNvSpPr/>
            <p:nvPr/>
          </p:nvSpPr>
          <p:spPr>
            <a:xfrm>
              <a:off x="3347202" y="1365504"/>
              <a:ext cx="2560320" cy="1305629"/>
            </a:xfrm>
            <a:prstGeom prst="rect">
              <a:avLst/>
            </a:prstGeom>
            <a:solidFill>
              <a:srgbClr val="F4F7FA"/>
            </a:solidFill>
            <a:ln/>
            <a:effectLst>
              <a:outerShdw blurRad="50800" dist="12700" dir="8100000" algn="bl" rotWithShape="0">
                <a:srgbClr val="000000">
                  <a:alpha val="8000"/>
                </a:srgbClr>
              </a:outerShdw>
            </a:effectLst>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867"/>
            </a:p>
          </p:txBody>
        </p:sp>
        <p:sp>
          <p:nvSpPr>
            <p:cNvPr id="29" name="Shape 19">
              <a:extLst>
                <a:ext uri="{FF2B5EF4-FFF2-40B4-BE49-F238E27FC236}">
                  <a16:creationId xmlns:a16="http://schemas.microsoft.com/office/drawing/2014/main" id="{4CDBF60A-318F-17AA-B736-3EEF1B68EE88}"/>
                </a:ext>
              </a:extLst>
            </p:cNvPr>
            <p:cNvSpPr/>
            <p:nvPr/>
          </p:nvSpPr>
          <p:spPr>
            <a:xfrm>
              <a:off x="3347202" y="1573853"/>
              <a:ext cx="60960" cy="853440"/>
            </a:xfrm>
            <a:prstGeom prst="rect">
              <a:avLst/>
            </a:prstGeom>
            <a:solidFill>
              <a:schemeClr val="accent5"/>
            </a:solid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867">
                <a:latin typeface="+mn-lt"/>
              </a:endParaRPr>
            </a:p>
          </p:txBody>
        </p:sp>
        <p:sp>
          <p:nvSpPr>
            <p:cNvPr id="30" name="Text 20">
              <a:extLst>
                <a:ext uri="{FF2B5EF4-FFF2-40B4-BE49-F238E27FC236}">
                  <a16:creationId xmlns:a16="http://schemas.microsoft.com/office/drawing/2014/main" id="{A2B6AB4F-278A-0CA7-D836-3D8CAE053C4D}"/>
                </a:ext>
              </a:extLst>
            </p:cNvPr>
            <p:cNvSpPr/>
            <p:nvPr/>
          </p:nvSpPr>
          <p:spPr>
            <a:xfrm>
              <a:off x="3530082" y="1573853"/>
              <a:ext cx="2316480" cy="512064"/>
            </a:xfrm>
            <a:prstGeom prst="rect">
              <a:avLst/>
            </a:prstGeom>
            <a:noFill/>
            <a:ln/>
          </p:spPr>
          <p:txBody>
            <a:bodyPr wrap="square" lIns="0" tIns="0" rIns="0" bIns="0" rtlCol="0" anchor="b"/>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b="1">
                  <a:solidFill>
                    <a:schemeClr val="accent2">
                      <a:lumMod val="76000"/>
                    </a:schemeClr>
                  </a:solidFill>
                  <a:latin typeface="+mn-lt"/>
                  <a:ea typeface="Calibri"/>
                  <a:cs typeface="Calibri"/>
                </a:rPr>
                <a:t>760 MWH</a:t>
              </a:r>
              <a:endParaRPr lang="en-US"/>
            </a:p>
          </p:txBody>
        </p:sp>
        <p:sp>
          <p:nvSpPr>
            <p:cNvPr id="31" name="Text 21">
              <a:extLst>
                <a:ext uri="{FF2B5EF4-FFF2-40B4-BE49-F238E27FC236}">
                  <a16:creationId xmlns:a16="http://schemas.microsoft.com/office/drawing/2014/main" id="{09BB9E7A-297A-4005-CFA3-865E98AC02F1}"/>
                </a:ext>
              </a:extLst>
            </p:cNvPr>
            <p:cNvSpPr/>
            <p:nvPr/>
          </p:nvSpPr>
          <p:spPr>
            <a:xfrm>
              <a:off x="3530082" y="2085917"/>
              <a:ext cx="2316480" cy="304800"/>
            </a:xfrm>
            <a:prstGeom prst="rect">
              <a:avLst/>
            </a:prstGeom>
            <a:noFill/>
            <a:ln/>
          </p:spPr>
          <p:txBody>
            <a:bodyPr wrap="square" lIns="0" tIns="0" rIns="0" bIns="0"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a:solidFill>
                    <a:srgbClr val="6B7B8D"/>
                  </a:solidFill>
                  <a:latin typeface="+mn-lt"/>
                  <a:ea typeface="Calibri Light"/>
                  <a:cs typeface="Calibri Light"/>
                </a:rPr>
                <a:t>annual consumption supported</a:t>
              </a:r>
            </a:p>
          </p:txBody>
        </p:sp>
      </p:grpSp>
      <p:grpSp>
        <p:nvGrpSpPr>
          <p:cNvPr id="16" name="Group 15">
            <a:extLst>
              <a:ext uri="{FF2B5EF4-FFF2-40B4-BE49-F238E27FC236}">
                <a16:creationId xmlns:a16="http://schemas.microsoft.com/office/drawing/2014/main" id="{C80159B4-1395-BB8A-ABC4-BCF4D53D2E29}"/>
              </a:ext>
            </a:extLst>
          </p:cNvPr>
          <p:cNvGrpSpPr/>
          <p:nvPr/>
        </p:nvGrpSpPr>
        <p:grpSpPr>
          <a:xfrm>
            <a:off x="586351" y="1074910"/>
            <a:ext cx="2586151" cy="1305629"/>
            <a:chOff x="586351" y="1365503"/>
            <a:chExt cx="2586151" cy="1305629"/>
          </a:xfrm>
        </p:grpSpPr>
        <p:sp>
          <p:nvSpPr>
            <p:cNvPr id="22" name="Shape 18">
              <a:extLst>
                <a:ext uri="{FF2B5EF4-FFF2-40B4-BE49-F238E27FC236}">
                  <a16:creationId xmlns:a16="http://schemas.microsoft.com/office/drawing/2014/main" id="{1EC4AA7E-0CC7-B141-285F-AFCF0A78C033}"/>
                </a:ext>
              </a:extLst>
            </p:cNvPr>
            <p:cNvSpPr/>
            <p:nvPr/>
          </p:nvSpPr>
          <p:spPr>
            <a:xfrm>
              <a:off x="612182" y="1365503"/>
              <a:ext cx="2560320" cy="1305629"/>
            </a:xfrm>
            <a:prstGeom prst="rect">
              <a:avLst/>
            </a:prstGeom>
            <a:solidFill>
              <a:srgbClr val="F4F7FA"/>
            </a:solidFill>
            <a:ln/>
            <a:effectLst>
              <a:outerShdw blurRad="50800" dist="12700" dir="8100000" algn="bl" rotWithShape="0">
                <a:srgbClr val="000000">
                  <a:alpha val="8000"/>
                </a:srgbClr>
              </a:outerShdw>
            </a:effectLst>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867"/>
            </a:p>
          </p:txBody>
        </p:sp>
        <p:sp>
          <p:nvSpPr>
            <p:cNvPr id="23" name="Shape 19">
              <a:extLst>
                <a:ext uri="{FF2B5EF4-FFF2-40B4-BE49-F238E27FC236}">
                  <a16:creationId xmlns:a16="http://schemas.microsoft.com/office/drawing/2014/main" id="{2204ED9F-7AD8-4846-F66D-2503B861CD9A}"/>
                </a:ext>
              </a:extLst>
            </p:cNvPr>
            <p:cNvSpPr/>
            <p:nvPr/>
          </p:nvSpPr>
          <p:spPr>
            <a:xfrm>
              <a:off x="586351" y="1573852"/>
              <a:ext cx="60960" cy="853440"/>
            </a:xfrm>
            <a:prstGeom prst="rect">
              <a:avLst/>
            </a:prstGeom>
            <a:solidFill>
              <a:schemeClr val="accent6"/>
            </a:solidFill>
            <a:ln>
              <a:no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867">
                <a:latin typeface="+mn-lt"/>
              </a:endParaRPr>
            </a:p>
          </p:txBody>
        </p:sp>
        <p:sp>
          <p:nvSpPr>
            <p:cNvPr id="25" name="Text 20">
              <a:extLst>
                <a:ext uri="{FF2B5EF4-FFF2-40B4-BE49-F238E27FC236}">
                  <a16:creationId xmlns:a16="http://schemas.microsoft.com/office/drawing/2014/main" id="{9F14C251-2F57-7887-8367-D33CD9C27730}"/>
                </a:ext>
              </a:extLst>
            </p:cNvPr>
            <p:cNvSpPr/>
            <p:nvPr/>
          </p:nvSpPr>
          <p:spPr>
            <a:xfrm>
              <a:off x="769231" y="1573852"/>
              <a:ext cx="2316480" cy="512064"/>
            </a:xfrm>
            <a:prstGeom prst="rect">
              <a:avLst/>
            </a:prstGeom>
            <a:noFill/>
            <a:ln/>
          </p:spPr>
          <p:txBody>
            <a:bodyPr wrap="square" lIns="0" tIns="0" rIns="0" bIns="0" rtlCol="0" anchor="b"/>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b="1">
                  <a:solidFill>
                    <a:schemeClr val="accent2">
                      <a:lumMod val="76000"/>
                    </a:schemeClr>
                  </a:solidFill>
                  <a:latin typeface="+mn-lt"/>
                  <a:ea typeface="Calibri"/>
                  <a:cs typeface="Calibri"/>
                </a:rPr>
                <a:t>3</a:t>
              </a:r>
              <a:r>
                <a:rPr lang="en-US" sz="2800" b="1" dirty="0">
                  <a:solidFill>
                    <a:schemeClr val="accent1"/>
                  </a:solidFill>
                  <a:latin typeface="+mn-lt"/>
                  <a:ea typeface="Calibri"/>
                  <a:cs typeface="Calibri"/>
                </a:rPr>
                <a:t> </a:t>
              </a:r>
              <a:endParaRPr lang="en-US" sz="2800" dirty="0">
                <a:solidFill>
                  <a:schemeClr val="accent1"/>
                </a:solidFill>
                <a:latin typeface="+mn-lt"/>
              </a:endParaRPr>
            </a:p>
          </p:txBody>
        </p:sp>
        <p:sp>
          <p:nvSpPr>
            <p:cNvPr id="26" name="Text 21">
              <a:extLst>
                <a:ext uri="{FF2B5EF4-FFF2-40B4-BE49-F238E27FC236}">
                  <a16:creationId xmlns:a16="http://schemas.microsoft.com/office/drawing/2014/main" id="{0F8DA7A5-E28C-C377-AF70-F20923BC09B2}"/>
                </a:ext>
              </a:extLst>
            </p:cNvPr>
            <p:cNvSpPr/>
            <p:nvPr/>
          </p:nvSpPr>
          <p:spPr>
            <a:xfrm>
              <a:off x="769231" y="2085916"/>
              <a:ext cx="2316480" cy="304800"/>
            </a:xfrm>
            <a:prstGeom prst="rect">
              <a:avLst/>
            </a:prstGeom>
            <a:noFill/>
            <a:ln/>
          </p:spPr>
          <p:txBody>
            <a:bodyPr wrap="square" lIns="0" tIns="0" rIns="0" bIns="0"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dirty="0" err="1">
                  <a:solidFill>
                    <a:srgbClr val="6B7B8D"/>
                  </a:solidFill>
                  <a:latin typeface="+mn-lt"/>
                  <a:ea typeface="Calibri Light"/>
                  <a:cs typeface="Calibri Light"/>
                </a:rPr>
                <a:t>Analysed</a:t>
              </a:r>
              <a:r>
                <a:rPr lang="en-US" sz="1200" dirty="0">
                  <a:solidFill>
                    <a:srgbClr val="6B7B8D"/>
                  </a:solidFill>
                  <a:latin typeface="+mn-lt"/>
                  <a:ea typeface="Calibri Light"/>
                  <a:cs typeface="Calibri Light"/>
                </a:rPr>
                <a:t> scenario's</a:t>
              </a:r>
              <a:endParaRPr lang="en-US" dirty="0"/>
            </a:p>
          </p:txBody>
        </p:sp>
      </p:grpSp>
      <p:grpSp>
        <p:nvGrpSpPr>
          <p:cNvPr id="17" name="Group 16">
            <a:extLst>
              <a:ext uri="{FF2B5EF4-FFF2-40B4-BE49-F238E27FC236}">
                <a16:creationId xmlns:a16="http://schemas.microsoft.com/office/drawing/2014/main" id="{8B86BD12-02B6-DD25-5470-5F4118516664}"/>
              </a:ext>
            </a:extLst>
          </p:cNvPr>
          <p:cNvGrpSpPr/>
          <p:nvPr/>
        </p:nvGrpSpPr>
        <p:grpSpPr>
          <a:xfrm>
            <a:off x="9043260" y="1074910"/>
            <a:ext cx="2560320" cy="1305629"/>
            <a:chOff x="8875362" y="1365503"/>
            <a:chExt cx="2560320" cy="1305629"/>
          </a:xfrm>
        </p:grpSpPr>
        <p:sp>
          <p:nvSpPr>
            <p:cNvPr id="18" name="Shape 6">
              <a:extLst>
                <a:ext uri="{FF2B5EF4-FFF2-40B4-BE49-F238E27FC236}">
                  <a16:creationId xmlns:a16="http://schemas.microsoft.com/office/drawing/2014/main" id="{B0E58A93-6D21-7662-41FB-350EFDBBA651}"/>
                </a:ext>
              </a:extLst>
            </p:cNvPr>
            <p:cNvSpPr/>
            <p:nvPr/>
          </p:nvSpPr>
          <p:spPr>
            <a:xfrm>
              <a:off x="8875362" y="1365503"/>
              <a:ext cx="2560320" cy="1305629"/>
            </a:xfrm>
            <a:prstGeom prst="rect">
              <a:avLst/>
            </a:prstGeom>
            <a:solidFill>
              <a:srgbClr val="F4F7FA"/>
            </a:solidFill>
            <a:ln/>
            <a:effectLst>
              <a:outerShdw blurRad="50800" dist="12700" dir="8100000" algn="bl" rotWithShape="0">
                <a:srgbClr val="000000">
                  <a:alpha val="8000"/>
                </a:srgbClr>
              </a:outerShdw>
            </a:effectLst>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867"/>
            </a:p>
          </p:txBody>
        </p:sp>
        <p:sp>
          <p:nvSpPr>
            <p:cNvPr id="19" name="Shape 7">
              <a:extLst>
                <a:ext uri="{FF2B5EF4-FFF2-40B4-BE49-F238E27FC236}">
                  <a16:creationId xmlns:a16="http://schemas.microsoft.com/office/drawing/2014/main" id="{EE944B65-8BB5-905A-FB5D-296AA71BFF5C}"/>
                </a:ext>
              </a:extLst>
            </p:cNvPr>
            <p:cNvSpPr/>
            <p:nvPr/>
          </p:nvSpPr>
          <p:spPr>
            <a:xfrm>
              <a:off x="8875362" y="1593225"/>
              <a:ext cx="60960" cy="853440"/>
            </a:xfrm>
            <a:prstGeom prst="rect">
              <a:avLst/>
            </a:prstGeom>
            <a:solidFill>
              <a:schemeClr val="accent3"/>
            </a:solidFill>
            <a:ln/>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867">
                <a:latin typeface="+mn-lt"/>
              </a:endParaRPr>
            </a:p>
          </p:txBody>
        </p:sp>
        <p:sp>
          <p:nvSpPr>
            <p:cNvPr id="20" name="Text 8">
              <a:extLst>
                <a:ext uri="{FF2B5EF4-FFF2-40B4-BE49-F238E27FC236}">
                  <a16:creationId xmlns:a16="http://schemas.microsoft.com/office/drawing/2014/main" id="{11E9A7EC-88AC-F322-9F54-0622183D93CD}"/>
                </a:ext>
              </a:extLst>
            </p:cNvPr>
            <p:cNvSpPr/>
            <p:nvPr/>
          </p:nvSpPr>
          <p:spPr>
            <a:xfrm>
              <a:off x="9058242" y="1593225"/>
              <a:ext cx="2316480" cy="512064"/>
            </a:xfrm>
            <a:prstGeom prst="rect">
              <a:avLst/>
            </a:prstGeom>
            <a:noFill/>
            <a:ln/>
          </p:spPr>
          <p:txBody>
            <a:bodyPr wrap="square" lIns="0" tIns="0" rIns="0" bIns="0" rtlCol="0" anchor="b"/>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b="1">
                  <a:solidFill>
                    <a:schemeClr val="accent2">
                      <a:lumMod val="76000"/>
                    </a:schemeClr>
                  </a:solidFill>
                  <a:latin typeface="+mn-lt"/>
                  <a:ea typeface="Calibri"/>
                  <a:cs typeface="Calibri"/>
                </a:rPr>
                <a:t>Reliable</a:t>
              </a:r>
              <a:endParaRPr lang="en-US"/>
            </a:p>
          </p:txBody>
        </p:sp>
        <p:sp>
          <p:nvSpPr>
            <p:cNvPr id="21" name="Text 9">
              <a:extLst>
                <a:ext uri="{FF2B5EF4-FFF2-40B4-BE49-F238E27FC236}">
                  <a16:creationId xmlns:a16="http://schemas.microsoft.com/office/drawing/2014/main" id="{4EC50209-54E6-4018-A2BF-C3B9EC46BF1F}"/>
                </a:ext>
              </a:extLst>
            </p:cNvPr>
            <p:cNvSpPr/>
            <p:nvPr/>
          </p:nvSpPr>
          <p:spPr>
            <a:xfrm>
              <a:off x="9058242" y="2105289"/>
              <a:ext cx="2316480" cy="304800"/>
            </a:xfrm>
            <a:prstGeom prst="rect">
              <a:avLst/>
            </a:prstGeom>
            <a:noFill/>
            <a:ln/>
          </p:spPr>
          <p:txBody>
            <a:bodyPr wrap="square" lIns="0" tIns="0" rIns="0" bIns="0"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a:solidFill>
                    <a:srgbClr val="6B7B8D"/>
                  </a:solidFill>
                  <a:latin typeface="Poppins Light"/>
                  <a:ea typeface="Calibri Light"/>
                  <a:cs typeface="Calibri Light"/>
                </a:rPr>
                <a:t>Grid connection</a:t>
              </a:r>
              <a:endParaRPr lang="en-US"/>
            </a:p>
          </p:txBody>
        </p:sp>
      </p:grpSp>
      <p:sp>
        <p:nvSpPr>
          <p:cNvPr id="42" name="Rectangle 41">
            <a:extLst>
              <a:ext uri="{FF2B5EF4-FFF2-40B4-BE49-F238E27FC236}">
                <a16:creationId xmlns:a16="http://schemas.microsoft.com/office/drawing/2014/main" id="{B7A0FBB2-AFEE-79B6-036F-9387DAC556BC}"/>
              </a:ext>
            </a:extLst>
          </p:cNvPr>
          <p:cNvSpPr/>
          <p:nvPr/>
        </p:nvSpPr>
        <p:spPr>
          <a:xfrm>
            <a:off x="5171242" y="244136"/>
            <a:ext cx="3538967" cy="641435"/>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cs typeface="Poppins Light"/>
              </a:rPr>
              <a:t>Please check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12B32-2AC2-0A3C-6497-0420AEBFFF13}"/>
            </a:ext>
          </a:extLst>
        </p:cNvPr>
        <p:cNvGrpSpPr/>
        <p:nvPr/>
      </p:nvGrpSpPr>
      <p:grpSpPr>
        <a:xfrm>
          <a:off x="0" y="0"/>
          <a:ext cx="0" cy="0"/>
          <a:chOff x="0" y="0"/>
          <a:chExt cx="0" cy="0"/>
        </a:xfrm>
      </p:grpSpPr>
      <p:sp>
        <p:nvSpPr>
          <p:cNvPr id="48" name="Shape 6">
            <a:extLst>
              <a:ext uri="{FF2B5EF4-FFF2-40B4-BE49-F238E27FC236}">
                <a16:creationId xmlns:a16="http://schemas.microsoft.com/office/drawing/2014/main" id="{E2AC6047-860B-C049-5607-3CC26E43E1E3}"/>
              </a:ext>
            </a:extLst>
          </p:cNvPr>
          <p:cNvSpPr/>
          <p:nvPr/>
        </p:nvSpPr>
        <p:spPr>
          <a:xfrm>
            <a:off x="7023725" y="1335820"/>
            <a:ext cx="4257961" cy="1952391"/>
          </a:xfrm>
          <a:prstGeom prst="rect">
            <a:avLst/>
          </a:prstGeom>
          <a:solidFill>
            <a:srgbClr val="F4F7FA"/>
          </a:solidFill>
          <a:ln/>
          <a:effectLst>
            <a:outerShdw blurRad="50800" dist="12700" dir="8100000" algn="bl" rotWithShape="0">
              <a:srgbClr val="000000">
                <a:alpha val="8000"/>
              </a:srgbClr>
            </a:outerShdw>
          </a:effectLst>
        </p:spPr>
        <p:txBody>
          <a:bodyPr/>
          <a:lstStyle/>
          <a:p>
            <a:endParaRPr lang="en-US" sz="1867"/>
          </a:p>
        </p:txBody>
      </p:sp>
      <p:sp>
        <p:nvSpPr>
          <p:cNvPr id="20" name="Rectangle 19">
            <a:extLst>
              <a:ext uri="{FF2B5EF4-FFF2-40B4-BE49-F238E27FC236}">
                <a16:creationId xmlns:a16="http://schemas.microsoft.com/office/drawing/2014/main" id="{B2A012EC-A175-4157-F484-D2C3D3666A05}"/>
              </a:ext>
            </a:extLst>
          </p:cNvPr>
          <p:cNvSpPr/>
          <p:nvPr/>
        </p:nvSpPr>
        <p:spPr>
          <a:xfrm>
            <a:off x="609600" y="1076340"/>
            <a:ext cx="3221686"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ea typeface="Calibri" pitchFamily="34" charset="-122"/>
                <a:cs typeface="Calibri" pitchFamily="34" charset="-120"/>
              </a:rPr>
              <a:t>Description</a:t>
            </a:r>
            <a:endParaRPr lang="en-US">
              <a:solidFill>
                <a:schemeClr val="bg1"/>
              </a:solidFill>
              <a:latin typeface="+mj-lt"/>
            </a:endParaRPr>
          </a:p>
        </p:txBody>
      </p:sp>
      <p:sp>
        <p:nvSpPr>
          <p:cNvPr id="21" name="Right Triangle 20">
            <a:extLst>
              <a:ext uri="{FF2B5EF4-FFF2-40B4-BE49-F238E27FC236}">
                <a16:creationId xmlns:a16="http://schemas.microsoft.com/office/drawing/2014/main" id="{464C9541-841C-91FB-A0AA-81EC71CB3D69}"/>
              </a:ext>
            </a:extLst>
          </p:cNvPr>
          <p:cNvSpPr/>
          <p:nvPr/>
        </p:nvSpPr>
        <p:spPr>
          <a:xfrm flipH="1" flipV="1">
            <a:off x="609600" y="1463436"/>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4">
            <a:extLst>
              <a:ext uri="{FF2B5EF4-FFF2-40B4-BE49-F238E27FC236}">
                <a16:creationId xmlns:a16="http://schemas.microsoft.com/office/drawing/2014/main" id="{CB27B37D-714C-782C-78FC-D282DB3F009B}"/>
              </a:ext>
            </a:extLst>
          </p:cNvPr>
          <p:cNvSpPr/>
          <p:nvPr/>
        </p:nvSpPr>
        <p:spPr>
          <a:xfrm>
            <a:off x="609600" y="548640"/>
            <a:ext cx="8534400" cy="487680"/>
          </a:xfrm>
          <a:prstGeom prst="rect">
            <a:avLst/>
          </a:prstGeom>
          <a:noFill/>
          <a:ln/>
        </p:spPr>
        <p:txBody>
          <a:bodyPr wrap="square" lIns="0" tIns="0" rIns="0" bIns="0" rtlCol="0" anchor="ctr"/>
          <a:lstStyle/>
          <a:p>
            <a:endParaRPr lang="en-US" sz="2933"/>
          </a:p>
        </p:txBody>
      </p:sp>
      <p:sp>
        <p:nvSpPr>
          <p:cNvPr id="7" name="Text 5">
            <a:extLst>
              <a:ext uri="{FF2B5EF4-FFF2-40B4-BE49-F238E27FC236}">
                <a16:creationId xmlns:a16="http://schemas.microsoft.com/office/drawing/2014/main" id="{280F40D7-0AF8-1C80-F55D-F669B21F305B}"/>
              </a:ext>
            </a:extLst>
          </p:cNvPr>
          <p:cNvSpPr/>
          <p:nvPr/>
        </p:nvSpPr>
        <p:spPr>
          <a:xfrm>
            <a:off x="609600" y="1076340"/>
            <a:ext cx="9753600" cy="304800"/>
          </a:xfrm>
          <a:prstGeom prst="rect">
            <a:avLst/>
          </a:prstGeom>
          <a:noFill/>
          <a:ln/>
        </p:spPr>
        <p:txBody>
          <a:bodyPr wrap="square" lIns="0" tIns="0" rIns="0" bIns="0" rtlCol="0" anchor="ctr"/>
          <a:lstStyle/>
          <a:p>
            <a:endParaRPr lang="en-US" sz="1333"/>
          </a:p>
        </p:txBody>
      </p:sp>
      <p:sp>
        <p:nvSpPr>
          <p:cNvPr id="8" name="Text 6">
            <a:extLst>
              <a:ext uri="{FF2B5EF4-FFF2-40B4-BE49-F238E27FC236}">
                <a16:creationId xmlns:a16="http://schemas.microsoft.com/office/drawing/2014/main" id="{50EB4391-EFD6-BD36-C026-793B1A8902E5}"/>
              </a:ext>
            </a:extLst>
          </p:cNvPr>
          <p:cNvSpPr/>
          <p:nvPr/>
        </p:nvSpPr>
        <p:spPr>
          <a:xfrm>
            <a:off x="-974107" y="2169039"/>
            <a:ext cx="5242560" cy="341376"/>
          </a:xfrm>
          <a:prstGeom prst="rect">
            <a:avLst/>
          </a:prstGeom>
          <a:noFill/>
          <a:ln/>
        </p:spPr>
        <p:txBody>
          <a:bodyPr wrap="square" lIns="0" tIns="0" rIns="0" bIns="0" rtlCol="0" anchor="ctr"/>
          <a:lstStyle/>
          <a:p>
            <a:endParaRPr lang="en-US" sz="1467"/>
          </a:p>
        </p:txBody>
      </p:sp>
      <p:sp>
        <p:nvSpPr>
          <p:cNvPr id="18" name="Title 17">
            <a:extLst>
              <a:ext uri="{FF2B5EF4-FFF2-40B4-BE49-F238E27FC236}">
                <a16:creationId xmlns:a16="http://schemas.microsoft.com/office/drawing/2014/main" id="{DB93A936-6AA4-5045-1A19-9794C3BA7727}"/>
              </a:ext>
            </a:extLst>
          </p:cNvPr>
          <p:cNvSpPr>
            <a:spLocks noGrp="1"/>
          </p:cNvSpPr>
          <p:nvPr>
            <p:ph type="title"/>
          </p:nvPr>
        </p:nvSpPr>
        <p:spPr/>
        <p:txBody>
          <a:bodyPr/>
          <a:lstStyle/>
          <a:p>
            <a:r>
              <a:rPr lang="en-US"/>
              <a:t>Assignment</a:t>
            </a:r>
          </a:p>
        </p:txBody>
      </p:sp>
      <p:sp>
        <p:nvSpPr>
          <p:cNvPr id="23" name="Rectangle 22">
            <a:extLst>
              <a:ext uri="{FF2B5EF4-FFF2-40B4-BE49-F238E27FC236}">
                <a16:creationId xmlns:a16="http://schemas.microsoft.com/office/drawing/2014/main" id="{18D65764-9AEB-9909-FC15-99A87108D8D2}"/>
              </a:ext>
            </a:extLst>
          </p:cNvPr>
          <p:cNvSpPr/>
          <p:nvPr/>
        </p:nvSpPr>
        <p:spPr>
          <a:xfrm>
            <a:off x="6820280" y="1078990"/>
            <a:ext cx="3221686"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cs typeface="Calibri" pitchFamily="34" charset="-120"/>
                <a:sym typeface="Poppins Light"/>
              </a:rPr>
              <a:t>Solution 1</a:t>
            </a:r>
            <a:endParaRPr lang="en-US" b="1">
              <a:solidFill>
                <a:schemeClr val="bg1"/>
              </a:solidFill>
              <a:latin typeface="+mj-lt"/>
              <a:cs typeface="Calibri" pitchFamily="34" charset="-120"/>
            </a:endParaRPr>
          </a:p>
        </p:txBody>
      </p:sp>
      <p:sp>
        <p:nvSpPr>
          <p:cNvPr id="24" name="Right Triangle 23">
            <a:extLst>
              <a:ext uri="{FF2B5EF4-FFF2-40B4-BE49-F238E27FC236}">
                <a16:creationId xmlns:a16="http://schemas.microsoft.com/office/drawing/2014/main" id="{7EE43A21-90CB-77F4-94E9-34FCDD59C412}"/>
              </a:ext>
            </a:extLst>
          </p:cNvPr>
          <p:cNvSpPr/>
          <p:nvPr/>
        </p:nvSpPr>
        <p:spPr>
          <a:xfrm flipH="1" flipV="1">
            <a:off x="6820280" y="1466086"/>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a:extLst>
              <a:ext uri="{FF2B5EF4-FFF2-40B4-BE49-F238E27FC236}">
                <a16:creationId xmlns:a16="http://schemas.microsoft.com/office/drawing/2014/main" id="{5BCF713F-A3C2-3900-87FB-362D8E1443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39124" y="1629952"/>
            <a:ext cx="195719" cy="195719"/>
          </a:xfrm>
          <a:prstGeom prst="rect">
            <a:avLst/>
          </a:prstGeom>
        </p:spPr>
      </p:pic>
      <p:sp>
        <p:nvSpPr>
          <p:cNvPr id="50" name="TextBox 49">
            <a:extLst>
              <a:ext uri="{FF2B5EF4-FFF2-40B4-BE49-F238E27FC236}">
                <a16:creationId xmlns:a16="http://schemas.microsoft.com/office/drawing/2014/main" id="{C47A4B37-A9B1-5F3D-1E5B-744A8FA1019B}"/>
              </a:ext>
            </a:extLst>
          </p:cNvPr>
          <p:cNvSpPr txBox="1"/>
          <p:nvPr/>
        </p:nvSpPr>
        <p:spPr>
          <a:xfrm>
            <a:off x="7547031" y="1590549"/>
            <a:ext cx="3734657" cy="261610"/>
          </a:xfrm>
          <a:prstGeom prst="rect">
            <a:avLst/>
          </a:prstGeom>
          <a:noFill/>
        </p:spPr>
        <p:txBody>
          <a:bodyPr wrap="square">
            <a:spAutoFit/>
          </a:bodyPr>
          <a:lstStyle/>
          <a:p>
            <a:pPr lvl="0" eaLnBrk="0" fontAlgn="base" hangingPunct="0">
              <a:spcBef>
                <a:spcPct val="0"/>
              </a:spcBef>
              <a:spcAft>
                <a:spcPct val="0"/>
              </a:spcAft>
              <a:buClrTx/>
            </a:pPr>
            <a:r>
              <a:rPr lang="pl-PL" altLang="en-US" sz="1100">
                <a:solidFill>
                  <a:schemeClr val="tx1">
                    <a:lumMod val="65000"/>
                    <a:lumOff val="35000"/>
                  </a:schemeClr>
                </a:solidFill>
                <a:latin typeface="+mn-lt"/>
              </a:rPr>
              <a:t>BESS: 		1,000 kW / 3,374 kWh</a:t>
            </a:r>
            <a:endParaRPr lang="en-US" altLang="en-US" sz="1100">
              <a:solidFill>
                <a:schemeClr val="tx1">
                  <a:lumMod val="65000"/>
                  <a:lumOff val="35000"/>
                </a:schemeClr>
              </a:solidFill>
              <a:latin typeface="+mn-lt"/>
            </a:endParaRPr>
          </a:p>
        </p:txBody>
      </p:sp>
      <p:cxnSp>
        <p:nvCxnSpPr>
          <p:cNvPr id="51" name="Straight Connector 50">
            <a:extLst>
              <a:ext uri="{FF2B5EF4-FFF2-40B4-BE49-F238E27FC236}">
                <a16:creationId xmlns:a16="http://schemas.microsoft.com/office/drawing/2014/main" id="{1AAD2032-52F6-A010-EA75-30F41C518C74}"/>
              </a:ext>
            </a:extLst>
          </p:cNvPr>
          <p:cNvCxnSpPr>
            <a:cxnSpLocks/>
          </p:cNvCxnSpPr>
          <p:nvPr/>
        </p:nvCxnSpPr>
        <p:spPr>
          <a:xfrm>
            <a:off x="7547032" y="1919101"/>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5C9A2D1B-A828-8822-56E2-5E463DBE078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39123" y="2062015"/>
            <a:ext cx="195719" cy="195719"/>
          </a:xfrm>
          <a:prstGeom prst="rect">
            <a:avLst/>
          </a:prstGeom>
        </p:spPr>
      </p:pic>
      <p:sp>
        <p:nvSpPr>
          <p:cNvPr id="4" name="TextBox 49">
            <a:extLst>
              <a:ext uri="{FF2B5EF4-FFF2-40B4-BE49-F238E27FC236}">
                <a16:creationId xmlns:a16="http://schemas.microsoft.com/office/drawing/2014/main" id="{2EE49826-6972-A332-DF21-000A1421AD87}"/>
              </a:ext>
            </a:extLst>
          </p:cNvPr>
          <p:cNvSpPr txBox="1"/>
          <p:nvPr/>
        </p:nvSpPr>
        <p:spPr>
          <a:xfrm>
            <a:off x="7547030" y="2022612"/>
            <a:ext cx="3734657" cy="261610"/>
          </a:xfrm>
          <a:prstGeom prst="rect">
            <a:avLst/>
          </a:prstGeom>
          <a:noFill/>
        </p:spPr>
        <p:txBody>
          <a:bodyPr wrap="square">
            <a:spAutoFit/>
          </a:bodyPr>
          <a:lstStyle/>
          <a:p>
            <a:pPr lvl="0" eaLnBrk="0" fontAlgn="base" hangingPunct="0">
              <a:spcBef>
                <a:spcPct val="0"/>
              </a:spcBef>
              <a:spcAft>
                <a:spcPct val="0"/>
              </a:spcAft>
              <a:buClrTx/>
            </a:pPr>
            <a:r>
              <a:rPr lang="pl-PL" altLang="en-US" sz="1100">
                <a:solidFill>
                  <a:schemeClr val="tx1">
                    <a:lumMod val="65000"/>
                    <a:lumOff val="35000"/>
                  </a:schemeClr>
                </a:solidFill>
                <a:latin typeface="+mn-lt"/>
              </a:rPr>
              <a:t>PV:		1,000 kW / 1,500 kWp</a:t>
            </a:r>
          </a:p>
        </p:txBody>
      </p:sp>
      <p:cxnSp>
        <p:nvCxnSpPr>
          <p:cNvPr id="5" name="Straight Connector 50">
            <a:extLst>
              <a:ext uri="{FF2B5EF4-FFF2-40B4-BE49-F238E27FC236}">
                <a16:creationId xmlns:a16="http://schemas.microsoft.com/office/drawing/2014/main" id="{D53F7C2F-F477-F7B7-2D56-696AC9A64E04}"/>
              </a:ext>
            </a:extLst>
          </p:cNvPr>
          <p:cNvCxnSpPr>
            <a:cxnSpLocks/>
          </p:cNvCxnSpPr>
          <p:nvPr/>
        </p:nvCxnSpPr>
        <p:spPr>
          <a:xfrm>
            <a:off x="7547031" y="2351164"/>
            <a:ext cx="3406417"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4185C663-C0A9-1B92-1581-6D9448CF7B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39123" y="2465539"/>
            <a:ext cx="195719" cy="195719"/>
          </a:xfrm>
          <a:prstGeom prst="rect">
            <a:avLst/>
          </a:prstGeom>
        </p:spPr>
      </p:pic>
      <p:sp>
        <p:nvSpPr>
          <p:cNvPr id="11" name="TextBox 49">
            <a:extLst>
              <a:ext uri="{FF2B5EF4-FFF2-40B4-BE49-F238E27FC236}">
                <a16:creationId xmlns:a16="http://schemas.microsoft.com/office/drawing/2014/main" id="{9B563B6F-C4D4-66DB-2D62-A9B14285746E}"/>
              </a:ext>
            </a:extLst>
          </p:cNvPr>
          <p:cNvSpPr txBox="1"/>
          <p:nvPr/>
        </p:nvSpPr>
        <p:spPr>
          <a:xfrm>
            <a:off x="7547030" y="2426136"/>
            <a:ext cx="3734657" cy="261610"/>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Generator:		100 kVA</a:t>
            </a:r>
          </a:p>
        </p:txBody>
      </p:sp>
      <p:cxnSp>
        <p:nvCxnSpPr>
          <p:cNvPr id="12" name="Straight Connector 50">
            <a:extLst>
              <a:ext uri="{FF2B5EF4-FFF2-40B4-BE49-F238E27FC236}">
                <a16:creationId xmlns:a16="http://schemas.microsoft.com/office/drawing/2014/main" id="{C8409506-C283-340C-EE0F-F91DAA054B46}"/>
              </a:ext>
            </a:extLst>
          </p:cNvPr>
          <p:cNvCxnSpPr>
            <a:cxnSpLocks/>
          </p:cNvCxnSpPr>
          <p:nvPr/>
        </p:nvCxnSpPr>
        <p:spPr>
          <a:xfrm flipV="1">
            <a:off x="7547031" y="2745503"/>
            <a:ext cx="3406417" cy="918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DFB36837-C009-F0AC-0F28-7860AE2189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39122" y="2897602"/>
            <a:ext cx="195719" cy="195719"/>
          </a:xfrm>
          <a:prstGeom prst="rect">
            <a:avLst/>
          </a:prstGeom>
        </p:spPr>
      </p:pic>
      <p:sp>
        <p:nvSpPr>
          <p:cNvPr id="14" name="TextBox 49">
            <a:extLst>
              <a:ext uri="{FF2B5EF4-FFF2-40B4-BE49-F238E27FC236}">
                <a16:creationId xmlns:a16="http://schemas.microsoft.com/office/drawing/2014/main" id="{86643A19-A07F-601E-0BE1-2344B719186E}"/>
              </a:ext>
            </a:extLst>
          </p:cNvPr>
          <p:cNvSpPr txBox="1"/>
          <p:nvPr/>
        </p:nvSpPr>
        <p:spPr>
          <a:xfrm>
            <a:off x="7547029" y="2858199"/>
            <a:ext cx="3734657" cy="261610"/>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Grid connection:	55 kVA</a:t>
            </a:r>
          </a:p>
        </p:txBody>
      </p:sp>
      <p:cxnSp>
        <p:nvCxnSpPr>
          <p:cNvPr id="15" name="Straight Connector 50">
            <a:extLst>
              <a:ext uri="{FF2B5EF4-FFF2-40B4-BE49-F238E27FC236}">
                <a16:creationId xmlns:a16="http://schemas.microsoft.com/office/drawing/2014/main" id="{C5C01872-FE6A-6C39-BA24-E023CE36911B}"/>
              </a:ext>
            </a:extLst>
          </p:cNvPr>
          <p:cNvCxnSpPr>
            <a:cxnSpLocks/>
          </p:cNvCxnSpPr>
          <p:nvPr/>
        </p:nvCxnSpPr>
        <p:spPr>
          <a:xfrm>
            <a:off x="7547030" y="3186751"/>
            <a:ext cx="3406418"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Shape 6">
            <a:extLst>
              <a:ext uri="{FF2B5EF4-FFF2-40B4-BE49-F238E27FC236}">
                <a16:creationId xmlns:a16="http://schemas.microsoft.com/office/drawing/2014/main" id="{48859C87-6D89-02F1-464D-D22C612B458B}"/>
              </a:ext>
            </a:extLst>
          </p:cNvPr>
          <p:cNvSpPr/>
          <p:nvPr/>
        </p:nvSpPr>
        <p:spPr>
          <a:xfrm>
            <a:off x="7139123" y="3657737"/>
            <a:ext cx="4142564" cy="1952391"/>
          </a:xfrm>
          <a:prstGeom prst="rect">
            <a:avLst/>
          </a:prstGeom>
          <a:solidFill>
            <a:srgbClr val="F4F7FA"/>
          </a:solidFill>
          <a:ln/>
          <a:effectLst>
            <a:outerShdw blurRad="50800" dist="12700" dir="8100000" algn="bl" rotWithShape="0">
              <a:srgbClr val="000000">
                <a:alpha val="8000"/>
              </a:srgbClr>
            </a:outerShdw>
          </a:effectLst>
        </p:spPr>
        <p:txBody>
          <a:bodyPr/>
          <a:lstStyle/>
          <a:p>
            <a:endParaRPr lang="en-US" sz="1867"/>
          </a:p>
        </p:txBody>
      </p:sp>
      <p:sp>
        <p:nvSpPr>
          <p:cNvPr id="17" name="Rectangle 22">
            <a:extLst>
              <a:ext uri="{FF2B5EF4-FFF2-40B4-BE49-F238E27FC236}">
                <a16:creationId xmlns:a16="http://schemas.microsoft.com/office/drawing/2014/main" id="{424CE6BA-1F8F-55DD-5612-480F20E34DE9}"/>
              </a:ext>
            </a:extLst>
          </p:cNvPr>
          <p:cNvSpPr/>
          <p:nvPr/>
        </p:nvSpPr>
        <p:spPr>
          <a:xfrm>
            <a:off x="6935677" y="3400907"/>
            <a:ext cx="3221686"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cs typeface="Calibri" pitchFamily="34" charset="-120"/>
                <a:sym typeface="Poppins Light"/>
              </a:rPr>
              <a:t>Solution 2</a:t>
            </a:r>
            <a:endParaRPr lang="en-US" b="1">
              <a:solidFill>
                <a:schemeClr val="bg1"/>
              </a:solidFill>
              <a:latin typeface="+mj-lt"/>
              <a:cs typeface="Calibri" pitchFamily="34" charset="-120"/>
            </a:endParaRPr>
          </a:p>
        </p:txBody>
      </p:sp>
      <p:sp>
        <p:nvSpPr>
          <p:cNvPr id="22" name="Right Triangle 23">
            <a:extLst>
              <a:ext uri="{FF2B5EF4-FFF2-40B4-BE49-F238E27FC236}">
                <a16:creationId xmlns:a16="http://schemas.microsoft.com/office/drawing/2014/main" id="{2B7E1101-5B27-B525-87F1-1F609BCD8F8A}"/>
              </a:ext>
            </a:extLst>
          </p:cNvPr>
          <p:cNvSpPr/>
          <p:nvPr/>
        </p:nvSpPr>
        <p:spPr>
          <a:xfrm flipH="1" flipV="1">
            <a:off x="6935677" y="3788003"/>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a:extLst>
              <a:ext uri="{FF2B5EF4-FFF2-40B4-BE49-F238E27FC236}">
                <a16:creationId xmlns:a16="http://schemas.microsoft.com/office/drawing/2014/main" id="{69B81399-3147-55AE-29DE-E3738F67E8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54521" y="3951869"/>
            <a:ext cx="195719" cy="195719"/>
          </a:xfrm>
          <a:prstGeom prst="rect">
            <a:avLst/>
          </a:prstGeom>
        </p:spPr>
      </p:pic>
      <p:sp>
        <p:nvSpPr>
          <p:cNvPr id="26" name="TextBox 49">
            <a:extLst>
              <a:ext uri="{FF2B5EF4-FFF2-40B4-BE49-F238E27FC236}">
                <a16:creationId xmlns:a16="http://schemas.microsoft.com/office/drawing/2014/main" id="{FD06262E-C656-21B7-E634-76FB85EB0C4B}"/>
              </a:ext>
            </a:extLst>
          </p:cNvPr>
          <p:cNvSpPr txBox="1"/>
          <p:nvPr/>
        </p:nvSpPr>
        <p:spPr>
          <a:xfrm>
            <a:off x="7662428" y="3912466"/>
            <a:ext cx="3734657" cy="261610"/>
          </a:xfrm>
          <a:prstGeom prst="rect">
            <a:avLst/>
          </a:prstGeom>
          <a:noFill/>
        </p:spPr>
        <p:txBody>
          <a:bodyPr wrap="square">
            <a:spAutoFit/>
          </a:bodyPr>
          <a:lstStyle/>
          <a:p>
            <a:pPr lvl="0" eaLnBrk="0" fontAlgn="base" hangingPunct="0">
              <a:spcBef>
                <a:spcPct val="0"/>
              </a:spcBef>
              <a:spcAft>
                <a:spcPct val="0"/>
              </a:spcAft>
              <a:buClrTx/>
            </a:pPr>
            <a:r>
              <a:rPr lang="pl-PL" altLang="en-US" sz="1100">
                <a:solidFill>
                  <a:schemeClr val="tx1">
                    <a:lumMod val="65000"/>
                    <a:lumOff val="35000"/>
                  </a:schemeClr>
                </a:solidFill>
                <a:latin typeface="+mn-lt"/>
              </a:rPr>
              <a:t>BESS: 		1,000 kW / 2,330 kWh</a:t>
            </a:r>
          </a:p>
        </p:txBody>
      </p:sp>
      <p:pic>
        <p:nvPicPr>
          <p:cNvPr id="28" name="Graphic 27">
            <a:extLst>
              <a:ext uri="{FF2B5EF4-FFF2-40B4-BE49-F238E27FC236}">
                <a16:creationId xmlns:a16="http://schemas.microsoft.com/office/drawing/2014/main" id="{AED35404-00F2-194C-EEAF-352338DCD6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54520" y="4383932"/>
            <a:ext cx="195719" cy="195719"/>
          </a:xfrm>
          <a:prstGeom prst="rect">
            <a:avLst/>
          </a:prstGeom>
        </p:spPr>
      </p:pic>
      <p:sp>
        <p:nvSpPr>
          <p:cNvPr id="29" name="TextBox 49">
            <a:extLst>
              <a:ext uri="{FF2B5EF4-FFF2-40B4-BE49-F238E27FC236}">
                <a16:creationId xmlns:a16="http://schemas.microsoft.com/office/drawing/2014/main" id="{071F79FD-FCB8-6F4D-06D5-C8DE86C7A8C9}"/>
              </a:ext>
            </a:extLst>
          </p:cNvPr>
          <p:cNvSpPr txBox="1"/>
          <p:nvPr/>
        </p:nvSpPr>
        <p:spPr>
          <a:xfrm>
            <a:off x="7662427" y="4344529"/>
            <a:ext cx="3734657" cy="261610"/>
          </a:xfrm>
          <a:prstGeom prst="rect">
            <a:avLst/>
          </a:prstGeom>
          <a:noFill/>
        </p:spPr>
        <p:txBody>
          <a:bodyPr wrap="square">
            <a:spAutoFit/>
          </a:bodyPr>
          <a:lstStyle/>
          <a:p>
            <a:pPr lvl="0" eaLnBrk="0" fontAlgn="base" hangingPunct="0">
              <a:spcBef>
                <a:spcPct val="0"/>
              </a:spcBef>
              <a:spcAft>
                <a:spcPct val="0"/>
              </a:spcAft>
              <a:buClrTx/>
            </a:pPr>
            <a:r>
              <a:rPr lang="pl-PL" altLang="en-US" sz="1100">
                <a:solidFill>
                  <a:schemeClr val="tx1">
                    <a:lumMod val="65000"/>
                    <a:lumOff val="35000"/>
                  </a:schemeClr>
                </a:solidFill>
                <a:latin typeface="+mn-lt"/>
              </a:rPr>
              <a:t>PV: 		1,035 kW / 1,449 kWp</a:t>
            </a:r>
          </a:p>
        </p:txBody>
      </p:sp>
      <p:pic>
        <p:nvPicPr>
          <p:cNvPr id="31" name="Graphic 30">
            <a:extLst>
              <a:ext uri="{FF2B5EF4-FFF2-40B4-BE49-F238E27FC236}">
                <a16:creationId xmlns:a16="http://schemas.microsoft.com/office/drawing/2014/main" id="{7730B82A-5949-E527-DB0B-933BF42626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54520" y="4787456"/>
            <a:ext cx="195719" cy="195719"/>
          </a:xfrm>
          <a:prstGeom prst="rect">
            <a:avLst/>
          </a:prstGeom>
        </p:spPr>
      </p:pic>
      <p:sp>
        <p:nvSpPr>
          <p:cNvPr id="32" name="TextBox 49">
            <a:extLst>
              <a:ext uri="{FF2B5EF4-FFF2-40B4-BE49-F238E27FC236}">
                <a16:creationId xmlns:a16="http://schemas.microsoft.com/office/drawing/2014/main" id="{F3ABFEAC-2571-61AD-E4EC-06E6A2AF6268}"/>
              </a:ext>
            </a:extLst>
          </p:cNvPr>
          <p:cNvSpPr txBox="1"/>
          <p:nvPr/>
        </p:nvSpPr>
        <p:spPr>
          <a:xfrm>
            <a:off x="7662427" y="4748053"/>
            <a:ext cx="3734657" cy="261610"/>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Generator: 		500 kVA</a:t>
            </a:r>
          </a:p>
        </p:txBody>
      </p:sp>
      <p:pic>
        <p:nvPicPr>
          <p:cNvPr id="34" name="Graphic 33">
            <a:extLst>
              <a:ext uri="{FF2B5EF4-FFF2-40B4-BE49-F238E27FC236}">
                <a16:creationId xmlns:a16="http://schemas.microsoft.com/office/drawing/2014/main" id="{724C19A2-494E-3270-EDF0-44BC92AEB7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54519" y="5219519"/>
            <a:ext cx="195719" cy="195719"/>
          </a:xfrm>
          <a:prstGeom prst="rect">
            <a:avLst/>
          </a:prstGeom>
        </p:spPr>
      </p:pic>
      <p:sp>
        <p:nvSpPr>
          <p:cNvPr id="35" name="TextBox 49">
            <a:extLst>
              <a:ext uri="{FF2B5EF4-FFF2-40B4-BE49-F238E27FC236}">
                <a16:creationId xmlns:a16="http://schemas.microsoft.com/office/drawing/2014/main" id="{15A7D656-6387-011E-C11A-4A18ED41993F}"/>
              </a:ext>
            </a:extLst>
          </p:cNvPr>
          <p:cNvSpPr txBox="1"/>
          <p:nvPr/>
        </p:nvSpPr>
        <p:spPr>
          <a:xfrm>
            <a:off x="7662426" y="5180116"/>
            <a:ext cx="3734657" cy="261610"/>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Grid connection: 	55 kVA</a:t>
            </a:r>
          </a:p>
        </p:txBody>
      </p:sp>
      <p:cxnSp>
        <p:nvCxnSpPr>
          <p:cNvPr id="46" name="Straight Connector 50">
            <a:extLst>
              <a:ext uri="{FF2B5EF4-FFF2-40B4-BE49-F238E27FC236}">
                <a16:creationId xmlns:a16="http://schemas.microsoft.com/office/drawing/2014/main" id="{71CA705F-362A-83BC-77BF-FE19962EDE22}"/>
              </a:ext>
            </a:extLst>
          </p:cNvPr>
          <p:cNvCxnSpPr>
            <a:cxnSpLocks/>
          </p:cNvCxnSpPr>
          <p:nvPr/>
        </p:nvCxnSpPr>
        <p:spPr>
          <a:xfrm>
            <a:off x="7600372" y="4234468"/>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50">
            <a:extLst>
              <a:ext uri="{FF2B5EF4-FFF2-40B4-BE49-F238E27FC236}">
                <a16:creationId xmlns:a16="http://schemas.microsoft.com/office/drawing/2014/main" id="{84CBF773-39AF-B06A-4F4B-58A494988CC8}"/>
              </a:ext>
            </a:extLst>
          </p:cNvPr>
          <p:cNvCxnSpPr>
            <a:cxnSpLocks/>
          </p:cNvCxnSpPr>
          <p:nvPr/>
        </p:nvCxnSpPr>
        <p:spPr>
          <a:xfrm>
            <a:off x="7600371" y="4666531"/>
            <a:ext cx="3406417"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50">
            <a:extLst>
              <a:ext uri="{FF2B5EF4-FFF2-40B4-BE49-F238E27FC236}">
                <a16:creationId xmlns:a16="http://schemas.microsoft.com/office/drawing/2014/main" id="{F0E4572A-955D-30B8-4677-207DF8758068}"/>
              </a:ext>
            </a:extLst>
          </p:cNvPr>
          <p:cNvCxnSpPr>
            <a:cxnSpLocks/>
          </p:cNvCxnSpPr>
          <p:nvPr/>
        </p:nvCxnSpPr>
        <p:spPr>
          <a:xfrm flipV="1">
            <a:off x="7600371" y="5060870"/>
            <a:ext cx="3406417" cy="918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50">
            <a:extLst>
              <a:ext uri="{FF2B5EF4-FFF2-40B4-BE49-F238E27FC236}">
                <a16:creationId xmlns:a16="http://schemas.microsoft.com/office/drawing/2014/main" id="{81471E4C-C3F4-84A2-FB75-EA02C8DA0923}"/>
              </a:ext>
            </a:extLst>
          </p:cNvPr>
          <p:cNvCxnSpPr>
            <a:cxnSpLocks/>
          </p:cNvCxnSpPr>
          <p:nvPr/>
        </p:nvCxnSpPr>
        <p:spPr>
          <a:xfrm>
            <a:off x="7600370" y="5502118"/>
            <a:ext cx="3406418"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ekstvak 1">
            <a:extLst>
              <a:ext uri="{FF2B5EF4-FFF2-40B4-BE49-F238E27FC236}">
                <a16:creationId xmlns:a16="http://schemas.microsoft.com/office/drawing/2014/main" id="{0AED17D1-E5EE-32F2-FE87-C1795370CA8C}"/>
              </a:ext>
            </a:extLst>
          </p:cNvPr>
          <p:cNvSpPr txBox="1"/>
          <p:nvPr/>
        </p:nvSpPr>
        <p:spPr>
          <a:xfrm>
            <a:off x="815098" y="1390159"/>
            <a:ext cx="4556624" cy="4832092"/>
          </a:xfrm>
          <a:prstGeom prst="rect">
            <a:avLst/>
          </a:prstGeom>
          <a:noFill/>
          <a:ln>
            <a:solidFill>
              <a:srgbClr val="034C81"/>
            </a:solidFill>
          </a:ln>
        </p:spPr>
        <p:txBody>
          <a:bodyPr wrap="square">
            <a:spAutoFit/>
          </a:bodyPr>
          <a:lstStyle/>
          <a:p>
            <a:endParaRPr lang="en-US" sz="1100" dirty="0">
              <a:solidFill>
                <a:schemeClr val="tx1">
                  <a:lumMod val="65000"/>
                  <a:lumOff val="35000"/>
                </a:schemeClr>
              </a:solidFill>
              <a:latin typeface="+mn-lt"/>
            </a:endParaRPr>
          </a:p>
          <a:p>
            <a:r>
              <a:rPr lang="en-US" sz="1100" dirty="0" err="1">
                <a:solidFill>
                  <a:schemeClr val="tx1">
                    <a:lumMod val="65000"/>
                    <a:lumOff val="35000"/>
                  </a:schemeClr>
                </a:solidFill>
                <a:latin typeface="+mn-lt"/>
              </a:rPr>
              <a:t>Bluepeak.energy</a:t>
            </a:r>
            <a:r>
              <a:rPr lang="en-US" sz="1100" dirty="0">
                <a:solidFill>
                  <a:schemeClr val="tx1">
                    <a:lumMod val="65000"/>
                    <a:lumOff val="35000"/>
                  </a:schemeClr>
                </a:solidFill>
                <a:latin typeface="+mn-lt"/>
              </a:rPr>
              <a:t> has been engaged by 6AM N.V. to assess and advise on a reliable and economically viable energy solution for the logistics development [client] Park [location] (approximately 23,000 m²). The project currently has a limited 55 kVA grid connection, while a previous request for a 1.5 MVA connection was rejected due to grid congestion, with no confirmed timeline for capacity expansion. </a:t>
            </a:r>
          </a:p>
          <a:p>
            <a:endParaRPr lang="en-US" sz="1100" dirty="0">
              <a:solidFill>
                <a:schemeClr val="tx1">
                  <a:lumMod val="65000"/>
                  <a:lumOff val="35000"/>
                </a:schemeClr>
              </a:solidFill>
              <a:latin typeface="+mn-lt"/>
            </a:endParaRPr>
          </a:p>
          <a:p>
            <a:r>
              <a:rPr lang="en-US" sz="1100" dirty="0">
                <a:solidFill>
                  <a:schemeClr val="tx1">
                    <a:lumMod val="65000"/>
                    <a:lumOff val="35000"/>
                  </a:schemeClr>
                </a:solidFill>
                <a:latin typeface="+mn-lt"/>
              </a:rPr>
              <a:t>The objective of the assignment is to determine how the project can achieve the required power availability of 225 kVA during winter peak demand and support an estimated annual electricity consumption of approximately 760 MWh, despite the grid constraint. </a:t>
            </a:r>
          </a:p>
          <a:p>
            <a:endParaRPr lang="en-US" sz="1100" dirty="0">
              <a:solidFill>
                <a:schemeClr val="tx1">
                  <a:lumMod val="65000"/>
                  <a:lumOff val="35000"/>
                </a:schemeClr>
              </a:solidFill>
              <a:latin typeface="+mn-lt"/>
            </a:endParaRPr>
          </a:p>
          <a:p>
            <a:r>
              <a:rPr lang="en-US" sz="1100" dirty="0">
                <a:solidFill>
                  <a:schemeClr val="tx1">
                    <a:lumMod val="65000"/>
                    <a:lumOff val="35000"/>
                  </a:schemeClr>
                </a:solidFill>
                <a:latin typeface="+mn-lt"/>
              </a:rPr>
              <a:t>To achieve this, Bluepeak will independently evaluate and compare two proposed system configurations that combine on-site solar PV, battery energy storage (BESS), backup generation and the existing grid connection. The assessment will focus on technical reliability, alignment with Dutch best practices for energy systems in grid-congested areas, and the ability of each solution to meet the required power and consumption parameters. </a:t>
            </a:r>
          </a:p>
          <a:p>
            <a:endParaRPr lang="en-US" sz="1100" dirty="0">
              <a:solidFill>
                <a:schemeClr val="tx1">
                  <a:lumMod val="65000"/>
                  <a:lumOff val="35000"/>
                </a:schemeClr>
              </a:solidFill>
              <a:latin typeface="+mn-lt"/>
            </a:endParaRPr>
          </a:p>
          <a:p>
            <a:r>
              <a:rPr lang="en-US" sz="1100" dirty="0">
                <a:solidFill>
                  <a:schemeClr val="tx1">
                    <a:lumMod val="65000"/>
                    <a:lumOff val="35000"/>
                  </a:schemeClr>
                </a:solidFill>
                <a:latin typeface="+mn-lt"/>
              </a:rPr>
              <a:t>In addition, Bluepeak will analyze whether an optimized alternative configuration could better match the project’s energy profile (225 kVA peak power and 760 MWh annual consumption). </a:t>
            </a:r>
          </a:p>
        </p:txBody>
      </p:sp>
    </p:spTree>
    <p:extLst>
      <p:ext uri="{BB962C8B-B14F-4D97-AF65-F5344CB8AC3E}">
        <p14:creationId xmlns:p14="http://schemas.microsoft.com/office/powerpoint/2010/main" val="486005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D1F7E-8CA1-2A3B-850D-238660529217}"/>
            </a:ext>
          </a:extLst>
        </p:cNvPr>
        <p:cNvGrpSpPr/>
        <p:nvPr/>
      </p:nvGrpSpPr>
      <p:grpSpPr>
        <a:xfrm>
          <a:off x="0" y="0"/>
          <a:ext cx="0" cy="0"/>
          <a:chOff x="0" y="0"/>
          <a:chExt cx="0" cy="0"/>
        </a:xfrm>
      </p:grpSpPr>
      <p:sp>
        <p:nvSpPr>
          <p:cNvPr id="48" name="Shape 6">
            <a:extLst>
              <a:ext uri="{FF2B5EF4-FFF2-40B4-BE49-F238E27FC236}">
                <a16:creationId xmlns:a16="http://schemas.microsoft.com/office/drawing/2014/main" id="{DD0B1385-72DA-4AD3-E183-F7000E378EF2}"/>
              </a:ext>
            </a:extLst>
          </p:cNvPr>
          <p:cNvSpPr/>
          <p:nvPr/>
        </p:nvSpPr>
        <p:spPr>
          <a:xfrm>
            <a:off x="813045" y="3427494"/>
            <a:ext cx="4257961" cy="1170672"/>
          </a:xfrm>
          <a:prstGeom prst="rect">
            <a:avLst/>
          </a:prstGeom>
          <a:solidFill>
            <a:srgbClr val="F4F7FA"/>
          </a:solidFill>
          <a:ln/>
          <a:effectLst>
            <a:outerShdw blurRad="50800" dist="12700" dir="8100000" algn="bl" rotWithShape="0">
              <a:srgbClr val="000000">
                <a:alpha val="8000"/>
              </a:srgbClr>
            </a:outerShdw>
          </a:effectLst>
        </p:spPr>
        <p:txBody>
          <a:bodyPr/>
          <a:lstStyle/>
          <a:p>
            <a:endParaRPr lang="en-US" sz="1867"/>
          </a:p>
        </p:txBody>
      </p:sp>
      <p:sp>
        <p:nvSpPr>
          <p:cNvPr id="20" name="Rectangle 19">
            <a:extLst>
              <a:ext uri="{FF2B5EF4-FFF2-40B4-BE49-F238E27FC236}">
                <a16:creationId xmlns:a16="http://schemas.microsoft.com/office/drawing/2014/main" id="{45728D8E-2652-E3EF-D1A2-AF4DD0E87CB9}"/>
              </a:ext>
            </a:extLst>
          </p:cNvPr>
          <p:cNvSpPr/>
          <p:nvPr/>
        </p:nvSpPr>
        <p:spPr>
          <a:xfrm>
            <a:off x="609600" y="1332626"/>
            <a:ext cx="3221686"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ea typeface="Calibri" pitchFamily="34" charset="-122"/>
                <a:cs typeface="Calibri" pitchFamily="34" charset="-120"/>
              </a:rPr>
              <a:t>2 Profiles</a:t>
            </a:r>
            <a:endParaRPr lang="en-US">
              <a:solidFill>
                <a:schemeClr val="bg1"/>
              </a:solidFill>
              <a:latin typeface="+mj-lt"/>
            </a:endParaRPr>
          </a:p>
        </p:txBody>
      </p:sp>
      <p:sp>
        <p:nvSpPr>
          <p:cNvPr id="21" name="Right Triangle 20">
            <a:extLst>
              <a:ext uri="{FF2B5EF4-FFF2-40B4-BE49-F238E27FC236}">
                <a16:creationId xmlns:a16="http://schemas.microsoft.com/office/drawing/2014/main" id="{5713F1E9-EE3C-803E-1DFF-5E51DC7053D3}"/>
              </a:ext>
            </a:extLst>
          </p:cNvPr>
          <p:cNvSpPr/>
          <p:nvPr/>
        </p:nvSpPr>
        <p:spPr>
          <a:xfrm flipH="1" flipV="1">
            <a:off x="609600" y="1719722"/>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4">
            <a:extLst>
              <a:ext uri="{FF2B5EF4-FFF2-40B4-BE49-F238E27FC236}">
                <a16:creationId xmlns:a16="http://schemas.microsoft.com/office/drawing/2014/main" id="{CC5DA3FF-2336-F221-B473-946AD70BDB65}"/>
              </a:ext>
            </a:extLst>
          </p:cNvPr>
          <p:cNvSpPr/>
          <p:nvPr/>
        </p:nvSpPr>
        <p:spPr>
          <a:xfrm>
            <a:off x="609600" y="548640"/>
            <a:ext cx="8534400" cy="487680"/>
          </a:xfrm>
          <a:prstGeom prst="rect">
            <a:avLst/>
          </a:prstGeom>
          <a:noFill/>
          <a:ln/>
        </p:spPr>
        <p:txBody>
          <a:bodyPr wrap="square" lIns="0" tIns="0" rIns="0" bIns="0" rtlCol="0" anchor="ctr"/>
          <a:lstStyle/>
          <a:p>
            <a:endParaRPr lang="en-US" sz="2933"/>
          </a:p>
        </p:txBody>
      </p:sp>
      <p:sp>
        <p:nvSpPr>
          <p:cNvPr id="7" name="Text 5">
            <a:extLst>
              <a:ext uri="{FF2B5EF4-FFF2-40B4-BE49-F238E27FC236}">
                <a16:creationId xmlns:a16="http://schemas.microsoft.com/office/drawing/2014/main" id="{F5E05122-0471-1A5E-4447-F1F6AF32AFDF}"/>
              </a:ext>
            </a:extLst>
          </p:cNvPr>
          <p:cNvSpPr/>
          <p:nvPr/>
        </p:nvSpPr>
        <p:spPr>
          <a:xfrm>
            <a:off x="609600" y="1332626"/>
            <a:ext cx="9753600" cy="304800"/>
          </a:xfrm>
          <a:prstGeom prst="rect">
            <a:avLst/>
          </a:prstGeom>
          <a:noFill/>
          <a:ln/>
        </p:spPr>
        <p:txBody>
          <a:bodyPr wrap="square" lIns="0" tIns="0" rIns="0" bIns="0" rtlCol="0" anchor="ctr"/>
          <a:lstStyle/>
          <a:p>
            <a:endParaRPr lang="en-US" sz="1333"/>
          </a:p>
        </p:txBody>
      </p:sp>
      <p:sp>
        <p:nvSpPr>
          <p:cNvPr id="8" name="Text 6">
            <a:extLst>
              <a:ext uri="{FF2B5EF4-FFF2-40B4-BE49-F238E27FC236}">
                <a16:creationId xmlns:a16="http://schemas.microsoft.com/office/drawing/2014/main" id="{AEB8F5C7-3DC5-CFAC-4E79-237B943A3875}"/>
              </a:ext>
            </a:extLst>
          </p:cNvPr>
          <p:cNvSpPr/>
          <p:nvPr/>
        </p:nvSpPr>
        <p:spPr>
          <a:xfrm>
            <a:off x="-974107" y="2169039"/>
            <a:ext cx="5242560" cy="341376"/>
          </a:xfrm>
          <a:prstGeom prst="rect">
            <a:avLst/>
          </a:prstGeom>
          <a:noFill/>
          <a:ln/>
        </p:spPr>
        <p:txBody>
          <a:bodyPr wrap="square" lIns="0" tIns="0" rIns="0" bIns="0" rtlCol="0" anchor="ctr"/>
          <a:lstStyle/>
          <a:p>
            <a:endParaRPr lang="en-US" sz="1467"/>
          </a:p>
        </p:txBody>
      </p:sp>
      <p:graphicFrame>
        <p:nvGraphicFramePr>
          <p:cNvPr id="9" name="Table 0">
            <a:extLst>
              <a:ext uri="{FF2B5EF4-FFF2-40B4-BE49-F238E27FC236}">
                <a16:creationId xmlns:a16="http://schemas.microsoft.com/office/drawing/2014/main" id="{CC2A2AC9-22BA-5C80-25F3-EF270D69ED76}"/>
              </a:ext>
            </a:extLst>
          </p:cNvPr>
          <p:cNvGraphicFramePr>
            <a:graphicFrameLocks noGrp="1"/>
          </p:cNvGraphicFramePr>
          <p:nvPr>
            <p:extLst>
              <p:ext uri="{D42A27DB-BD31-4B8C-83A1-F6EECF244321}">
                <p14:modId xmlns:p14="http://schemas.microsoft.com/office/powerpoint/2010/main" val="1415256390"/>
              </p:ext>
            </p:extLst>
          </p:nvPr>
        </p:nvGraphicFramePr>
        <p:xfrm>
          <a:off x="877223" y="1815410"/>
          <a:ext cx="8889629" cy="695006"/>
        </p:xfrm>
        <a:graphic>
          <a:graphicData uri="http://schemas.openxmlformats.org/drawingml/2006/table">
            <a:tbl>
              <a:tblPr/>
              <a:tblGrid>
                <a:gridCol w="8889629">
                  <a:extLst>
                    <a:ext uri="{9D8B030D-6E8A-4147-A177-3AD203B41FA5}">
                      <a16:colId xmlns:a16="http://schemas.microsoft.com/office/drawing/2014/main" val="20000"/>
                    </a:ext>
                  </a:extLst>
                </a:gridCol>
              </a:tblGrid>
              <a:tr h="695006">
                <a:tc>
                  <a:txBody>
                    <a:bodyPr/>
                    <a:lstStyle/>
                    <a:p>
                      <a:pPr marL="0" indent="0">
                        <a:buNone/>
                      </a:pPr>
                      <a:r>
                        <a:rPr lang="en-US" sz="1200" b="0" dirty="0">
                          <a:solidFill>
                            <a:schemeClr val="tx1">
                              <a:lumMod val="65000"/>
                              <a:lumOff val="35000"/>
                            </a:schemeClr>
                          </a:solidFill>
                          <a:latin typeface="+mn-lt"/>
                          <a:ea typeface="Calibri Light" charset="0"/>
                          <a:cs typeface="Calibri Light" charset="0"/>
                        </a:rPr>
                        <a:t>For the development and calculation of the different scenarios, Bluepeak received two electricity demand profiles: </a:t>
                      </a:r>
                      <a:r>
                        <a:rPr lang="en-US" sz="1200" b="0" dirty="0" err="1">
                          <a:solidFill>
                            <a:schemeClr val="tx1">
                              <a:lumMod val="65000"/>
                              <a:lumOff val="35000"/>
                            </a:schemeClr>
                          </a:solidFill>
                          <a:latin typeface="+mn-lt"/>
                          <a:ea typeface="Calibri Light" charset="0"/>
                          <a:cs typeface="Calibri Light" charset="0"/>
                        </a:rPr>
                        <a:t>[X]</a:t>
                      </a:r>
                      <a:r>
                        <a:rPr lang="en-US" sz="1200" b="0" dirty="0">
                          <a:solidFill>
                            <a:schemeClr val="tx1">
                              <a:lumMod val="65000"/>
                              <a:lumOff val="35000"/>
                            </a:schemeClr>
                          </a:solidFill>
                          <a:latin typeface="+mn-lt"/>
                          <a:ea typeface="Calibri Light" charset="0"/>
                          <a:cs typeface="Calibri Light" charset="0"/>
                        </a:rPr>
                        <a:t> and [Y]. These profiles were processed and adapted to create representative load profiles suitable for the scenario modelling and system simulations.</a:t>
                      </a:r>
                    </a:p>
                  </a:txBody>
                  <a:tcPr marL="121920" marR="121920" marT="60960" marB="609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sp>
        <p:nvSpPr>
          <p:cNvPr id="18" name="Title 17">
            <a:extLst>
              <a:ext uri="{FF2B5EF4-FFF2-40B4-BE49-F238E27FC236}">
                <a16:creationId xmlns:a16="http://schemas.microsoft.com/office/drawing/2014/main" id="{C3065060-2FA8-B095-8330-3EA05CB16726}"/>
              </a:ext>
            </a:extLst>
          </p:cNvPr>
          <p:cNvSpPr>
            <a:spLocks noGrp="1"/>
          </p:cNvSpPr>
          <p:nvPr>
            <p:ph type="title"/>
          </p:nvPr>
        </p:nvSpPr>
        <p:spPr/>
        <p:txBody>
          <a:bodyPr/>
          <a:lstStyle/>
          <a:p>
            <a:r>
              <a:rPr lang="en-US"/>
              <a:t>Assignment</a:t>
            </a:r>
          </a:p>
        </p:txBody>
      </p:sp>
      <p:sp>
        <p:nvSpPr>
          <p:cNvPr id="23" name="Rectangle 22">
            <a:extLst>
              <a:ext uri="{FF2B5EF4-FFF2-40B4-BE49-F238E27FC236}">
                <a16:creationId xmlns:a16="http://schemas.microsoft.com/office/drawing/2014/main" id="{73CB42CF-A42F-7CB6-3F8D-9D2426581D13}"/>
              </a:ext>
            </a:extLst>
          </p:cNvPr>
          <p:cNvSpPr/>
          <p:nvPr/>
        </p:nvSpPr>
        <p:spPr>
          <a:xfrm>
            <a:off x="609600" y="3170663"/>
            <a:ext cx="3221686"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cs typeface="Calibri" pitchFamily="34" charset="-120"/>
                <a:sym typeface="Poppins Light"/>
              </a:rPr>
              <a:t>[X] profile</a:t>
            </a:r>
            <a:endParaRPr lang="en-US" b="1">
              <a:solidFill>
                <a:schemeClr val="bg1"/>
              </a:solidFill>
              <a:latin typeface="+mj-lt"/>
              <a:cs typeface="Calibri" pitchFamily="34" charset="-120"/>
            </a:endParaRPr>
          </a:p>
        </p:txBody>
      </p:sp>
      <p:sp>
        <p:nvSpPr>
          <p:cNvPr id="24" name="Right Triangle 23">
            <a:extLst>
              <a:ext uri="{FF2B5EF4-FFF2-40B4-BE49-F238E27FC236}">
                <a16:creationId xmlns:a16="http://schemas.microsoft.com/office/drawing/2014/main" id="{327376B3-64CF-4C09-6C2D-800692F28A0F}"/>
              </a:ext>
            </a:extLst>
          </p:cNvPr>
          <p:cNvSpPr/>
          <p:nvPr/>
        </p:nvSpPr>
        <p:spPr>
          <a:xfrm flipH="1" flipV="1">
            <a:off x="609600" y="3557759"/>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c 48">
            <a:extLst>
              <a:ext uri="{FF2B5EF4-FFF2-40B4-BE49-F238E27FC236}">
                <a16:creationId xmlns:a16="http://schemas.microsoft.com/office/drawing/2014/main" id="{1B4F38F5-221A-F39C-2B5A-A09E5C2CE5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8444" y="3721625"/>
            <a:ext cx="195719" cy="195719"/>
          </a:xfrm>
          <a:prstGeom prst="rect">
            <a:avLst/>
          </a:prstGeom>
        </p:spPr>
      </p:pic>
      <p:sp>
        <p:nvSpPr>
          <p:cNvPr id="50" name="TextBox 49">
            <a:extLst>
              <a:ext uri="{FF2B5EF4-FFF2-40B4-BE49-F238E27FC236}">
                <a16:creationId xmlns:a16="http://schemas.microsoft.com/office/drawing/2014/main" id="{8C17FD8F-9AA8-A656-8FA7-818A207E3AF1}"/>
              </a:ext>
            </a:extLst>
          </p:cNvPr>
          <p:cNvSpPr txBox="1"/>
          <p:nvPr/>
        </p:nvSpPr>
        <p:spPr>
          <a:xfrm>
            <a:off x="1336351" y="3682222"/>
            <a:ext cx="3734657" cy="261610"/>
          </a:xfrm>
          <a:prstGeom prst="rect">
            <a:avLst/>
          </a:prstGeom>
          <a:noFill/>
        </p:spPr>
        <p:txBody>
          <a:bodyPr wrap="square">
            <a:spAutoFit/>
          </a:bodyPr>
          <a:lstStyle/>
          <a:p>
            <a:pPr lvl="0" eaLnBrk="0" fontAlgn="base" hangingPunct="0">
              <a:spcBef>
                <a:spcPct val="0"/>
              </a:spcBef>
              <a:spcAft>
                <a:spcPct val="0"/>
              </a:spcAft>
              <a:buClrTx/>
            </a:pPr>
            <a:r>
              <a:rPr lang="pl-PL" altLang="en-US" sz="1100">
                <a:solidFill>
                  <a:schemeClr val="tx1">
                    <a:lumMod val="65000"/>
                    <a:lumOff val="35000"/>
                  </a:schemeClr>
                </a:solidFill>
                <a:latin typeface="+mn-lt"/>
              </a:rPr>
              <a:t>Year consumption:	1,325.6 MWh</a:t>
            </a:r>
            <a:endParaRPr lang="en-US" altLang="en-US" sz="1100">
              <a:solidFill>
                <a:schemeClr val="tx1">
                  <a:lumMod val="65000"/>
                  <a:lumOff val="35000"/>
                </a:schemeClr>
              </a:solidFill>
              <a:latin typeface="+mn-lt"/>
            </a:endParaRPr>
          </a:p>
        </p:txBody>
      </p:sp>
      <p:cxnSp>
        <p:nvCxnSpPr>
          <p:cNvPr id="51" name="Straight Connector 50">
            <a:extLst>
              <a:ext uri="{FF2B5EF4-FFF2-40B4-BE49-F238E27FC236}">
                <a16:creationId xmlns:a16="http://schemas.microsoft.com/office/drawing/2014/main" id="{9B2757BF-B10A-D993-0E46-314E9673A0E9}"/>
              </a:ext>
            </a:extLst>
          </p:cNvPr>
          <p:cNvCxnSpPr>
            <a:cxnSpLocks/>
          </p:cNvCxnSpPr>
          <p:nvPr/>
        </p:nvCxnSpPr>
        <p:spPr>
          <a:xfrm>
            <a:off x="1336352" y="4010774"/>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Graphic 2">
            <a:extLst>
              <a:ext uri="{FF2B5EF4-FFF2-40B4-BE49-F238E27FC236}">
                <a16:creationId xmlns:a16="http://schemas.microsoft.com/office/drawing/2014/main" id="{CF3F7B00-0ED0-47F7-68A2-8EAB20E9A1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8443" y="4153688"/>
            <a:ext cx="195719" cy="195719"/>
          </a:xfrm>
          <a:prstGeom prst="rect">
            <a:avLst/>
          </a:prstGeom>
        </p:spPr>
      </p:pic>
      <p:sp>
        <p:nvSpPr>
          <p:cNvPr id="4" name="TextBox 49">
            <a:extLst>
              <a:ext uri="{FF2B5EF4-FFF2-40B4-BE49-F238E27FC236}">
                <a16:creationId xmlns:a16="http://schemas.microsoft.com/office/drawing/2014/main" id="{FEF54FF3-8CFD-D28E-C061-D2F535342997}"/>
              </a:ext>
            </a:extLst>
          </p:cNvPr>
          <p:cNvSpPr txBox="1"/>
          <p:nvPr/>
        </p:nvSpPr>
        <p:spPr>
          <a:xfrm>
            <a:off x="1336350" y="4114285"/>
            <a:ext cx="3734657" cy="261610"/>
          </a:xfrm>
          <a:prstGeom prst="rect">
            <a:avLst/>
          </a:prstGeom>
          <a:noFill/>
        </p:spPr>
        <p:txBody>
          <a:bodyPr wrap="square">
            <a:spAutoFit/>
          </a:bodyPr>
          <a:lstStyle/>
          <a:p>
            <a:pPr lvl="0" eaLnBrk="0" fontAlgn="base" hangingPunct="0">
              <a:spcBef>
                <a:spcPct val="0"/>
              </a:spcBef>
              <a:spcAft>
                <a:spcPct val="0"/>
              </a:spcAft>
              <a:buClrTx/>
            </a:pPr>
            <a:r>
              <a:rPr lang="pl-PL" altLang="en-US" sz="1100">
                <a:solidFill>
                  <a:schemeClr val="tx1">
                    <a:lumMod val="65000"/>
                    <a:lumOff val="35000"/>
                  </a:schemeClr>
                </a:solidFill>
                <a:latin typeface="+mn-lt"/>
              </a:rPr>
              <a:t>Peak demand: 	424 kVA*</a:t>
            </a:r>
          </a:p>
        </p:txBody>
      </p:sp>
      <p:cxnSp>
        <p:nvCxnSpPr>
          <p:cNvPr id="5" name="Straight Connector 50">
            <a:extLst>
              <a:ext uri="{FF2B5EF4-FFF2-40B4-BE49-F238E27FC236}">
                <a16:creationId xmlns:a16="http://schemas.microsoft.com/office/drawing/2014/main" id="{5AF3FDE5-4033-EA7A-56BA-CED6209A7332}"/>
              </a:ext>
            </a:extLst>
          </p:cNvPr>
          <p:cNvCxnSpPr>
            <a:cxnSpLocks/>
          </p:cNvCxnSpPr>
          <p:nvPr/>
        </p:nvCxnSpPr>
        <p:spPr>
          <a:xfrm>
            <a:off x="1336351" y="4442837"/>
            <a:ext cx="3406417"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Shape 6">
            <a:extLst>
              <a:ext uri="{FF2B5EF4-FFF2-40B4-BE49-F238E27FC236}">
                <a16:creationId xmlns:a16="http://schemas.microsoft.com/office/drawing/2014/main" id="{9D1912B9-6C99-AF3E-F8DB-0B03E76328F3}"/>
              </a:ext>
            </a:extLst>
          </p:cNvPr>
          <p:cNvSpPr/>
          <p:nvPr/>
        </p:nvSpPr>
        <p:spPr>
          <a:xfrm>
            <a:off x="6040384" y="3427494"/>
            <a:ext cx="4257961" cy="1170672"/>
          </a:xfrm>
          <a:prstGeom prst="rect">
            <a:avLst/>
          </a:prstGeom>
          <a:solidFill>
            <a:srgbClr val="F4F7FA"/>
          </a:solidFill>
          <a:ln/>
          <a:effectLst>
            <a:outerShdw blurRad="50800" dist="12700" dir="8100000" algn="bl" rotWithShape="0">
              <a:srgbClr val="000000">
                <a:alpha val="8000"/>
              </a:srgbClr>
            </a:outerShdw>
          </a:effectLst>
        </p:spPr>
        <p:txBody>
          <a:bodyPr/>
          <a:lstStyle/>
          <a:p>
            <a:endParaRPr lang="en-US" sz="1867"/>
          </a:p>
        </p:txBody>
      </p:sp>
      <p:sp>
        <p:nvSpPr>
          <p:cNvPr id="27" name="Rectangle 22">
            <a:extLst>
              <a:ext uri="{FF2B5EF4-FFF2-40B4-BE49-F238E27FC236}">
                <a16:creationId xmlns:a16="http://schemas.microsoft.com/office/drawing/2014/main" id="{B35987B4-A887-7B4C-17A5-597CFDD9A114}"/>
              </a:ext>
            </a:extLst>
          </p:cNvPr>
          <p:cNvSpPr/>
          <p:nvPr/>
        </p:nvSpPr>
        <p:spPr>
          <a:xfrm>
            <a:off x="5836938" y="3170663"/>
            <a:ext cx="3929913"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cs typeface="Calibri" pitchFamily="34" charset="-120"/>
                <a:sym typeface="Poppins Light"/>
              </a:rPr>
              <a:t>Crosswood Profile (scaled to 23,000 m²) </a:t>
            </a:r>
          </a:p>
        </p:txBody>
      </p:sp>
      <p:sp>
        <p:nvSpPr>
          <p:cNvPr id="30" name="Right Triangle 23">
            <a:extLst>
              <a:ext uri="{FF2B5EF4-FFF2-40B4-BE49-F238E27FC236}">
                <a16:creationId xmlns:a16="http://schemas.microsoft.com/office/drawing/2014/main" id="{AA310C6F-731F-B5E0-E707-111974ADBCB6}"/>
              </a:ext>
            </a:extLst>
          </p:cNvPr>
          <p:cNvSpPr/>
          <p:nvPr/>
        </p:nvSpPr>
        <p:spPr>
          <a:xfrm flipH="1" flipV="1">
            <a:off x="5836939" y="3557759"/>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a:extLst>
              <a:ext uri="{FF2B5EF4-FFF2-40B4-BE49-F238E27FC236}">
                <a16:creationId xmlns:a16="http://schemas.microsoft.com/office/drawing/2014/main" id="{BF1766DA-6F3F-8DFA-9189-7F73FCBCBF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55783" y="3721625"/>
            <a:ext cx="195719" cy="195719"/>
          </a:xfrm>
          <a:prstGeom prst="rect">
            <a:avLst/>
          </a:prstGeom>
        </p:spPr>
      </p:pic>
      <p:sp>
        <p:nvSpPr>
          <p:cNvPr id="36" name="TextBox 49">
            <a:extLst>
              <a:ext uri="{FF2B5EF4-FFF2-40B4-BE49-F238E27FC236}">
                <a16:creationId xmlns:a16="http://schemas.microsoft.com/office/drawing/2014/main" id="{FE627137-4DD4-53C7-3885-FAFDAAE2C276}"/>
              </a:ext>
            </a:extLst>
          </p:cNvPr>
          <p:cNvSpPr txBox="1"/>
          <p:nvPr/>
        </p:nvSpPr>
        <p:spPr>
          <a:xfrm>
            <a:off x="6563690" y="3682222"/>
            <a:ext cx="3734657" cy="261610"/>
          </a:xfrm>
          <a:prstGeom prst="rect">
            <a:avLst/>
          </a:prstGeom>
          <a:noFill/>
        </p:spPr>
        <p:txBody>
          <a:bodyPr wrap="square">
            <a:spAutoFit/>
          </a:bodyPr>
          <a:lstStyle/>
          <a:p>
            <a:pPr lvl="0" eaLnBrk="0" fontAlgn="base" hangingPunct="0">
              <a:spcBef>
                <a:spcPct val="0"/>
              </a:spcBef>
              <a:spcAft>
                <a:spcPct val="0"/>
              </a:spcAft>
              <a:buClrTx/>
            </a:pPr>
            <a:r>
              <a:rPr lang="pl-PL" altLang="en-US" sz="1100">
                <a:solidFill>
                  <a:schemeClr val="tx1">
                    <a:lumMod val="65000"/>
                    <a:lumOff val="35000"/>
                  </a:schemeClr>
                </a:solidFill>
                <a:latin typeface="+mn-lt"/>
              </a:rPr>
              <a:t>Year consumption:	</a:t>
            </a:r>
            <a:r>
              <a:rPr lang="nl-NL" altLang="en-US" sz="1100">
                <a:solidFill>
                  <a:schemeClr val="tx1">
                    <a:lumMod val="65000"/>
                    <a:lumOff val="35000"/>
                  </a:schemeClr>
                </a:solidFill>
                <a:latin typeface="+mn-lt"/>
              </a:rPr>
              <a:t>760.0</a:t>
            </a:r>
            <a:r>
              <a:rPr lang="pl-PL" altLang="en-US" sz="1100">
                <a:solidFill>
                  <a:schemeClr val="tx1">
                    <a:lumMod val="65000"/>
                    <a:lumOff val="35000"/>
                  </a:schemeClr>
                </a:solidFill>
                <a:latin typeface="+mn-lt"/>
              </a:rPr>
              <a:t> MWh</a:t>
            </a:r>
            <a:endParaRPr lang="en-US" altLang="en-US" sz="1100">
              <a:solidFill>
                <a:schemeClr val="tx1">
                  <a:lumMod val="65000"/>
                  <a:lumOff val="35000"/>
                </a:schemeClr>
              </a:solidFill>
              <a:latin typeface="+mn-lt"/>
            </a:endParaRPr>
          </a:p>
        </p:txBody>
      </p:sp>
      <p:cxnSp>
        <p:nvCxnSpPr>
          <p:cNvPr id="37" name="Straight Connector 50">
            <a:extLst>
              <a:ext uri="{FF2B5EF4-FFF2-40B4-BE49-F238E27FC236}">
                <a16:creationId xmlns:a16="http://schemas.microsoft.com/office/drawing/2014/main" id="{0CB3F1CB-F754-E766-08D7-AD51856153E4}"/>
              </a:ext>
            </a:extLst>
          </p:cNvPr>
          <p:cNvCxnSpPr>
            <a:cxnSpLocks/>
          </p:cNvCxnSpPr>
          <p:nvPr/>
        </p:nvCxnSpPr>
        <p:spPr>
          <a:xfrm>
            <a:off x="6563691" y="4010774"/>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8" name="Graphic 37">
            <a:extLst>
              <a:ext uri="{FF2B5EF4-FFF2-40B4-BE49-F238E27FC236}">
                <a16:creationId xmlns:a16="http://schemas.microsoft.com/office/drawing/2014/main" id="{23C49BA8-587E-4D22-A8BF-A9329112CA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55782" y="4153688"/>
            <a:ext cx="195719" cy="195719"/>
          </a:xfrm>
          <a:prstGeom prst="rect">
            <a:avLst/>
          </a:prstGeom>
        </p:spPr>
      </p:pic>
      <p:sp>
        <p:nvSpPr>
          <p:cNvPr id="39" name="TextBox 49">
            <a:extLst>
              <a:ext uri="{FF2B5EF4-FFF2-40B4-BE49-F238E27FC236}">
                <a16:creationId xmlns:a16="http://schemas.microsoft.com/office/drawing/2014/main" id="{869F39A7-D556-A3FD-3E69-86FCB7F92C1B}"/>
              </a:ext>
            </a:extLst>
          </p:cNvPr>
          <p:cNvSpPr txBox="1"/>
          <p:nvPr/>
        </p:nvSpPr>
        <p:spPr>
          <a:xfrm>
            <a:off x="6563689" y="4114285"/>
            <a:ext cx="3734657" cy="261610"/>
          </a:xfrm>
          <a:prstGeom prst="rect">
            <a:avLst/>
          </a:prstGeom>
          <a:noFill/>
        </p:spPr>
        <p:txBody>
          <a:bodyPr wrap="square">
            <a:spAutoFit/>
          </a:bodyPr>
          <a:lstStyle/>
          <a:p>
            <a:pPr lvl="0" eaLnBrk="0" fontAlgn="base" hangingPunct="0">
              <a:spcBef>
                <a:spcPct val="0"/>
              </a:spcBef>
              <a:spcAft>
                <a:spcPct val="0"/>
              </a:spcAft>
              <a:buClrTx/>
            </a:pPr>
            <a:r>
              <a:rPr lang="pl-PL" altLang="en-US" sz="1100">
                <a:solidFill>
                  <a:schemeClr val="tx1">
                    <a:lumMod val="65000"/>
                    <a:lumOff val="35000"/>
                  </a:schemeClr>
                </a:solidFill>
                <a:latin typeface="+mn-lt"/>
              </a:rPr>
              <a:t>Peak demand: 	4</a:t>
            </a:r>
            <a:r>
              <a:rPr lang="nl-NL" altLang="en-US" sz="1100">
                <a:solidFill>
                  <a:schemeClr val="tx1">
                    <a:lumMod val="65000"/>
                    <a:lumOff val="35000"/>
                  </a:schemeClr>
                </a:solidFill>
                <a:latin typeface="+mn-lt"/>
              </a:rPr>
              <a:t>77</a:t>
            </a:r>
            <a:r>
              <a:rPr lang="pl-PL" altLang="en-US" sz="1100">
                <a:solidFill>
                  <a:schemeClr val="tx1">
                    <a:lumMod val="65000"/>
                    <a:lumOff val="35000"/>
                  </a:schemeClr>
                </a:solidFill>
                <a:latin typeface="+mn-lt"/>
              </a:rPr>
              <a:t> kVA*</a:t>
            </a:r>
          </a:p>
        </p:txBody>
      </p:sp>
      <p:cxnSp>
        <p:nvCxnSpPr>
          <p:cNvPr id="40" name="Straight Connector 50">
            <a:extLst>
              <a:ext uri="{FF2B5EF4-FFF2-40B4-BE49-F238E27FC236}">
                <a16:creationId xmlns:a16="http://schemas.microsoft.com/office/drawing/2014/main" id="{BC268DFC-2AA8-BEC8-FE30-C3AAA4D64BB3}"/>
              </a:ext>
            </a:extLst>
          </p:cNvPr>
          <p:cNvCxnSpPr>
            <a:cxnSpLocks/>
          </p:cNvCxnSpPr>
          <p:nvPr/>
        </p:nvCxnSpPr>
        <p:spPr>
          <a:xfrm>
            <a:off x="6563690" y="4442837"/>
            <a:ext cx="3406417"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Google Shape;111;p14">
            <a:extLst>
              <a:ext uri="{FF2B5EF4-FFF2-40B4-BE49-F238E27FC236}">
                <a16:creationId xmlns:a16="http://schemas.microsoft.com/office/drawing/2014/main" id="{726BC3B3-AC89-3322-0B8A-87F146D88E83}"/>
              </a:ext>
            </a:extLst>
          </p:cNvPr>
          <p:cNvSpPr txBox="1"/>
          <p:nvPr/>
        </p:nvSpPr>
        <p:spPr>
          <a:xfrm>
            <a:off x="712933" y="4728431"/>
            <a:ext cx="2017016" cy="55395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1000" noProof="0">
                <a:solidFill>
                  <a:srgbClr val="064A71"/>
                </a:solidFill>
                <a:latin typeface="Poppins Light"/>
                <a:cs typeface="Poppins Light"/>
                <a:sym typeface="Poppins"/>
              </a:rPr>
              <a:t>(*) Including 20% overshoot</a:t>
            </a:r>
          </a:p>
          <a:p>
            <a:pPr marL="0" marR="0" lvl="0" indent="0" algn="l" rtl="0">
              <a:lnSpc>
                <a:spcPct val="150000"/>
              </a:lnSpc>
              <a:spcBef>
                <a:spcPts val="0"/>
              </a:spcBef>
              <a:spcAft>
                <a:spcPts val="0"/>
              </a:spcAft>
              <a:buNone/>
            </a:pPr>
            <a:endParaRPr lang="en-GB" sz="1000" noProof="0">
              <a:solidFill>
                <a:srgbClr val="064A71"/>
              </a:solidFill>
              <a:latin typeface="Poppins Light"/>
              <a:cs typeface="Poppins Light"/>
              <a:sym typeface="Poppins Light"/>
            </a:endParaRPr>
          </a:p>
        </p:txBody>
      </p:sp>
      <p:sp>
        <p:nvSpPr>
          <p:cNvPr id="42" name="Google Shape;111;p14">
            <a:extLst>
              <a:ext uri="{FF2B5EF4-FFF2-40B4-BE49-F238E27FC236}">
                <a16:creationId xmlns:a16="http://schemas.microsoft.com/office/drawing/2014/main" id="{3B25F924-31E4-E60C-9FAC-D32E8B4D7800}"/>
              </a:ext>
            </a:extLst>
          </p:cNvPr>
          <p:cNvSpPr txBox="1"/>
          <p:nvPr/>
        </p:nvSpPr>
        <p:spPr>
          <a:xfrm>
            <a:off x="5940271" y="4728431"/>
            <a:ext cx="2017016" cy="55395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GB" sz="1000" noProof="0">
                <a:solidFill>
                  <a:srgbClr val="064A71"/>
                </a:solidFill>
                <a:latin typeface="Poppins Light"/>
                <a:cs typeface="Poppins Light"/>
                <a:sym typeface="Poppins"/>
              </a:rPr>
              <a:t>(*) Including 20% overshoot</a:t>
            </a:r>
          </a:p>
          <a:p>
            <a:pPr marL="0" marR="0" lvl="0" indent="0" algn="l" rtl="0">
              <a:lnSpc>
                <a:spcPct val="150000"/>
              </a:lnSpc>
              <a:spcBef>
                <a:spcPts val="0"/>
              </a:spcBef>
              <a:spcAft>
                <a:spcPts val="0"/>
              </a:spcAft>
              <a:buNone/>
            </a:pPr>
            <a:endParaRPr lang="en-GB" sz="1000" noProof="0">
              <a:solidFill>
                <a:srgbClr val="064A71"/>
              </a:solidFill>
              <a:latin typeface="Poppins Light"/>
              <a:cs typeface="Poppins Light"/>
              <a:sym typeface="Poppins Light"/>
            </a:endParaRPr>
          </a:p>
        </p:txBody>
      </p:sp>
    </p:spTree>
    <p:extLst>
      <p:ext uri="{BB962C8B-B14F-4D97-AF65-F5344CB8AC3E}">
        <p14:creationId xmlns:p14="http://schemas.microsoft.com/office/powerpoint/2010/main" val="3031573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E7373-71D2-168A-D990-37F0D3B36717}"/>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99A4FE13-1FB5-E7D8-4650-838CDCCBB99E}"/>
              </a:ext>
            </a:extLst>
          </p:cNvPr>
          <p:cNvSpPr/>
          <p:nvPr/>
        </p:nvSpPr>
        <p:spPr>
          <a:xfrm>
            <a:off x="609600" y="548640"/>
            <a:ext cx="8534400" cy="487680"/>
          </a:xfrm>
          <a:prstGeom prst="rect">
            <a:avLst/>
          </a:prstGeom>
          <a:noFill/>
          <a:ln/>
        </p:spPr>
        <p:txBody>
          <a:bodyPr wrap="square" lIns="0" tIns="0" rIns="0" bIns="0" rtlCol="0" anchor="ctr"/>
          <a:lstStyle/>
          <a:p>
            <a:endParaRPr lang="en-US" sz="2933"/>
          </a:p>
        </p:txBody>
      </p:sp>
      <p:sp>
        <p:nvSpPr>
          <p:cNvPr id="7" name="Text 5">
            <a:extLst>
              <a:ext uri="{FF2B5EF4-FFF2-40B4-BE49-F238E27FC236}">
                <a16:creationId xmlns:a16="http://schemas.microsoft.com/office/drawing/2014/main" id="{BA23443A-ABD9-2699-0948-2A8FEBCBF9AE}"/>
              </a:ext>
            </a:extLst>
          </p:cNvPr>
          <p:cNvSpPr/>
          <p:nvPr/>
        </p:nvSpPr>
        <p:spPr>
          <a:xfrm>
            <a:off x="609600" y="1332626"/>
            <a:ext cx="9753600" cy="304800"/>
          </a:xfrm>
          <a:prstGeom prst="rect">
            <a:avLst/>
          </a:prstGeom>
          <a:noFill/>
          <a:ln/>
        </p:spPr>
        <p:txBody>
          <a:bodyPr wrap="square" lIns="0" tIns="0" rIns="0" bIns="0" rtlCol="0" anchor="ctr"/>
          <a:lstStyle/>
          <a:p>
            <a:endParaRPr lang="en-US" sz="1333"/>
          </a:p>
        </p:txBody>
      </p:sp>
      <p:sp>
        <p:nvSpPr>
          <p:cNvPr id="18" name="Title 17">
            <a:extLst>
              <a:ext uri="{FF2B5EF4-FFF2-40B4-BE49-F238E27FC236}">
                <a16:creationId xmlns:a16="http://schemas.microsoft.com/office/drawing/2014/main" id="{0E8FAE38-34E8-B70F-B281-AD7B32BE651A}"/>
              </a:ext>
            </a:extLst>
          </p:cNvPr>
          <p:cNvSpPr>
            <a:spLocks noGrp="1"/>
          </p:cNvSpPr>
          <p:nvPr>
            <p:ph type="title"/>
          </p:nvPr>
        </p:nvSpPr>
        <p:spPr/>
        <p:txBody>
          <a:bodyPr/>
          <a:lstStyle/>
          <a:p>
            <a:r>
              <a:rPr lang="en-US"/>
              <a:t>Case description</a:t>
            </a:r>
          </a:p>
        </p:txBody>
      </p:sp>
      <p:sp>
        <p:nvSpPr>
          <p:cNvPr id="19" name="Text 5">
            <a:extLst>
              <a:ext uri="{FF2B5EF4-FFF2-40B4-BE49-F238E27FC236}">
                <a16:creationId xmlns:a16="http://schemas.microsoft.com/office/drawing/2014/main" id="{F1B7F31B-4195-17AB-D4E5-1FA06B07E531}"/>
              </a:ext>
            </a:extLst>
          </p:cNvPr>
          <p:cNvSpPr/>
          <p:nvPr/>
        </p:nvSpPr>
        <p:spPr>
          <a:xfrm>
            <a:off x="585816" y="938784"/>
            <a:ext cx="9753600" cy="304800"/>
          </a:xfrm>
          <a:prstGeom prst="rect">
            <a:avLst/>
          </a:prstGeom>
          <a:noFill/>
          <a:ln/>
        </p:spPr>
        <p:txBody>
          <a:bodyPr wrap="square" lIns="0" tIns="0" rIns="0" bIns="0" rtlCol="0" anchor="ctr"/>
          <a:lstStyle/>
          <a:p>
            <a:endParaRPr lang="en-US">
              <a:solidFill>
                <a:schemeClr val="tx1">
                  <a:lumMod val="65000"/>
                  <a:lumOff val="35000"/>
                </a:schemeClr>
              </a:solidFill>
              <a:latin typeface="+mj-lt"/>
              <a:cs typeface="Calibri Light" pitchFamily="34" charset="-120"/>
            </a:endParaRPr>
          </a:p>
        </p:txBody>
      </p:sp>
      <p:sp>
        <p:nvSpPr>
          <p:cNvPr id="2" name="Google Shape;111;p14">
            <a:extLst>
              <a:ext uri="{FF2B5EF4-FFF2-40B4-BE49-F238E27FC236}">
                <a16:creationId xmlns:a16="http://schemas.microsoft.com/office/drawing/2014/main" id="{8997315A-85E2-64CE-449E-49AA2D073346}"/>
              </a:ext>
            </a:extLst>
          </p:cNvPr>
          <p:cNvSpPr txBox="1"/>
          <p:nvPr/>
        </p:nvSpPr>
        <p:spPr>
          <a:xfrm>
            <a:off x="585816" y="814752"/>
            <a:ext cx="4703730" cy="5262939"/>
          </a:xfrm>
          <a:prstGeom prst="rect">
            <a:avLst/>
          </a:prstGeom>
          <a:noFill/>
          <a:ln>
            <a:noFill/>
          </a:ln>
        </p:spPr>
        <p:txBody>
          <a:bodyPr spcFirstLastPara="1" wrap="square" lIns="91425" tIns="45700" rIns="91425" bIns="45700" anchor="t" anchorCtr="0">
            <a:spAutoFit/>
          </a:bodyPr>
          <a:lstStyle/>
          <a:p>
            <a:pPr marL="0" marR="0" lvl="0" indent="0" algn="l" defTabSz="517525" rtl="0">
              <a:lnSpc>
                <a:spcPct val="150000"/>
              </a:lnSpc>
              <a:spcBef>
                <a:spcPts val="0"/>
              </a:spcBef>
              <a:spcAft>
                <a:spcPts val="0"/>
              </a:spcAft>
              <a:buNone/>
              <a:tabLst>
                <a:tab pos="2066925" algn="l"/>
              </a:tabLst>
            </a:pPr>
            <a:r>
              <a:rPr lang="en-US" sz="1200" b="1" dirty="0">
                <a:solidFill>
                  <a:srgbClr val="064A71"/>
                </a:solidFill>
                <a:latin typeface="+mn-lt"/>
                <a:ea typeface="Poppins"/>
                <a:cs typeface="Poppins"/>
                <a:sym typeface="Poppins"/>
              </a:rPr>
              <a:t>Property</a:t>
            </a:r>
          </a:p>
          <a:p>
            <a:pPr marL="266700" marR="0" lvl="2" indent="-187325" algn="l" defTabSz="517525" rtl="0">
              <a:lnSpc>
                <a:spcPct val="150000"/>
              </a:lnSpc>
              <a:spcBef>
                <a:spcPts val="0"/>
              </a:spcBef>
              <a:spcAft>
                <a:spcPts val="0"/>
              </a:spcAft>
              <a:buClr>
                <a:srgbClr val="034C81"/>
              </a:buClr>
              <a:buSzPts val="1600"/>
              <a:buFont typeface="Arial"/>
              <a:buChar char="•"/>
              <a:tabLst>
                <a:tab pos="2066925" algn="l"/>
              </a:tabLst>
            </a:pPr>
            <a:r>
              <a:rPr lang="en-US" sz="1200" b="0" i="0" u="none" strike="noStrike" cap="none" dirty="0">
                <a:solidFill>
                  <a:srgbClr val="064A71"/>
                </a:solidFill>
                <a:latin typeface="+mn-lt"/>
                <a:ea typeface="Poppins Light"/>
                <a:cs typeface="Poppins Light"/>
                <a:sym typeface="Poppins Light"/>
              </a:rPr>
              <a:t>Project name		</a:t>
            </a:r>
            <a:r>
              <a:rPr lang="en-US" sz="1200" dirty="0">
                <a:solidFill>
                  <a:srgbClr val="064A71"/>
                </a:solidFill>
                <a:latin typeface="+mn-lt"/>
                <a:ea typeface="Poppins Light"/>
                <a:cs typeface="Poppins Light"/>
                <a:sym typeface="Poppins Light"/>
              </a:rPr>
              <a:t>[client] [location]</a:t>
            </a:r>
            <a:endParaRPr lang="en-US" sz="1200" b="0" i="0" u="none" strike="noStrike" cap="none" dirty="0">
              <a:solidFill>
                <a:srgbClr val="000000"/>
              </a:solidFill>
              <a:latin typeface="+mn-lt"/>
              <a:ea typeface="Poppins Light"/>
              <a:cs typeface="Poppins Light"/>
              <a:sym typeface="Poppins Light"/>
            </a:endParaRPr>
          </a:p>
          <a:p>
            <a:pPr marL="266700" marR="0" lvl="0" indent="-187325" algn="l" defTabSz="517525" rtl="0">
              <a:lnSpc>
                <a:spcPct val="150000"/>
              </a:lnSpc>
              <a:spcBef>
                <a:spcPts val="0"/>
              </a:spcBef>
              <a:spcAft>
                <a:spcPts val="0"/>
              </a:spcAft>
              <a:buClr>
                <a:srgbClr val="034C81"/>
              </a:buClr>
              <a:buSzPts val="1600"/>
              <a:buFont typeface="Poppins Light"/>
              <a:buChar char="•"/>
              <a:tabLst>
                <a:tab pos="2066925" algn="l"/>
              </a:tabLst>
            </a:pPr>
            <a:r>
              <a:rPr lang="en-US" sz="1200" b="0" i="0" u="none" strike="noStrike" cap="none" dirty="0">
                <a:solidFill>
                  <a:srgbClr val="064A71"/>
                </a:solidFill>
                <a:latin typeface="+mn-lt"/>
                <a:ea typeface="Poppins Light"/>
                <a:cs typeface="Poppins Light"/>
                <a:sym typeface="Poppins Light"/>
              </a:rPr>
              <a:t>Location 		</a:t>
            </a:r>
            <a:r>
              <a:rPr lang="en-US" sz="1200" dirty="0">
                <a:solidFill>
                  <a:srgbClr val="064A71"/>
                </a:solidFill>
                <a:latin typeface="+mn-lt"/>
                <a:ea typeface="Poppins Light"/>
                <a:cs typeface="Poppins Light"/>
                <a:sym typeface="Poppins Light"/>
              </a:rPr>
              <a:t>[location], The Netherlands</a:t>
            </a:r>
          </a:p>
          <a:p>
            <a:pPr marL="266700" marR="0" lvl="0" indent="-187325" algn="l" defTabSz="517525" rtl="0">
              <a:lnSpc>
                <a:spcPct val="150000"/>
              </a:lnSpc>
              <a:spcBef>
                <a:spcPts val="0"/>
              </a:spcBef>
              <a:spcAft>
                <a:spcPts val="0"/>
              </a:spcAft>
              <a:buClr>
                <a:srgbClr val="034C81"/>
              </a:buClr>
              <a:buSzPts val="1600"/>
              <a:buFont typeface="Poppins Light"/>
              <a:buChar char="•"/>
              <a:tabLst>
                <a:tab pos="2066925" algn="l"/>
              </a:tabLst>
            </a:pPr>
            <a:r>
              <a:rPr lang="en-US" sz="1200" dirty="0">
                <a:solidFill>
                  <a:srgbClr val="064A71"/>
                </a:solidFill>
                <a:latin typeface="+mn-lt"/>
                <a:ea typeface="Poppins Light"/>
                <a:cs typeface="Poppins Light"/>
                <a:sym typeface="Poppins Light"/>
              </a:rPr>
              <a:t>Est. energy use profile	Standard warehouse</a:t>
            </a:r>
          </a:p>
          <a:p>
            <a:pPr marL="79375" marR="0" lvl="0" algn="l" defTabSz="517525" rtl="0">
              <a:lnSpc>
                <a:spcPct val="150000"/>
              </a:lnSpc>
              <a:spcBef>
                <a:spcPts val="0"/>
              </a:spcBef>
              <a:spcAft>
                <a:spcPts val="0"/>
              </a:spcAft>
              <a:buClr>
                <a:srgbClr val="034C81"/>
              </a:buClr>
              <a:buSzPts val="1600"/>
              <a:tabLst>
                <a:tab pos="2066925" algn="l"/>
              </a:tabLst>
            </a:pPr>
            <a:endParaRPr lang="en-US" sz="1200" b="1" dirty="0">
              <a:solidFill>
                <a:srgbClr val="064A71"/>
              </a:solidFill>
              <a:latin typeface="+mn-lt"/>
              <a:ea typeface="Poppins"/>
              <a:cs typeface="Poppins"/>
              <a:sym typeface="Poppins"/>
            </a:endParaRPr>
          </a:p>
          <a:p>
            <a:pPr marL="0" marR="0" lvl="0" indent="0" algn="l" defTabSz="517525" rtl="0">
              <a:lnSpc>
                <a:spcPct val="150000"/>
              </a:lnSpc>
              <a:spcBef>
                <a:spcPts val="0"/>
              </a:spcBef>
              <a:spcAft>
                <a:spcPts val="0"/>
              </a:spcAft>
              <a:buNone/>
              <a:tabLst>
                <a:tab pos="2066925" algn="l"/>
              </a:tabLst>
            </a:pPr>
            <a:r>
              <a:rPr lang="en-US" sz="1200" b="1" dirty="0">
                <a:solidFill>
                  <a:srgbClr val="064A71"/>
                </a:solidFill>
                <a:latin typeface="+mn-lt"/>
                <a:ea typeface="Poppins"/>
                <a:cs typeface="Poppins"/>
                <a:sym typeface="Poppins"/>
              </a:rPr>
              <a:t>Contracted grid capacity</a:t>
            </a:r>
          </a:p>
          <a:p>
            <a:pPr marL="266700" marR="0" lvl="0" indent="-187325" algn="l" defTabSz="517525" rtl="0">
              <a:lnSpc>
                <a:spcPct val="150000"/>
              </a:lnSpc>
              <a:spcBef>
                <a:spcPts val="0"/>
              </a:spcBef>
              <a:spcAft>
                <a:spcPts val="0"/>
              </a:spcAft>
              <a:buClr>
                <a:srgbClr val="034C81"/>
              </a:buClr>
              <a:buSzPts val="1600"/>
              <a:buFont typeface="Arial"/>
              <a:buChar char="•"/>
              <a:tabLst>
                <a:tab pos="2066925" algn="l"/>
              </a:tabLst>
            </a:pPr>
            <a:r>
              <a:rPr lang="en-US" sz="1200" dirty="0">
                <a:solidFill>
                  <a:srgbClr val="064A71"/>
                </a:solidFill>
                <a:latin typeface="+mn-lt"/>
                <a:ea typeface="Poppins Light"/>
                <a:cs typeface="Poppins Light"/>
                <a:sym typeface="Poppins Light"/>
              </a:rPr>
              <a:t>load capacity		55 kW</a:t>
            </a:r>
          </a:p>
          <a:p>
            <a:pPr marL="266700" marR="0" lvl="0" indent="-187325" algn="l" defTabSz="517525" rtl="0">
              <a:lnSpc>
                <a:spcPct val="150000"/>
              </a:lnSpc>
              <a:spcBef>
                <a:spcPts val="0"/>
              </a:spcBef>
              <a:spcAft>
                <a:spcPts val="0"/>
              </a:spcAft>
              <a:buClr>
                <a:srgbClr val="034C81"/>
              </a:buClr>
              <a:buSzPts val="1600"/>
              <a:buFont typeface="Arial"/>
              <a:buChar char="•"/>
              <a:tabLst>
                <a:tab pos="2066925" algn="l"/>
              </a:tabLst>
            </a:pPr>
            <a:r>
              <a:rPr lang="en-US" sz="1200" dirty="0">
                <a:solidFill>
                  <a:srgbClr val="064A71"/>
                </a:solidFill>
                <a:latin typeface="+mn-lt"/>
                <a:ea typeface="Poppins Light"/>
                <a:cs typeface="Poppins Light"/>
                <a:sym typeface="Poppins Light"/>
              </a:rPr>
              <a:t>feed-in capacity	0 kW</a:t>
            </a:r>
          </a:p>
          <a:p>
            <a:pPr marL="0" marR="0" lvl="0" indent="0" algn="l" defTabSz="517525" rtl="0">
              <a:lnSpc>
                <a:spcPct val="150000"/>
              </a:lnSpc>
              <a:spcBef>
                <a:spcPts val="0"/>
              </a:spcBef>
              <a:spcAft>
                <a:spcPts val="0"/>
              </a:spcAft>
              <a:buNone/>
              <a:tabLst>
                <a:tab pos="2066925" algn="l"/>
              </a:tabLst>
            </a:pPr>
            <a:endParaRPr lang="en-US" sz="1200" b="1" dirty="0">
              <a:solidFill>
                <a:srgbClr val="064A71"/>
              </a:solidFill>
              <a:latin typeface="+mn-lt"/>
              <a:ea typeface="Poppins"/>
              <a:cs typeface="Poppins"/>
              <a:sym typeface="Poppins"/>
            </a:endParaRPr>
          </a:p>
          <a:p>
            <a:pPr marL="0" marR="0" lvl="0" indent="0" algn="l" defTabSz="517525" rtl="0">
              <a:lnSpc>
                <a:spcPct val="150000"/>
              </a:lnSpc>
              <a:spcBef>
                <a:spcPts val="0"/>
              </a:spcBef>
              <a:spcAft>
                <a:spcPts val="0"/>
              </a:spcAft>
              <a:buNone/>
              <a:tabLst>
                <a:tab pos="2066925" algn="l"/>
              </a:tabLst>
            </a:pPr>
            <a:r>
              <a:rPr lang="en-US" sz="1200" b="1" dirty="0">
                <a:solidFill>
                  <a:srgbClr val="064A71"/>
                </a:solidFill>
                <a:latin typeface="+mn-lt"/>
                <a:ea typeface="Poppins"/>
                <a:cs typeface="Poppins"/>
                <a:sym typeface="Poppins"/>
              </a:rPr>
              <a:t>Local energy use (load)*</a:t>
            </a:r>
          </a:p>
          <a:p>
            <a:pPr marL="266700" lvl="0" indent="-187325" defTabSz="517525">
              <a:lnSpc>
                <a:spcPct val="150000"/>
              </a:lnSpc>
              <a:buClr>
                <a:srgbClr val="064A71"/>
              </a:buClr>
              <a:buSzPts val="1600"/>
              <a:buFont typeface="Poppins Light"/>
              <a:buChar char="•"/>
              <a:tabLst>
                <a:tab pos="2066925" algn="l"/>
              </a:tabLst>
            </a:pPr>
            <a:r>
              <a:rPr lang="en-US" sz="1200" dirty="0">
                <a:solidFill>
                  <a:srgbClr val="064A71"/>
                </a:solidFill>
                <a:latin typeface="+mn-lt"/>
                <a:ea typeface="Poppins Light"/>
                <a:cs typeface="Poppins Light"/>
                <a:sym typeface="Poppins Light"/>
              </a:rPr>
              <a:t>Max. load		~424 kW</a:t>
            </a:r>
            <a:r>
              <a:rPr lang="en-US" sz="1200" baseline="30000" dirty="0">
                <a:solidFill>
                  <a:srgbClr val="064A71"/>
                </a:solidFill>
                <a:latin typeface="+mn-lt"/>
              </a:rPr>
              <a:t>(1)</a:t>
            </a:r>
            <a:r>
              <a:rPr lang="en-US" sz="1200" dirty="0">
                <a:solidFill>
                  <a:srgbClr val="064A71"/>
                </a:solidFill>
                <a:latin typeface="+mn-lt"/>
                <a:ea typeface="Poppins Light"/>
                <a:cs typeface="Poppins Light"/>
                <a:sym typeface="Poppins Light"/>
              </a:rPr>
              <a:t> 	/ ~477 kW</a:t>
            </a:r>
            <a:r>
              <a:rPr lang="en-US" sz="1200" baseline="30000" dirty="0">
                <a:solidFill>
                  <a:srgbClr val="064A71"/>
                </a:solidFill>
                <a:latin typeface="+mn-lt"/>
              </a:rPr>
              <a:t>(2)</a:t>
            </a:r>
            <a:endParaRPr lang="en-US" sz="1200" dirty="0">
              <a:solidFill>
                <a:srgbClr val="064A71"/>
              </a:solidFill>
              <a:latin typeface="+mn-lt"/>
              <a:ea typeface="Poppins Light"/>
              <a:cs typeface="Poppins Light"/>
              <a:sym typeface="Poppins Light"/>
            </a:endParaRPr>
          </a:p>
          <a:p>
            <a:pPr marL="266700" lvl="0" indent="-187325" defTabSz="517525">
              <a:lnSpc>
                <a:spcPct val="150000"/>
              </a:lnSpc>
              <a:buClr>
                <a:srgbClr val="064A71"/>
              </a:buClr>
              <a:buSzPts val="1600"/>
              <a:buFont typeface="Poppins Light"/>
              <a:buChar char="•"/>
              <a:tabLst>
                <a:tab pos="2066925" algn="l"/>
              </a:tabLst>
            </a:pPr>
            <a:r>
              <a:rPr lang="en-US" sz="1200" dirty="0">
                <a:solidFill>
                  <a:srgbClr val="064A71"/>
                </a:solidFill>
                <a:latin typeface="+mn-lt"/>
                <a:ea typeface="Poppins Light"/>
                <a:cs typeface="Poppins Light"/>
                <a:sym typeface="Poppins Light"/>
              </a:rPr>
              <a:t>Local use 		~1,326 MWh</a:t>
            </a:r>
            <a:r>
              <a:rPr lang="en-US" sz="1200" baseline="30000" dirty="0">
                <a:solidFill>
                  <a:srgbClr val="064A71"/>
                </a:solidFill>
                <a:latin typeface="+mn-lt"/>
              </a:rPr>
              <a:t> (1)</a:t>
            </a:r>
            <a:r>
              <a:rPr lang="en-US" sz="1200" dirty="0">
                <a:solidFill>
                  <a:srgbClr val="064A71"/>
                </a:solidFill>
                <a:latin typeface="+mn-lt"/>
                <a:ea typeface="Poppins Light"/>
                <a:cs typeface="Poppins Light"/>
                <a:sym typeface="Poppins Light"/>
              </a:rPr>
              <a:t> / ~760 MWh</a:t>
            </a:r>
            <a:r>
              <a:rPr lang="en-US" sz="1200" baseline="30000" dirty="0">
                <a:solidFill>
                  <a:srgbClr val="064A71"/>
                </a:solidFill>
                <a:latin typeface="+mn-lt"/>
              </a:rPr>
              <a:t> (2)</a:t>
            </a:r>
          </a:p>
          <a:p>
            <a:pPr marL="79375" lvl="0" defTabSz="517525">
              <a:lnSpc>
                <a:spcPct val="150000"/>
              </a:lnSpc>
              <a:buClr>
                <a:srgbClr val="064A71"/>
              </a:buClr>
              <a:buSzPts val="1600"/>
              <a:tabLst>
                <a:tab pos="2066925" algn="l"/>
              </a:tabLst>
            </a:pPr>
            <a:endParaRPr lang="en-US" sz="1200" baseline="30000" dirty="0">
              <a:solidFill>
                <a:srgbClr val="064A71"/>
              </a:solidFill>
              <a:latin typeface="+mn-lt"/>
            </a:endParaRPr>
          </a:p>
          <a:p>
            <a:pPr marL="79375" lvl="0" defTabSz="517525">
              <a:lnSpc>
                <a:spcPct val="150000"/>
              </a:lnSpc>
              <a:buClr>
                <a:srgbClr val="064A71"/>
              </a:buClr>
              <a:buSzPts val="1600"/>
              <a:tabLst>
                <a:tab pos="2066925" algn="l"/>
              </a:tabLst>
            </a:pPr>
            <a:endParaRPr lang="en-US" sz="1200" baseline="30000" dirty="0">
              <a:solidFill>
                <a:srgbClr val="064A71"/>
              </a:solidFill>
              <a:latin typeface="+mn-lt"/>
            </a:endParaRPr>
          </a:p>
          <a:p>
            <a:pPr marL="79375" lvl="0" defTabSz="517525">
              <a:lnSpc>
                <a:spcPct val="150000"/>
              </a:lnSpc>
              <a:buClr>
                <a:srgbClr val="064A71"/>
              </a:buClr>
              <a:buSzPts val="1600"/>
              <a:tabLst>
                <a:tab pos="2066925" algn="l"/>
              </a:tabLst>
            </a:pPr>
            <a:r>
              <a:rPr lang="en-US" sz="1200" i="1" dirty="0">
                <a:solidFill>
                  <a:srgbClr val="064A71"/>
                </a:solidFill>
                <a:latin typeface="+mn-lt"/>
                <a:cs typeface="Poppins Light"/>
              </a:rPr>
              <a:t>* </a:t>
            </a:r>
            <a:r>
              <a:rPr lang="en-US" sz="1200" i="1" dirty="0" err="1">
                <a:solidFill>
                  <a:srgbClr val="064A71"/>
                </a:solidFill>
                <a:latin typeface="+mn-lt"/>
                <a:cs typeface="Poppins Light"/>
              </a:rPr>
              <a:t>Notes</a:t>
            </a:r>
            <a:r>
              <a:rPr lang="en-US" sz="1200" i="1" dirty="0">
                <a:solidFill>
                  <a:srgbClr val="064A71"/>
                </a:solidFill>
                <a:latin typeface="+mn-lt"/>
                <a:cs typeface="Poppins Light"/>
              </a:rPr>
              <a:t>:</a:t>
            </a:r>
          </a:p>
          <a:p>
            <a:pPr marL="79375" lvl="0" defTabSz="517525">
              <a:lnSpc>
                <a:spcPct val="150000"/>
              </a:lnSpc>
              <a:buClr>
                <a:srgbClr val="064A71"/>
              </a:buClr>
              <a:buSzPts val="1600"/>
              <a:tabLst>
                <a:tab pos="2066925" algn="l"/>
              </a:tabLst>
            </a:pPr>
            <a:r>
              <a:rPr lang="en-US" sz="1200" baseline="30000" dirty="0">
                <a:solidFill>
                  <a:srgbClr val="064A71"/>
                </a:solidFill>
              </a:rPr>
              <a:t>(1)</a:t>
            </a:r>
            <a:r>
              <a:rPr lang="en-US" sz="1200" dirty="0">
                <a:solidFill>
                  <a:srgbClr val="064A71"/>
                </a:solidFill>
                <a:ea typeface="Poppins Light"/>
                <a:cs typeface="Poppins Light"/>
                <a:sym typeface="Poppins Light"/>
              </a:rPr>
              <a:t> </a:t>
            </a:r>
            <a:r>
              <a:rPr lang="en-US" sz="1200" dirty="0">
                <a:solidFill>
                  <a:srgbClr val="064A71"/>
                </a:solidFill>
                <a:latin typeface="+mn-lt"/>
                <a:cs typeface="Poppins Light"/>
              </a:rPr>
              <a:t>[X]</a:t>
            </a:r>
          </a:p>
          <a:p>
            <a:pPr marL="79375" lvl="0" defTabSz="517525">
              <a:lnSpc>
                <a:spcPct val="150000"/>
              </a:lnSpc>
              <a:buClr>
                <a:srgbClr val="064A71"/>
              </a:buClr>
              <a:buSzPts val="1600"/>
              <a:tabLst>
                <a:tab pos="2066925" algn="l"/>
              </a:tabLst>
            </a:pPr>
            <a:r>
              <a:rPr lang="en-US" sz="1200" baseline="30000" dirty="0">
                <a:solidFill>
                  <a:srgbClr val="064A71"/>
                </a:solidFill>
              </a:rPr>
              <a:t>(2) </a:t>
            </a:r>
            <a:r>
              <a:rPr lang="en-US" sz="1200" dirty="0" err="1">
                <a:solidFill>
                  <a:srgbClr val="064A71"/>
                </a:solidFill>
                <a:latin typeface="+mn-lt"/>
                <a:cs typeface="Poppins Light"/>
              </a:rPr>
              <a:t>[Y]</a:t>
            </a:r>
            <a:endParaRPr lang="en-US" sz="1200" dirty="0">
              <a:solidFill>
                <a:srgbClr val="064A71"/>
              </a:solidFill>
              <a:latin typeface="+mn-lt"/>
              <a:cs typeface="Poppins Light"/>
            </a:endParaRPr>
          </a:p>
        </p:txBody>
      </p:sp>
      <p:graphicFrame>
        <p:nvGraphicFramePr>
          <p:cNvPr id="3" name="Chart 7">
            <a:extLst>
              <a:ext uri="{FF2B5EF4-FFF2-40B4-BE49-F238E27FC236}">
                <a16:creationId xmlns:a16="http://schemas.microsoft.com/office/drawing/2014/main" id="{0867EF9C-50AC-B729-7EBA-F67109C12378}"/>
              </a:ext>
            </a:extLst>
          </p:cNvPr>
          <p:cNvGraphicFramePr>
            <a:graphicFrameLocks/>
          </p:cNvGraphicFramePr>
          <p:nvPr>
            <p:extLst>
              <p:ext uri="{D42A27DB-BD31-4B8C-83A1-F6EECF244321}">
                <p14:modId xmlns:p14="http://schemas.microsoft.com/office/powerpoint/2010/main" val="756513367"/>
              </p:ext>
            </p:extLst>
          </p:nvPr>
        </p:nvGraphicFramePr>
        <p:xfrm>
          <a:off x="5521253" y="747805"/>
          <a:ext cx="5826460" cy="268119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8">
            <a:extLst>
              <a:ext uri="{FF2B5EF4-FFF2-40B4-BE49-F238E27FC236}">
                <a16:creationId xmlns:a16="http://schemas.microsoft.com/office/drawing/2014/main" id="{75821113-E1FF-8F02-594C-DBF19EBEB0CD}"/>
              </a:ext>
            </a:extLst>
          </p:cNvPr>
          <p:cNvGraphicFramePr>
            <a:graphicFrameLocks/>
          </p:cNvGraphicFramePr>
          <p:nvPr>
            <p:extLst>
              <p:ext uri="{D42A27DB-BD31-4B8C-83A1-F6EECF244321}">
                <p14:modId xmlns:p14="http://schemas.microsoft.com/office/powerpoint/2010/main" val="2133363646"/>
              </p:ext>
            </p:extLst>
          </p:nvPr>
        </p:nvGraphicFramePr>
        <p:xfrm>
          <a:off x="5521253" y="3429000"/>
          <a:ext cx="5826460" cy="274713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521457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951A4-E219-482A-B7B9-549F49D7449E}"/>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BE00A281-9DA2-5893-3CEC-A14925B241A4}"/>
              </a:ext>
            </a:extLst>
          </p:cNvPr>
          <p:cNvSpPr/>
          <p:nvPr/>
        </p:nvSpPr>
        <p:spPr>
          <a:xfrm>
            <a:off x="609600" y="548640"/>
            <a:ext cx="8534400" cy="487680"/>
          </a:xfrm>
          <a:prstGeom prst="rect">
            <a:avLst/>
          </a:prstGeom>
          <a:noFill/>
          <a:ln/>
        </p:spPr>
        <p:txBody>
          <a:bodyPr wrap="square" lIns="0" tIns="0" rIns="0" bIns="0" rtlCol="0" anchor="ctr"/>
          <a:lstStyle/>
          <a:p>
            <a:endParaRPr lang="en-US" sz="2933"/>
          </a:p>
        </p:txBody>
      </p:sp>
      <p:sp>
        <p:nvSpPr>
          <p:cNvPr id="18" name="Title 17">
            <a:extLst>
              <a:ext uri="{FF2B5EF4-FFF2-40B4-BE49-F238E27FC236}">
                <a16:creationId xmlns:a16="http://schemas.microsoft.com/office/drawing/2014/main" id="{BE0DA9AF-7B55-65E5-376A-9708016D1910}"/>
              </a:ext>
            </a:extLst>
          </p:cNvPr>
          <p:cNvSpPr>
            <a:spLocks noGrp="1"/>
          </p:cNvSpPr>
          <p:nvPr>
            <p:ph type="title"/>
          </p:nvPr>
        </p:nvSpPr>
        <p:spPr/>
        <p:txBody>
          <a:bodyPr/>
          <a:lstStyle/>
          <a:p>
            <a:r>
              <a:rPr lang="en-US" dirty="0"/>
              <a:t>Scenario 1: Solution 1 with </a:t>
            </a:r>
            <a:r>
              <a:rPr lang="en-US" dirty="0" err="1"/>
              <a:t>[X]</a:t>
            </a:r>
            <a:r>
              <a:rPr lang="en-US" dirty="0"/>
              <a:t> profile</a:t>
            </a:r>
          </a:p>
        </p:txBody>
      </p:sp>
      <p:sp>
        <p:nvSpPr>
          <p:cNvPr id="2" name="Google Shape;111;p14">
            <a:extLst>
              <a:ext uri="{FF2B5EF4-FFF2-40B4-BE49-F238E27FC236}">
                <a16:creationId xmlns:a16="http://schemas.microsoft.com/office/drawing/2014/main" id="{FE6FC166-BF44-8A83-5475-058DDF63B854}"/>
              </a:ext>
            </a:extLst>
          </p:cNvPr>
          <p:cNvSpPr txBox="1"/>
          <p:nvPr/>
        </p:nvSpPr>
        <p:spPr>
          <a:xfrm>
            <a:off x="609600" y="855369"/>
            <a:ext cx="4703730" cy="5262939"/>
          </a:xfrm>
          <a:prstGeom prst="rect">
            <a:avLst/>
          </a:prstGeom>
          <a:noFill/>
          <a:ln>
            <a:noFill/>
          </a:ln>
        </p:spPr>
        <p:txBody>
          <a:bodyPr spcFirstLastPara="1" wrap="square" lIns="91425" tIns="45700" rIns="91425" bIns="45700" anchor="t" anchorCtr="0">
            <a:spAutoFit/>
          </a:bodyPr>
          <a:lstStyle/>
          <a:p>
            <a:pPr lvl="0" defTabSz="719138">
              <a:lnSpc>
                <a:spcPct val="150000"/>
              </a:lnSpc>
            </a:pPr>
            <a:r>
              <a:rPr lang="en-GB" sz="1200" b="1" noProof="0" dirty="0">
                <a:solidFill>
                  <a:srgbClr val="064A71"/>
                </a:solidFill>
                <a:latin typeface="+mn-lt"/>
                <a:ea typeface="Poppins"/>
                <a:cs typeface="Poppins"/>
                <a:sym typeface="Poppins"/>
              </a:rPr>
              <a:t>Technical installation</a:t>
            </a:r>
          </a:p>
          <a:p>
            <a:pPr marL="266700" lvl="2" indent="-187325" defTabSz="719138">
              <a:lnSpc>
                <a:spcPct val="150000"/>
              </a:lnSpc>
              <a:buClr>
                <a:srgbClr val="034C81"/>
              </a:buClr>
              <a:buSzPts val="1600"/>
              <a:buFont typeface="Arial"/>
              <a:buChar char="•"/>
            </a:pPr>
            <a:r>
              <a:rPr lang="en-GB" sz="1200" noProof="0" dirty="0">
                <a:solidFill>
                  <a:srgbClr val="064A71"/>
                </a:solidFill>
                <a:latin typeface="+mn-lt"/>
                <a:ea typeface="Poppins Light"/>
                <a:cs typeface="Poppins Light"/>
                <a:sym typeface="Poppins Light"/>
              </a:rPr>
              <a:t>Installed capacity PV(DC) 	1,500 </a:t>
            </a:r>
            <a:r>
              <a:rPr lang="en-GB" sz="1200" noProof="0" dirty="0" err="1">
                <a:solidFill>
                  <a:srgbClr val="064A71"/>
                </a:solidFill>
                <a:latin typeface="+mn-lt"/>
                <a:ea typeface="Poppins Light"/>
                <a:cs typeface="Poppins Light"/>
                <a:sym typeface="Poppins Light"/>
              </a:rPr>
              <a:t>kWp</a:t>
            </a:r>
            <a:endParaRPr lang="en-GB" sz="1200" noProof="0" dirty="0">
              <a:solidFill>
                <a:srgbClr val="064A71"/>
              </a:solidFill>
              <a:latin typeface="+mn-lt"/>
              <a:ea typeface="Poppins Light"/>
              <a:cs typeface="Poppins Light"/>
              <a:sym typeface="Poppins Light"/>
            </a:endParaRPr>
          </a:p>
          <a:p>
            <a:pPr marL="266700" lvl="2" indent="-187325" defTabSz="719138">
              <a:lnSpc>
                <a:spcPct val="150000"/>
              </a:lnSpc>
              <a:buClr>
                <a:srgbClr val="034C81"/>
              </a:buClr>
              <a:buSzPts val="1600"/>
              <a:buFont typeface="Arial"/>
              <a:buChar char="•"/>
            </a:pPr>
            <a:r>
              <a:rPr lang="en-GB" sz="1200" noProof="0" dirty="0">
                <a:solidFill>
                  <a:srgbClr val="064A71"/>
                </a:solidFill>
                <a:latin typeface="+mn-lt"/>
                <a:ea typeface="Poppins Light"/>
                <a:cs typeface="Poppins Light"/>
                <a:sym typeface="Poppins Light"/>
              </a:rPr>
              <a:t>Installed capacity PV inverters PV	1,000 </a:t>
            </a:r>
            <a:r>
              <a:rPr lang="en-GB" sz="1200" noProof="0" dirty="0" err="1">
                <a:solidFill>
                  <a:srgbClr val="064A71"/>
                </a:solidFill>
                <a:latin typeface="+mn-lt"/>
                <a:ea typeface="Poppins Light"/>
                <a:cs typeface="Poppins Light"/>
                <a:sym typeface="Poppins Light"/>
              </a:rPr>
              <a:t>kVa</a:t>
            </a:r>
            <a:endParaRPr lang="en-GB" sz="1200" noProof="0" dirty="0">
              <a:solidFill>
                <a:srgbClr val="064A71"/>
              </a:solidFill>
              <a:latin typeface="+mn-lt"/>
              <a:ea typeface="Poppins Light"/>
              <a:cs typeface="Poppins Light"/>
              <a:sym typeface="Poppins Light"/>
            </a:endParaRPr>
          </a:p>
          <a:p>
            <a:pPr marL="266700" lvl="2" indent="-187325" defTabSz="719138">
              <a:lnSpc>
                <a:spcPct val="150000"/>
              </a:lnSpc>
              <a:buClr>
                <a:srgbClr val="034C81"/>
              </a:buClr>
              <a:buSzPts val="1600"/>
              <a:buFont typeface="Arial"/>
              <a:buChar char="•"/>
            </a:pPr>
            <a:r>
              <a:rPr lang="en-GB" sz="1200" noProof="0" dirty="0">
                <a:solidFill>
                  <a:srgbClr val="064A71"/>
                </a:solidFill>
                <a:latin typeface="+mn-lt"/>
                <a:ea typeface="Poppins Light"/>
                <a:cs typeface="Poppins Light"/>
                <a:sym typeface="Poppins Light"/>
              </a:rPr>
              <a:t>Installed capacity BESS		1,000 kW / 3,374 kWh</a:t>
            </a:r>
          </a:p>
          <a:p>
            <a:pPr marL="266700" lvl="2" indent="-187325" defTabSz="719138">
              <a:lnSpc>
                <a:spcPct val="150000"/>
              </a:lnSpc>
              <a:buClr>
                <a:srgbClr val="034C81"/>
              </a:buClr>
              <a:buSzPts val="1600"/>
              <a:buFont typeface="Arial"/>
              <a:buChar char="•"/>
            </a:pPr>
            <a:r>
              <a:rPr lang="en-GB" sz="1200" noProof="0" dirty="0">
                <a:solidFill>
                  <a:srgbClr val="064A71"/>
                </a:solidFill>
                <a:latin typeface="+mn-lt"/>
                <a:ea typeface="Poppins Light"/>
                <a:cs typeface="Poppins Light"/>
                <a:sym typeface="Poppins Light"/>
              </a:rPr>
              <a:t>Installed capacity generator	100 </a:t>
            </a:r>
            <a:r>
              <a:rPr lang="en-GB" sz="1200" noProof="0" dirty="0" err="1">
                <a:solidFill>
                  <a:srgbClr val="064A71"/>
                </a:solidFill>
                <a:latin typeface="+mn-lt"/>
                <a:ea typeface="Poppins Light"/>
                <a:cs typeface="Poppins Light"/>
                <a:sym typeface="Poppins Light"/>
              </a:rPr>
              <a:t>kVa</a:t>
            </a:r>
            <a:endParaRPr lang="en-GB" sz="1200" noProof="0" dirty="0">
              <a:solidFill>
                <a:srgbClr val="064A71"/>
              </a:solidFill>
              <a:latin typeface="+mn-lt"/>
              <a:ea typeface="Poppins Light"/>
              <a:cs typeface="Poppins Light"/>
              <a:sym typeface="Poppins Light"/>
            </a:endParaRPr>
          </a:p>
          <a:p>
            <a:pPr lvl="0" defTabSz="719138">
              <a:lnSpc>
                <a:spcPct val="150000"/>
              </a:lnSpc>
            </a:pPr>
            <a:endParaRPr lang="en-GB" sz="1200" b="1" noProof="0" dirty="0">
              <a:solidFill>
                <a:srgbClr val="064A71"/>
              </a:solidFill>
              <a:latin typeface="+mn-lt"/>
              <a:ea typeface="Poppins"/>
              <a:cs typeface="Poppins"/>
              <a:sym typeface="Poppins"/>
            </a:endParaRPr>
          </a:p>
          <a:p>
            <a:pPr lvl="0" defTabSz="719138">
              <a:lnSpc>
                <a:spcPct val="150000"/>
              </a:lnSpc>
            </a:pPr>
            <a:r>
              <a:rPr lang="en-GB" sz="1200" b="1" noProof="0" dirty="0">
                <a:solidFill>
                  <a:srgbClr val="064A71"/>
                </a:solidFill>
                <a:latin typeface="+mn-lt"/>
                <a:ea typeface="Poppins"/>
                <a:cs typeface="Poppins"/>
                <a:sym typeface="Poppins"/>
              </a:rPr>
              <a:t>Consumption</a:t>
            </a:r>
          </a:p>
          <a:p>
            <a:pPr marL="266700" lvl="0" indent="-187325" defTabSz="719138">
              <a:lnSpc>
                <a:spcPct val="150000"/>
              </a:lnSpc>
              <a:buClr>
                <a:srgbClr val="034C81"/>
              </a:buClr>
              <a:buSzPts val="1600"/>
              <a:buFont typeface="Poppins Light"/>
              <a:buChar char="•"/>
            </a:pPr>
            <a:r>
              <a:rPr lang="en-GB" sz="1200" noProof="0" dirty="0">
                <a:solidFill>
                  <a:srgbClr val="064A71"/>
                </a:solidFill>
                <a:latin typeface="+mn-lt"/>
                <a:ea typeface="Poppins Light"/>
                <a:cs typeface="Poppins Light"/>
                <a:sym typeface="Poppins Light"/>
              </a:rPr>
              <a:t>Total use			1,325 MWh/yr	</a:t>
            </a:r>
          </a:p>
          <a:p>
            <a:pPr marL="266700" lvl="0" indent="-187325" defTabSz="719138">
              <a:lnSpc>
                <a:spcPct val="150000"/>
              </a:lnSpc>
              <a:buClr>
                <a:srgbClr val="034C81"/>
              </a:buClr>
              <a:buSzPts val="1600"/>
              <a:buFont typeface="Poppins Light"/>
              <a:buChar char="•"/>
            </a:pPr>
            <a:r>
              <a:rPr lang="en-GB" sz="1200" noProof="0" dirty="0">
                <a:solidFill>
                  <a:srgbClr val="064A71"/>
                </a:solidFill>
                <a:latin typeface="+mn-lt"/>
                <a:ea typeface="Poppins Light"/>
                <a:cs typeface="Poppins Light"/>
                <a:sym typeface="Poppins Light"/>
              </a:rPr>
              <a:t>Est. grid use			289 MWh/yr (21.8%)</a:t>
            </a:r>
          </a:p>
          <a:p>
            <a:pPr marL="266700" indent="-187325" defTabSz="719138">
              <a:lnSpc>
                <a:spcPct val="150000"/>
              </a:lnSpc>
              <a:buClr>
                <a:srgbClr val="034C81"/>
              </a:buClr>
              <a:buSzPts val="1600"/>
              <a:buFont typeface="Poppins Light"/>
              <a:buChar char="•"/>
            </a:pPr>
            <a:r>
              <a:rPr lang="en-GB" sz="1200" noProof="0" dirty="0">
                <a:solidFill>
                  <a:srgbClr val="064A71"/>
                </a:solidFill>
                <a:latin typeface="+mn-lt"/>
                <a:ea typeface="Poppins Light"/>
                <a:cs typeface="Poppins Light"/>
                <a:sym typeface="Poppins Light"/>
              </a:rPr>
              <a:t>Est PV use 			526 MWh/yr (39.7%)</a:t>
            </a:r>
          </a:p>
          <a:p>
            <a:pPr marL="266700" lvl="0" indent="-187325" defTabSz="719138">
              <a:lnSpc>
                <a:spcPct val="150000"/>
              </a:lnSpc>
              <a:buClr>
                <a:srgbClr val="034C81"/>
              </a:buClr>
              <a:buSzPts val="1600"/>
              <a:buFont typeface="Poppins Light"/>
              <a:buChar char="•"/>
            </a:pPr>
            <a:r>
              <a:rPr lang="en-GB" sz="1200" noProof="0" dirty="0">
                <a:solidFill>
                  <a:srgbClr val="064A71"/>
                </a:solidFill>
                <a:latin typeface="+mn-lt"/>
                <a:ea typeface="Poppins Light"/>
                <a:cs typeface="Poppins Light"/>
                <a:sym typeface="Poppins Light"/>
              </a:rPr>
              <a:t>Est. BESS use 			335 MWh/yr (25.2%)</a:t>
            </a:r>
          </a:p>
          <a:p>
            <a:pPr marL="266700" lvl="0" indent="-187325" defTabSz="719138">
              <a:lnSpc>
                <a:spcPct val="150000"/>
              </a:lnSpc>
              <a:buClr>
                <a:srgbClr val="034C81"/>
              </a:buClr>
              <a:buSzPts val="1600"/>
              <a:buFont typeface="Poppins Light"/>
              <a:buChar char="•"/>
            </a:pPr>
            <a:r>
              <a:rPr lang="en-GB" sz="1200" noProof="0" dirty="0">
                <a:solidFill>
                  <a:srgbClr val="064A71"/>
                </a:solidFill>
                <a:latin typeface="+mn-lt"/>
                <a:ea typeface="Poppins Light"/>
                <a:cs typeface="Poppins Light"/>
                <a:sym typeface="Poppins Light"/>
              </a:rPr>
              <a:t>Est. generator use	 	176 MWh/yr (13.3%)</a:t>
            </a:r>
            <a:endParaRPr lang="en-GB" sz="1200" b="1" noProof="0" dirty="0">
              <a:solidFill>
                <a:srgbClr val="064A71"/>
              </a:solidFill>
              <a:latin typeface="+mn-lt"/>
              <a:ea typeface="Poppins Light"/>
              <a:cs typeface="Poppins"/>
              <a:sym typeface="Poppins"/>
            </a:endParaRPr>
          </a:p>
          <a:p>
            <a:pPr marL="79375" lvl="0" defTabSz="719138">
              <a:lnSpc>
                <a:spcPct val="150000"/>
              </a:lnSpc>
              <a:buClr>
                <a:srgbClr val="034C81"/>
              </a:buClr>
              <a:buSzPts val="1600"/>
            </a:pPr>
            <a:endParaRPr lang="en-GB" sz="1200" b="1" noProof="0" dirty="0">
              <a:solidFill>
                <a:srgbClr val="064A71"/>
              </a:solidFill>
              <a:latin typeface="+mn-lt"/>
              <a:cs typeface="Poppins"/>
              <a:sym typeface="Poppins Light"/>
            </a:endParaRPr>
          </a:p>
          <a:p>
            <a:pPr marL="79375" lvl="0" defTabSz="719138">
              <a:lnSpc>
                <a:spcPct val="150000"/>
              </a:lnSpc>
              <a:buClr>
                <a:srgbClr val="034C81"/>
              </a:buClr>
              <a:buSzPts val="1600"/>
            </a:pPr>
            <a:r>
              <a:rPr lang="en-GB" sz="1200" b="1" noProof="0" dirty="0">
                <a:solidFill>
                  <a:srgbClr val="064A71"/>
                </a:solidFill>
                <a:latin typeface="+mn-lt"/>
                <a:cs typeface="Poppins"/>
                <a:sym typeface="Poppins Light"/>
              </a:rPr>
              <a:t>Production</a:t>
            </a:r>
          </a:p>
          <a:p>
            <a:pPr marL="266700" lvl="0" indent="-187325" defTabSz="719138">
              <a:lnSpc>
                <a:spcPct val="150000"/>
              </a:lnSpc>
              <a:buClr>
                <a:srgbClr val="034C81"/>
              </a:buClr>
              <a:buSzPts val="1600"/>
              <a:buFont typeface="Poppins Light"/>
              <a:buChar char="•"/>
            </a:pPr>
            <a:r>
              <a:rPr lang="en-GB" sz="1200" noProof="0" dirty="0">
                <a:solidFill>
                  <a:srgbClr val="064A71"/>
                </a:solidFill>
                <a:latin typeface="+mn-lt"/>
                <a:ea typeface="Poppins Light"/>
                <a:cs typeface="Poppins Light"/>
                <a:sym typeface="Poppins Light"/>
              </a:rPr>
              <a:t>Est. production solar PV		1,165 MWh/yr	</a:t>
            </a:r>
          </a:p>
          <a:p>
            <a:pPr marL="266700" lvl="0" indent="-187325" defTabSz="719138">
              <a:lnSpc>
                <a:spcPct val="150000"/>
              </a:lnSpc>
              <a:buClr>
                <a:srgbClr val="034C81"/>
              </a:buClr>
              <a:buSzPts val="1600"/>
              <a:buFont typeface="Poppins Light"/>
              <a:buChar char="•"/>
            </a:pPr>
            <a:r>
              <a:rPr lang="en-GB" sz="1200" noProof="0" dirty="0">
                <a:solidFill>
                  <a:srgbClr val="064A71"/>
                </a:solidFill>
                <a:latin typeface="+mn-lt"/>
                <a:ea typeface="Poppins Light"/>
                <a:cs typeface="Poppins Light"/>
                <a:sym typeface="Poppins Light"/>
              </a:rPr>
              <a:t>Est. local use of solar PV		526 MWh/yr (45.2%)</a:t>
            </a:r>
          </a:p>
          <a:p>
            <a:pPr marL="266700" lvl="0" indent="-187325" defTabSz="719138">
              <a:lnSpc>
                <a:spcPct val="150000"/>
              </a:lnSpc>
              <a:buClr>
                <a:srgbClr val="034C81"/>
              </a:buClr>
              <a:buSzPts val="1600"/>
              <a:buFont typeface="Poppins Light"/>
              <a:buChar char="•"/>
            </a:pPr>
            <a:r>
              <a:rPr lang="en-GB" sz="1200" noProof="0" dirty="0">
                <a:solidFill>
                  <a:srgbClr val="064A71"/>
                </a:solidFill>
                <a:latin typeface="+mn-lt"/>
                <a:cs typeface="Poppins Light"/>
                <a:sym typeface="Poppins Light"/>
              </a:rPr>
              <a:t>Est stored in BESS		335 MWh/yr (28.7%)</a:t>
            </a:r>
          </a:p>
          <a:p>
            <a:pPr marL="266700" lvl="0" indent="-187325">
              <a:lnSpc>
                <a:spcPct val="150000"/>
              </a:lnSpc>
              <a:buClr>
                <a:srgbClr val="034C81"/>
              </a:buClr>
              <a:buSzPts val="1600"/>
              <a:buFont typeface="Poppins Light"/>
              <a:buChar char="•"/>
            </a:pPr>
            <a:r>
              <a:rPr lang="en-GB" sz="1200" noProof="0" dirty="0">
                <a:solidFill>
                  <a:srgbClr val="064A71"/>
                </a:solidFill>
                <a:latin typeface="+mn-lt"/>
                <a:cs typeface="Poppins Light"/>
                <a:sym typeface="Poppins Light"/>
              </a:rPr>
              <a:t>Est. curtailment		   304 MWh/yr (26.1%)</a:t>
            </a:r>
          </a:p>
          <a:p>
            <a:pPr marL="79375" lvl="0" defTabSz="517525">
              <a:lnSpc>
                <a:spcPct val="150000"/>
              </a:lnSpc>
              <a:buClr>
                <a:srgbClr val="064A71"/>
              </a:buClr>
              <a:buSzPts val="1600"/>
              <a:tabLst>
                <a:tab pos="2066925" algn="l"/>
              </a:tabLst>
            </a:pPr>
            <a:endParaRPr lang="en-GB" sz="1200" baseline="30000" noProof="0" dirty="0">
              <a:solidFill>
                <a:srgbClr val="064A71"/>
              </a:solidFill>
              <a:latin typeface="+mn-lt"/>
            </a:endParaRPr>
          </a:p>
        </p:txBody>
      </p:sp>
      <p:graphicFrame>
        <p:nvGraphicFramePr>
          <p:cNvPr id="8" name="Chart 1">
            <a:extLst>
              <a:ext uri="{FF2B5EF4-FFF2-40B4-BE49-F238E27FC236}">
                <a16:creationId xmlns:a16="http://schemas.microsoft.com/office/drawing/2014/main" id="{CB996ACB-DF42-0E6C-0FF8-10B9B66B513F}"/>
              </a:ext>
            </a:extLst>
          </p:cNvPr>
          <p:cNvGraphicFramePr>
            <a:graphicFrameLocks/>
          </p:cNvGraphicFramePr>
          <p:nvPr>
            <p:extLst>
              <p:ext uri="{D42A27DB-BD31-4B8C-83A1-F6EECF244321}">
                <p14:modId xmlns:p14="http://schemas.microsoft.com/office/powerpoint/2010/main" val="3872604017"/>
              </p:ext>
            </p:extLst>
          </p:nvPr>
        </p:nvGraphicFramePr>
        <p:xfrm>
          <a:off x="6094800" y="900000"/>
          <a:ext cx="4982400" cy="2718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3">
            <a:extLst>
              <a:ext uri="{FF2B5EF4-FFF2-40B4-BE49-F238E27FC236}">
                <a16:creationId xmlns:a16="http://schemas.microsoft.com/office/drawing/2014/main" id="{1B2F3454-DE8C-E8A0-2CBF-C46D6C9AF877}"/>
              </a:ext>
            </a:extLst>
          </p:cNvPr>
          <p:cNvGraphicFramePr>
            <a:graphicFrameLocks/>
          </p:cNvGraphicFramePr>
          <p:nvPr>
            <p:extLst>
              <p:ext uri="{D42A27DB-BD31-4B8C-83A1-F6EECF244321}">
                <p14:modId xmlns:p14="http://schemas.microsoft.com/office/powerpoint/2010/main" val="3677770559"/>
              </p:ext>
            </p:extLst>
          </p:nvPr>
        </p:nvGraphicFramePr>
        <p:xfrm>
          <a:off x="11023200" y="1137600"/>
          <a:ext cx="1076400" cy="1969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5">
            <a:extLst>
              <a:ext uri="{FF2B5EF4-FFF2-40B4-BE49-F238E27FC236}">
                <a16:creationId xmlns:a16="http://schemas.microsoft.com/office/drawing/2014/main" id="{A0EA1740-C81A-F71C-9819-E26E4E50FFD8}"/>
              </a:ext>
            </a:extLst>
          </p:cNvPr>
          <p:cNvGraphicFramePr>
            <a:graphicFrameLocks/>
          </p:cNvGraphicFramePr>
          <p:nvPr>
            <p:extLst>
              <p:ext uri="{D42A27DB-BD31-4B8C-83A1-F6EECF244321}">
                <p14:modId xmlns:p14="http://schemas.microsoft.com/office/powerpoint/2010/main" val="2628088255"/>
              </p:ext>
            </p:extLst>
          </p:nvPr>
        </p:nvGraphicFramePr>
        <p:xfrm>
          <a:off x="6094800" y="3614400"/>
          <a:ext cx="4928400" cy="26064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6">
            <a:extLst>
              <a:ext uri="{FF2B5EF4-FFF2-40B4-BE49-F238E27FC236}">
                <a16:creationId xmlns:a16="http://schemas.microsoft.com/office/drawing/2014/main" id="{B6886B23-B90D-64EA-084A-8188D360D0BB}"/>
              </a:ext>
            </a:extLst>
          </p:cNvPr>
          <p:cNvGraphicFramePr>
            <a:graphicFrameLocks/>
          </p:cNvGraphicFramePr>
          <p:nvPr>
            <p:extLst>
              <p:ext uri="{D42A27DB-BD31-4B8C-83A1-F6EECF244321}">
                <p14:modId xmlns:p14="http://schemas.microsoft.com/office/powerpoint/2010/main" val="1426285084"/>
              </p:ext>
            </p:extLst>
          </p:nvPr>
        </p:nvGraphicFramePr>
        <p:xfrm>
          <a:off x="10908000" y="3996000"/>
          <a:ext cx="1285200" cy="16596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083612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hape 6">
            <a:extLst>
              <a:ext uri="{FF2B5EF4-FFF2-40B4-BE49-F238E27FC236}">
                <a16:creationId xmlns:a16="http://schemas.microsoft.com/office/drawing/2014/main" id="{3B6EDCAE-D229-6DC3-F26C-296F04CC30ED}"/>
              </a:ext>
            </a:extLst>
          </p:cNvPr>
          <p:cNvSpPr/>
          <p:nvPr/>
        </p:nvSpPr>
        <p:spPr>
          <a:xfrm>
            <a:off x="609600" y="1269889"/>
            <a:ext cx="5701251" cy="5192078"/>
          </a:xfrm>
          <a:prstGeom prst="rect">
            <a:avLst/>
          </a:prstGeom>
          <a:solidFill>
            <a:srgbClr val="F4F7FA"/>
          </a:solidFill>
          <a:ln/>
          <a:effectLst>
            <a:outerShdw blurRad="50800" dist="12700" dir="8100000" algn="bl" rotWithShape="0">
              <a:srgbClr val="000000">
                <a:alpha val="8000"/>
              </a:srgbClr>
            </a:outerShdw>
          </a:effectLst>
        </p:spPr>
        <p:txBody>
          <a:bodyPr/>
          <a:lstStyle/>
          <a:p>
            <a:endParaRPr lang="en-US" sz="1867"/>
          </a:p>
        </p:txBody>
      </p:sp>
      <p:sp>
        <p:nvSpPr>
          <p:cNvPr id="6" name="Text 4"/>
          <p:cNvSpPr/>
          <p:nvPr/>
        </p:nvSpPr>
        <p:spPr>
          <a:xfrm>
            <a:off x="609600" y="548640"/>
            <a:ext cx="8534400" cy="487680"/>
          </a:xfrm>
          <a:prstGeom prst="rect">
            <a:avLst/>
          </a:prstGeom>
          <a:noFill/>
          <a:ln/>
        </p:spPr>
        <p:txBody>
          <a:bodyPr wrap="square" lIns="0" tIns="0" rIns="0" bIns="0" rtlCol="0" anchor="ctr"/>
          <a:lstStyle/>
          <a:p>
            <a:endParaRPr lang="en-US" sz="2933"/>
          </a:p>
        </p:txBody>
      </p:sp>
      <p:sp>
        <p:nvSpPr>
          <p:cNvPr id="7" name="Text 5"/>
          <p:cNvSpPr/>
          <p:nvPr/>
        </p:nvSpPr>
        <p:spPr>
          <a:xfrm>
            <a:off x="609600" y="1076340"/>
            <a:ext cx="9753600" cy="304800"/>
          </a:xfrm>
          <a:prstGeom prst="rect">
            <a:avLst/>
          </a:prstGeom>
          <a:noFill/>
          <a:ln/>
        </p:spPr>
        <p:txBody>
          <a:bodyPr wrap="square" lIns="0" tIns="0" rIns="0" bIns="0" rtlCol="0" anchor="ctr"/>
          <a:lstStyle/>
          <a:p>
            <a:endParaRPr lang="en-US" sz="1333"/>
          </a:p>
        </p:txBody>
      </p:sp>
      <p:sp>
        <p:nvSpPr>
          <p:cNvPr id="8" name="Text 6"/>
          <p:cNvSpPr/>
          <p:nvPr/>
        </p:nvSpPr>
        <p:spPr>
          <a:xfrm>
            <a:off x="-974107" y="2169039"/>
            <a:ext cx="5242560" cy="341376"/>
          </a:xfrm>
          <a:prstGeom prst="rect">
            <a:avLst/>
          </a:prstGeom>
          <a:noFill/>
          <a:ln/>
        </p:spPr>
        <p:txBody>
          <a:bodyPr wrap="square" lIns="0" tIns="0" rIns="0" bIns="0" rtlCol="0" anchor="ctr"/>
          <a:lstStyle/>
          <a:p>
            <a:endParaRPr lang="en-US" sz="1467"/>
          </a:p>
        </p:txBody>
      </p:sp>
      <p:sp>
        <p:nvSpPr>
          <p:cNvPr id="18" name="Title 17">
            <a:extLst>
              <a:ext uri="{FF2B5EF4-FFF2-40B4-BE49-F238E27FC236}">
                <a16:creationId xmlns:a16="http://schemas.microsoft.com/office/drawing/2014/main" id="{3AE61726-1861-6A12-75C0-5A28FBC560DD}"/>
              </a:ext>
            </a:extLst>
          </p:cNvPr>
          <p:cNvSpPr>
            <a:spLocks noGrp="1"/>
          </p:cNvSpPr>
          <p:nvPr>
            <p:ph type="title"/>
          </p:nvPr>
        </p:nvSpPr>
        <p:spPr/>
        <p:txBody>
          <a:bodyPr/>
          <a:lstStyle/>
          <a:p>
            <a:r>
              <a:rPr lang="en-US"/>
              <a:t>Scenario 1: Solution 1 observations</a:t>
            </a:r>
          </a:p>
        </p:txBody>
      </p:sp>
      <p:pic>
        <p:nvPicPr>
          <p:cNvPr id="72" name="Graphic 71">
            <a:extLst>
              <a:ext uri="{FF2B5EF4-FFF2-40B4-BE49-F238E27FC236}">
                <a16:creationId xmlns:a16="http://schemas.microsoft.com/office/drawing/2014/main" id="{68249E42-3A1B-63C9-49DE-C2648B072A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423" y="1604172"/>
            <a:ext cx="195719" cy="195719"/>
          </a:xfrm>
          <a:prstGeom prst="rect">
            <a:avLst/>
          </a:prstGeom>
        </p:spPr>
      </p:pic>
      <p:sp>
        <p:nvSpPr>
          <p:cNvPr id="73" name="TextBox 49">
            <a:extLst>
              <a:ext uri="{FF2B5EF4-FFF2-40B4-BE49-F238E27FC236}">
                <a16:creationId xmlns:a16="http://schemas.microsoft.com/office/drawing/2014/main" id="{F89BC456-D9C1-2F8D-78AB-5E9D4DE20D16}"/>
              </a:ext>
            </a:extLst>
          </p:cNvPr>
          <p:cNvSpPr txBox="1"/>
          <p:nvPr/>
        </p:nvSpPr>
        <p:spPr>
          <a:xfrm>
            <a:off x="922142" y="1564768"/>
            <a:ext cx="5367126" cy="938719"/>
          </a:xfrm>
          <a:prstGeom prst="rect">
            <a:avLst/>
          </a:prstGeom>
          <a:noFill/>
        </p:spPr>
        <p:txBody>
          <a:bodyPr wrap="square">
            <a:spAutoFit/>
          </a:bodyPr>
          <a:lstStyle/>
          <a:p>
            <a:pPr lvl="0" eaLnBrk="0" fontAlgn="base" hangingPunct="0">
              <a:spcBef>
                <a:spcPct val="0"/>
              </a:spcBef>
              <a:spcAft>
                <a:spcPct val="0"/>
              </a:spcAft>
              <a:buClrTx/>
            </a:pPr>
            <a:r>
              <a:rPr lang="en-US" altLang="en-US" sz="1100" b="1" dirty="0">
                <a:solidFill>
                  <a:srgbClr val="FF0000"/>
                </a:solidFill>
                <a:latin typeface="+mn-lt"/>
              </a:rPr>
              <a:t>This solution does not comply. </a:t>
            </a:r>
            <a:r>
              <a:rPr lang="en-US" altLang="en-US" sz="1100" dirty="0">
                <a:solidFill>
                  <a:schemeClr val="tx1">
                    <a:lumMod val="65000"/>
                    <a:lumOff val="35000"/>
                  </a:schemeClr>
                </a:solidFill>
                <a:latin typeface="+mn-lt"/>
              </a:rPr>
              <a:t>During the winter months, the system does not provide sufficient energy to reliably meet operational demand. Furthermore, the system experiences energy overload on 129 days per year, with a maximum overload of 110 kW and a total cumulative overload of 57.3 MWh.</a:t>
            </a:r>
            <a:endParaRPr lang="pl-PL" altLang="en-US" sz="1100" dirty="0">
              <a:solidFill>
                <a:schemeClr val="tx1">
                  <a:lumMod val="65000"/>
                  <a:lumOff val="35000"/>
                </a:schemeClr>
              </a:solidFill>
              <a:latin typeface="+mn-lt"/>
            </a:endParaRPr>
          </a:p>
        </p:txBody>
      </p:sp>
      <p:cxnSp>
        <p:nvCxnSpPr>
          <p:cNvPr id="80" name="Straight Connector 50">
            <a:extLst>
              <a:ext uri="{FF2B5EF4-FFF2-40B4-BE49-F238E27FC236}">
                <a16:creationId xmlns:a16="http://schemas.microsoft.com/office/drawing/2014/main" id="{D2B61CEE-61DC-FA21-2B69-4C9590C97600}"/>
              </a:ext>
            </a:extLst>
          </p:cNvPr>
          <p:cNvCxnSpPr>
            <a:cxnSpLocks/>
          </p:cNvCxnSpPr>
          <p:nvPr/>
        </p:nvCxnSpPr>
        <p:spPr>
          <a:xfrm>
            <a:off x="922142" y="2462575"/>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4" name="Picture 8">
            <a:extLst>
              <a:ext uri="{FF2B5EF4-FFF2-40B4-BE49-F238E27FC236}">
                <a16:creationId xmlns:a16="http://schemas.microsoft.com/office/drawing/2014/main" id="{75D5DC04-55C8-A4C5-37CD-A6F94942EBAD}"/>
              </a:ext>
            </a:extLst>
          </p:cNvPr>
          <p:cNvPicPr>
            <a:picLocks noChangeAspect="1"/>
          </p:cNvPicPr>
          <p:nvPr/>
        </p:nvPicPr>
        <p:blipFill>
          <a:blip r:embed="rId4"/>
          <a:stretch>
            <a:fillRect/>
          </a:stretch>
        </p:blipFill>
        <p:spPr>
          <a:xfrm>
            <a:off x="856727" y="2541303"/>
            <a:ext cx="5367127" cy="611038"/>
          </a:xfrm>
          <a:prstGeom prst="rect">
            <a:avLst/>
          </a:prstGeom>
        </p:spPr>
      </p:pic>
      <p:pic>
        <p:nvPicPr>
          <p:cNvPr id="85" name="Graphic 84">
            <a:extLst>
              <a:ext uri="{FF2B5EF4-FFF2-40B4-BE49-F238E27FC236}">
                <a16:creationId xmlns:a16="http://schemas.microsoft.com/office/drawing/2014/main" id="{0F72E6A3-CE01-55CC-56E4-E2540C7B5A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423" y="3279314"/>
            <a:ext cx="195719" cy="195719"/>
          </a:xfrm>
          <a:prstGeom prst="rect">
            <a:avLst/>
          </a:prstGeom>
        </p:spPr>
      </p:pic>
      <p:sp>
        <p:nvSpPr>
          <p:cNvPr id="86" name="TextBox 49">
            <a:extLst>
              <a:ext uri="{FF2B5EF4-FFF2-40B4-BE49-F238E27FC236}">
                <a16:creationId xmlns:a16="http://schemas.microsoft.com/office/drawing/2014/main" id="{644C713D-0E57-3E5F-46FC-A57E8C85A89F}"/>
              </a:ext>
            </a:extLst>
          </p:cNvPr>
          <p:cNvSpPr txBox="1"/>
          <p:nvPr/>
        </p:nvSpPr>
        <p:spPr>
          <a:xfrm>
            <a:off x="922142" y="3239910"/>
            <a:ext cx="5367126" cy="600164"/>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The 55 kVA connection has limited capacity. If the rated load is exceeded, the fuses may trip and interrupt the connection. It is therefore important to ensure that the load is evenly distributed across all three phases.</a:t>
            </a:r>
          </a:p>
        </p:txBody>
      </p:sp>
      <p:cxnSp>
        <p:nvCxnSpPr>
          <p:cNvPr id="87" name="Straight Connector 50">
            <a:extLst>
              <a:ext uri="{FF2B5EF4-FFF2-40B4-BE49-F238E27FC236}">
                <a16:creationId xmlns:a16="http://schemas.microsoft.com/office/drawing/2014/main" id="{8A8816A3-B5F6-DBA0-BE3F-2097AD8B3A57}"/>
              </a:ext>
            </a:extLst>
          </p:cNvPr>
          <p:cNvCxnSpPr>
            <a:cxnSpLocks/>
          </p:cNvCxnSpPr>
          <p:nvPr/>
        </p:nvCxnSpPr>
        <p:spPr>
          <a:xfrm>
            <a:off x="922142" y="3840074"/>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80E1B21E-9E1F-F1A8-A0D6-DB5E2CAD6D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8006" y="3988309"/>
            <a:ext cx="195719" cy="195719"/>
          </a:xfrm>
          <a:prstGeom prst="rect">
            <a:avLst/>
          </a:prstGeom>
        </p:spPr>
      </p:pic>
      <p:sp>
        <p:nvSpPr>
          <p:cNvPr id="89" name="TextBox 49">
            <a:extLst>
              <a:ext uri="{FF2B5EF4-FFF2-40B4-BE49-F238E27FC236}">
                <a16:creationId xmlns:a16="http://schemas.microsoft.com/office/drawing/2014/main" id="{B080749A-F5A7-81C1-6259-86A399745DDB}"/>
              </a:ext>
            </a:extLst>
          </p:cNvPr>
          <p:cNvSpPr txBox="1"/>
          <p:nvPr/>
        </p:nvSpPr>
        <p:spPr>
          <a:xfrm>
            <a:off x="943725" y="3948905"/>
            <a:ext cx="5367126" cy="769441"/>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If the 55 kVA connection is operated as a grid-forming source, this introduces additional operational risk. Sudden load steps, phase imbalances, or transient events would need to be accommodated within the limited capacity of the connection.</a:t>
            </a:r>
          </a:p>
        </p:txBody>
      </p:sp>
      <p:cxnSp>
        <p:nvCxnSpPr>
          <p:cNvPr id="90" name="Straight Connector 50">
            <a:extLst>
              <a:ext uri="{FF2B5EF4-FFF2-40B4-BE49-F238E27FC236}">
                <a16:creationId xmlns:a16="http://schemas.microsoft.com/office/drawing/2014/main" id="{16BAACDC-899F-75B6-F1F3-9D03D01A0481}"/>
              </a:ext>
            </a:extLst>
          </p:cNvPr>
          <p:cNvCxnSpPr>
            <a:cxnSpLocks/>
          </p:cNvCxnSpPr>
          <p:nvPr/>
        </p:nvCxnSpPr>
        <p:spPr>
          <a:xfrm>
            <a:off x="943725" y="4702970"/>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1" name="Graphic 90">
            <a:extLst>
              <a:ext uri="{FF2B5EF4-FFF2-40B4-BE49-F238E27FC236}">
                <a16:creationId xmlns:a16="http://schemas.microsoft.com/office/drawing/2014/main" id="{62D45A71-517D-7CD3-7A59-6E131BE316E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423" y="4886305"/>
            <a:ext cx="195719" cy="195719"/>
          </a:xfrm>
          <a:prstGeom prst="rect">
            <a:avLst/>
          </a:prstGeom>
        </p:spPr>
      </p:pic>
      <p:sp>
        <p:nvSpPr>
          <p:cNvPr id="92" name="TextBox 49">
            <a:extLst>
              <a:ext uri="{FF2B5EF4-FFF2-40B4-BE49-F238E27FC236}">
                <a16:creationId xmlns:a16="http://schemas.microsoft.com/office/drawing/2014/main" id="{C6461370-AEF6-CD65-40BD-D536F240C7C5}"/>
              </a:ext>
            </a:extLst>
          </p:cNvPr>
          <p:cNvSpPr txBox="1"/>
          <p:nvPr/>
        </p:nvSpPr>
        <p:spPr>
          <a:xfrm>
            <a:off x="922142" y="4846901"/>
            <a:ext cx="5367126" cy="600164"/>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In the event of a grid outage, the 100 kVA generator does not provide sufficient capacity to cover peak load demand. Consequently, it cannot function as an emergency power supply.</a:t>
            </a:r>
          </a:p>
        </p:txBody>
      </p:sp>
      <p:cxnSp>
        <p:nvCxnSpPr>
          <p:cNvPr id="93" name="Straight Connector 50">
            <a:extLst>
              <a:ext uri="{FF2B5EF4-FFF2-40B4-BE49-F238E27FC236}">
                <a16:creationId xmlns:a16="http://schemas.microsoft.com/office/drawing/2014/main" id="{86BEB843-7982-6C0A-0432-1F38D00C8B9D}"/>
              </a:ext>
            </a:extLst>
          </p:cNvPr>
          <p:cNvCxnSpPr>
            <a:cxnSpLocks/>
          </p:cNvCxnSpPr>
          <p:nvPr/>
        </p:nvCxnSpPr>
        <p:spPr>
          <a:xfrm>
            <a:off x="922142" y="5470492"/>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4" name="Rectangle 19">
            <a:extLst>
              <a:ext uri="{FF2B5EF4-FFF2-40B4-BE49-F238E27FC236}">
                <a16:creationId xmlns:a16="http://schemas.microsoft.com/office/drawing/2014/main" id="{BAAD2CA7-8036-5C06-7E3D-39C99881977C}"/>
              </a:ext>
            </a:extLst>
          </p:cNvPr>
          <p:cNvSpPr/>
          <p:nvPr/>
        </p:nvSpPr>
        <p:spPr>
          <a:xfrm>
            <a:off x="6819112" y="882792"/>
            <a:ext cx="3221686"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ea typeface="Calibri" pitchFamily="34" charset="-122"/>
                <a:cs typeface="Calibri" pitchFamily="34" charset="-120"/>
              </a:rPr>
              <a:t>System capacity sizing criteria</a:t>
            </a:r>
            <a:endParaRPr lang="en-US">
              <a:solidFill>
                <a:schemeClr val="bg1"/>
              </a:solidFill>
              <a:latin typeface="+mj-lt"/>
            </a:endParaRPr>
          </a:p>
        </p:txBody>
      </p:sp>
      <p:sp>
        <p:nvSpPr>
          <p:cNvPr id="95" name="Right Triangle 20">
            <a:extLst>
              <a:ext uri="{FF2B5EF4-FFF2-40B4-BE49-F238E27FC236}">
                <a16:creationId xmlns:a16="http://schemas.microsoft.com/office/drawing/2014/main" id="{C30BB527-60D2-C2C7-707E-27424FCB693D}"/>
              </a:ext>
            </a:extLst>
          </p:cNvPr>
          <p:cNvSpPr/>
          <p:nvPr/>
        </p:nvSpPr>
        <p:spPr>
          <a:xfrm flipH="1" flipV="1">
            <a:off x="6819112" y="1269888"/>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kstvak 97">
            <a:extLst>
              <a:ext uri="{FF2B5EF4-FFF2-40B4-BE49-F238E27FC236}">
                <a16:creationId xmlns:a16="http://schemas.microsoft.com/office/drawing/2014/main" id="{BD16587B-773D-EED2-5CF2-B56DB83B88DD}"/>
              </a:ext>
            </a:extLst>
          </p:cNvPr>
          <p:cNvSpPr txBox="1"/>
          <p:nvPr/>
        </p:nvSpPr>
        <p:spPr>
          <a:xfrm>
            <a:off x="7025776" y="1219830"/>
            <a:ext cx="4556624" cy="5170646"/>
          </a:xfrm>
          <a:prstGeom prst="rect">
            <a:avLst/>
          </a:prstGeom>
          <a:noFill/>
          <a:ln>
            <a:solidFill>
              <a:srgbClr val="034C81"/>
            </a:solidFill>
          </a:ln>
        </p:spPr>
        <p:txBody>
          <a:bodyPr wrap="square">
            <a:spAutoFit/>
          </a:bodyPr>
          <a:lstStyle/>
          <a:p>
            <a:endParaRPr lang="en-US" sz="1100" b="1">
              <a:solidFill>
                <a:schemeClr val="tx1">
                  <a:lumMod val="65000"/>
                  <a:lumOff val="35000"/>
                </a:schemeClr>
              </a:solidFill>
              <a:latin typeface="+mn-lt"/>
            </a:endParaRPr>
          </a:p>
          <a:p>
            <a:r>
              <a:rPr lang="en-US" sz="1100" b="1">
                <a:solidFill>
                  <a:schemeClr val="tx1">
                    <a:lumMod val="65000"/>
                    <a:lumOff val="35000"/>
                  </a:schemeClr>
                </a:solidFill>
                <a:latin typeface="+mn-lt"/>
              </a:rPr>
              <a:t>System sizing requirements</a:t>
            </a:r>
          </a:p>
          <a:p>
            <a:r>
              <a:rPr lang="en-US" sz="1100">
                <a:solidFill>
                  <a:schemeClr val="tx1">
                    <a:lumMod val="65000"/>
                    <a:lumOff val="35000"/>
                  </a:schemeClr>
                </a:solidFill>
                <a:latin typeface="+mn-lt"/>
              </a:rPr>
              <a:t>To ensure operational reliability and system resilience, the inverter capacity of the BESS and the generator capacity should be designed to handle at least 120% of the anticipated peak load.</a:t>
            </a:r>
          </a:p>
          <a:p>
            <a:endParaRPr lang="en-US" sz="1100">
              <a:solidFill>
                <a:schemeClr val="tx1">
                  <a:lumMod val="65000"/>
                  <a:lumOff val="35000"/>
                </a:schemeClr>
              </a:solidFill>
              <a:latin typeface="+mn-lt"/>
            </a:endParaRPr>
          </a:p>
          <a:p>
            <a:r>
              <a:rPr lang="en-US" sz="1100">
                <a:solidFill>
                  <a:schemeClr val="tx1">
                    <a:lumMod val="65000"/>
                    <a:lumOff val="35000"/>
                  </a:schemeClr>
                </a:solidFill>
                <a:latin typeface="+mn-lt"/>
              </a:rPr>
              <a:t>This margin is required to:</a:t>
            </a:r>
          </a:p>
          <a:p>
            <a:pPr marL="171450" indent="-171450">
              <a:buFont typeface="Arial" panose="020B0604020202020204" pitchFamily="34" charset="0"/>
              <a:buChar char="•"/>
            </a:pPr>
            <a:r>
              <a:rPr lang="en-US" sz="1100">
                <a:solidFill>
                  <a:schemeClr val="tx1">
                    <a:lumMod val="65000"/>
                    <a:lumOff val="35000"/>
                  </a:schemeClr>
                </a:solidFill>
                <a:latin typeface="+mn-lt"/>
              </a:rPr>
              <a:t>Accommodate short-duration peak demand spikes</a:t>
            </a:r>
          </a:p>
          <a:p>
            <a:pPr marL="171450" indent="-171450">
              <a:buFont typeface="Arial" panose="020B0604020202020204" pitchFamily="34" charset="0"/>
              <a:buChar char="•"/>
            </a:pPr>
            <a:r>
              <a:rPr lang="en-US" sz="1100">
                <a:solidFill>
                  <a:schemeClr val="tx1">
                    <a:lumMod val="65000"/>
                    <a:lumOff val="35000"/>
                  </a:schemeClr>
                </a:solidFill>
                <a:latin typeface="+mn-lt"/>
              </a:rPr>
              <a:t>Prevent overloading of critical system components</a:t>
            </a:r>
          </a:p>
          <a:p>
            <a:pPr marL="171450" indent="-171450">
              <a:buFont typeface="Arial" panose="020B0604020202020204" pitchFamily="34" charset="0"/>
              <a:buChar char="•"/>
            </a:pPr>
            <a:r>
              <a:rPr lang="en-US" sz="1100">
                <a:solidFill>
                  <a:schemeClr val="tx1">
                    <a:lumMod val="65000"/>
                    <a:lumOff val="35000"/>
                  </a:schemeClr>
                </a:solidFill>
                <a:latin typeface="+mn-lt"/>
              </a:rPr>
              <a:t>Maintain voltage and frequency stability</a:t>
            </a:r>
          </a:p>
          <a:p>
            <a:pPr marL="171450" indent="-171450">
              <a:buFont typeface="Arial" panose="020B0604020202020204" pitchFamily="34" charset="0"/>
              <a:buChar char="•"/>
            </a:pPr>
            <a:r>
              <a:rPr lang="en-US" sz="1100">
                <a:solidFill>
                  <a:schemeClr val="tx1">
                    <a:lumMod val="65000"/>
                    <a:lumOff val="35000"/>
                  </a:schemeClr>
                </a:solidFill>
                <a:latin typeface="+mn-lt"/>
              </a:rPr>
              <a:t>Provide operational flexibility under dynamic load conditions</a:t>
            </a:r>
          </a:p>
          <a:p>
            <a:pPr marL="171450" indent="-171450">
              <a:buFont typeface="Arial" panose="020B0604020202020204" pitchFamily="34" charset="0"/>
              <a:buChar char="•"/>
            </a:pPr>
            <a:r>
              <a:rPr lang="en-US" sz="1100">
                <a:solidFill>
                  <a:schemeClr val="tx1">
                    <a:lumMod val="65000"/>
                    <a:lumOff val="35000"/>
                  </a:schemeClr>
                </a:solidFill>
                <a:latin typeface="+mn-lt"/>
              </a:rPr>
              <a:t>Mitigate risks associated with degradation and performance losses over time</a:t>
            </a:r>
          </a:p>
          <a:p>
            <a:endParaRPr lang="en-US" sz="1100">
              <a:solidFill>
                <a:schemeClr val="tx1">
                  <a:lumMod val="65000"/>
                  <a:lumOff val="35000"/>
                </a:schemeClr>
              </a:solidFill>
              <a:latin typeface="+mn-lt"/>
            </a:endParaRPr>
          </a:p>
          <a:p>
            <a:r>
              <a:rPr lang="en-US" sz="1100">
                <a:solidFill>
                  <a:schemeClr val="tx1">
                    <a:lumMod val="65000"/>
                    <a:lumOff val="35000"/>
                  </a:schemeClr>
                </a:solidFill>
                <a:latin typeface="+mn-lt"/>
              </a:rPr>
              <a:t>This requirement is particularly relevant for systems with relatively small grid connections compared to overall consumption and peak load. In such configurations, the available grid capacity provides limited buffering, increasing the importance of sufficient inverter and generator headroom to ensure stable and reliable operation.</a:t>
            </a:r>
          </a:p>
          <a:p>
            <a:endParaRPr lang="en-US" sz="1100">
              <a:solidFill>
                <a:schemeClr val="tx1">
                  <a:lumMod val="65000"/>
                  <a:lumOff val="35000"/>
                </a:schemeClr>
              </a:solidFill>
              <a:latin typeface="+mn-lt"/>
            </a:endParaRPr>
          </a:p>
          <a:p>
            <a:r>
              <a:rPr lang="en-US" sz="1100">
                <a:solidFill>
                  <a:schemeClr val="tx1">
                    <a:lumMod val="65000"/>
                    <a:lumOff val="35000"/>
                  </a:schemeClr>
                </a:solidFill>
                <a:latin typeface="+mn-lt"/>
              </a:rPr>
              <a:t>Designing system capacity at or below the expected peak load introduces significant operational risk, particularly in systems with fluctuating demand profiles or fast-response requirements.</a:t>
            </a:r>
          </a:p>
          <a:p>
            <a:endParaRPr lang="en-US" sz="1100">
              <a:solidFill>
                <a:schemeClr val="tx1">
                  <a:lumMod val="65000"/>
                  <a:lumOff val="35000"/>
                </a:schemeClr>
              </a:solidFill>
              <a:latin typeface="+mn-lt"/>
            </a:endParaRPr>
          </a:p>
          <a:p>
            <a:r>
              <a:rPr lang="en-US" sz="1100">
                <a:solidFill>
                  <a:schemeClr val="tx1">
                    <a:lumMod val="65000"/>
                    <a:lumOff val="35000"/>
                  </a:schemeClr>
                </a:solidFill>
                <a:latin typeface="+mn-lt"/>
              </a:rPr>
              <a:t>Accordingly, a minimum sizing criterion of 120% of peak load should be applied as a baseline engineering standard for future system configurations.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D6332-773E-23C2-F9EA-69420C5DF912}"/>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5DEF0781-ABF8-4A09-A224-6E29B44D3F1F}"/>
              </a:ext>
            </a:extLst>
          </p:cNvPr>
          <p:cNvSpPr/>
          <p:nvPr/>
        </p:nvSpPr>
        <p:spPr>
          <a:xfrm>
            <a:off x="609600" y="548640"/>
            <a:ext cx="8534400" cy="487680"/>
          </a:xfrm>
          <a:prstGeom prst="rect">
            <a:avLst/>
          </a:prstGeom>
          <a:noFill/>
          <a:ln/>
        </p:spPr>
        <p:txBody>
          <a:bodyPr wrap="square" lIns="0" tIns="0" rIns="0" bIns="0" rtlCol="0" anchor="ctr"/>
          <a:lstStyle/>
          <a:p>
            <a:endParaRPr lang="en-US" sz="2933"/>
          </a:p>
        </p:txBody>
      </p:sp>
      <p:sp>
        <p:nvSpPr>
          <p:cNvPr id="18" name="Title 17">
            <a:extLst>
              <a:ext uri="{FF2B5EF4-FFF2-40B4-BE49-F238E27FC236}">
                <a16:creationId xmlns:a16="http://schemas.microsoft.com/office/drawing/2014/main" id="{F48AE247-CE74-5C7A-49BE-8B5549A6512B}"/>
              </a:ext>
            </a:extLst>
          </p:cNvPr>
          <p:cNvSpPr>
            <a:spLocks noGrp="1"/>
          </p:cNvSpPr>
          <p:nvPr>
            <p:ph type="title"/>
          </p:nvPr>
        </p:nvSpPr>
        <p:spPr/>
        <p:txBody>
          <a:bodyPr/>
          <a:lstStyle/>
          <a:p>
            <a:r>
              <a:rPr lang="en-US"/>
              <a:t>Scenario 2: Solution 1 with [X] profile</a:t>
            </a:r>
          </a:p>
        </p:txBody>
      </p:sp>
      <p:sp>
        <p:nvSpPr>
          <p:cNvPr id="2" name="Google Shape;111;p14">
            <a:extLst>
              <a:ext uri="{FF2B5EF4-FFF2-40B4-BE49-F238E27FC236}">
                <a16:creationId xmlns:a16="http://schemas.microsoft.com/office/drawing/2014/main" id="{B28315BA-5C7A-C031-8B11-57008DC928E7}"/>
              </a:ext>
            </a:extLst>
          </p:cNvPr>
          <p:cNvSpPr txBox="1"/>
          <p:nvPr/>
        </p:nvSpPr>
        <p:spPr>
          <a:xfrm>
            <a:off x="609600" y="855369"/>
            <a:ext cx="4703730" cy="5262939"/>
          </a:xfrm>
          <a:prstGeom prst="rect">
            <a:avLst/>
          </a:prstGeom>
          <a:noFill/>
          <a:ln>
            <a:noFill/>
          </a:ln>
        </p:spPr>
        <p:txBody>
          <a:bodyPr spcFirstLastPara="1" wrap="square" lIns="91425" tIns="45700" rIns="91425" bIns="45700" anchor="t" anchorCtr="0">
            <a:spAutoFit/>
          </a:bodyPr>
          <a:lstStyle/>
          <a:p>
            <a:pPr lvl="0">
              <a:lnSpc>
                <a:spcPct val="150000"/>
              </a:lnSpc>
              <a:tabLst>
                <a:tab pos="2874963" algn="l"/>
              </a:tabLst>
            </a:pPr>
            <a:r>
              <a:rPr lang="en-GB" sz="1200" b="1" noProof="0" dirty="0">
                <a:solidFill>
                  <a:srgbClr val="064A71"/>
                </a:solidFill>
                <a:latin typeface="+mn-lt"/>
                <a:ea typeface="Poppins"/>
                <a:cs typeface="Poppins"/>
                <a:sym typeface="Poppins"/>
              </a:rPr>
              <a:t>Technical installation</a:t>
            </a:r>
          </a:p>
          <a:p>
            <a:pPr marL="266700" lvl="2" indent="-187325">
              <a:lnSpc>
                <a:spcPct val="150000"/>
              </a:lnSpc>
              <a:buClr>
                <a:srgbClr val="034C81"/>
              </a:buClr>
              <a:buSzPts val="1600"/>
              <a:buFont typeface="Arial"/>
              <a:buChar char="•"/>
              <a:tabLst>
                <a:tab pos="2874963" algn="l"/>
              </a:tabLst>
            </a:pPr>
            <a:r>
              <a:rPr lang="en-GB" sz="1200" noProof="0" dirty="0">
                <a:solidFill>
                  <a:srgbClr val="064A71"/>
                </a:solidFill>
                <a:latin typeface="+mn-lt"/>
                <a:ea typeface="Poppins Light"/>
                <a:cs typeface="Poppins Light"/>
                <a:sym typeface="Poppins Light"/>
              </a:rPr>
              <a:t>Installed capacity PV(DC) 	1,499 </a:t>
            </a:r>
            <a:r>
              <a:rPr lang="en-GB" sz="1200" noProof="0" dirty="0" err="1">
                <a:solidFill>
                  <a:srgbClr val="064A71"/>
                </a:solidFill>
                <a:latin typeface="+mn-lt"/>
                <a:ea typeface="Poppins Light"/>
                <a:cs typeface="Poppins Light"/>
                <a:sym typeface="Poppins Light"/>
              </a:rPr>
              <a:t>kWp</a:t>
            </a:r>
            <a:endParaRPr lang="en-GB" sz="1200" noProof="0" dirty="0">
              <a:solidFill>
                <a:srgbClr val="064A71"/>
              </a:solidFill>
              <a:latin typeface="+mn-lt"/>
              <a:ea typeface="Poppins Light"/>
              <a:cs typeface="Poppins Light"/>
              <a:sym typeface="Poppins Light"/>
            </a:endParaRPr>
          </a:p>
          <a:p>
            <a:pPr marL="266700" lvl="2" indent="-187325">
              <a:lnSpc>
                <a:spcPct val="150000"/>
              </a:lnSpc>
              <a:buClr>
                <a:srgbClr val="034C81"/>
              </a:buClr>
              <a:buSzPts val="1600"/>
              <a:buFont typeface="Arial"/>
              <a:buChar char="•"/>
              <a:tabLst>
                <a:tab pos="2874963" algn="l"/>
              </a:tabLst>
            </a:pPr>
            <a:r>
              <a:rPr lang="en-GB" sz="1200" noProof="0" dirty="0">
                <a:solidFill>
                  <a:srgbClr val="064A71"/>
                </a:solidFill>
                <a:latin typeface="+mn-lt"/>
                <a:ea typeface="Poppins Light"/>
                <a:cs typeface="Poppins Light"/>
                <a:sym typeface="Poppins Light"/>
              </a:rPr>
              <a:t>Installed capacity PV inverters PV	1,000 </a:t>
            </a:r>
            <a:r>
              <a:rPr lang="en-GB" sz="1200" noProof="0" dirty="0" err="1">
                <a:solidFill>
                  <a:srgbClr val="064A71"/>
                </a:solidFill>
                <a:latin typeface="+mn-lt"/>
                <a:ea typeface="Poppins Light"/>
                <a:cs typeface="Poppins Light"/>
                <a:sym typeface="Poppins Light"/>
              </a:rPr>
              <a:t>kVa</a:t>
            </a:r>
            <a:endParaRPr lang="en-GB" sz="1200" noProof="0" dirty="0">
              <a:solidFill>
                <a:srgbClr val="064A71"/>
              </a:solidFill>
              <a:latin typeface="+mn-lt"/>
              <a:ea typeface="Poppins Light"/>
              <a:cs typeface="Poppins Light"/>
              <a:sym typeface="Poppins Light"/>
            </a:endParaRPr>
          </a:p>
          <a:p>
            <a:pPr marL="266700" lvl="2" indent="-187325">
              <a:lnSpc>
                <a:spcPct val="150000"/>
              </a:lnSpc>
              <a:buClr>
                <a:srgbClr val="034C81"/>
              </a:buClr>
              <a:buSzPts val="1600"/>
              <a:buFont typeface="Arial"/>
              <a:buChar char="•"/>
              <a:tabLst>
                <a:tab pos="2874963" algn="l"/>
              </a:tabLst>
            </a:pPr>
            <a:r>
              <a:rPr lang="en-GB" sz="1200" noProof="0" dirty="0">
                <a:solidFill>
                  <a:srgbClr val="064A71"/>
                </a:solidFill>
                <a:latin typeface="+mn-lt"/>
                <a:ea typeface="Poppins Light"/>
                <a:cs typeface="Poppins Light"/>
                <a:sym typeface="Poppins Light"/>
              </a:rPr>
              <a:t>Installed capacity BESS	1,000 kW / 2,330 kWh</a:t>
            </a:r>
          </a:p>
          <a:p>
            <a:pPr marL="266700" lvl="2" indent="-187325">
              <a:lnSpc>
                <a:spcPct val="150000"/>
              </a:lnSpc>
              <a:buClr>
                <a:srgbClr val="034C81"/>
              </a:buClr>
              <a:buSzPts val="1600"/>
              <a:buFont typeface="Arial"/>
              <a:buChar char="•"/>
              <a:tabLst>
                <a:tab pos="2874963" algn="l"/>
              </a:tabLst>
            </a:pPr>
            <a:r>
              <a:rPr lang="en-GB" sz="1200" noProof="0" dirty="0">
                <a:solidFill>
                  <a:srgbClr val="064A71"/>
                </a:solidFill>
                <a:latin typeface="+mn-lt"/>
                <a:ea typeface="Poppins Light"/>
                <a:cs typeface="Poppins Light"/>
                <a:sym typeface="Poppins Light"/>
              </a:rPr>
              <a:t>Installed capacity generator	500 </a:t>
            </a:r>
            <a:r>
              <a:rPr lang="en-GB" sz="1200" noProof="0" dirty="0" err="1">
                <a:solidFill>
                  <a:srgbClr val="064A71"/>
                </a:solidFill>
                <a:latin typeface="+mn-lt"/>
                <a:ea typeface="Poppins Light"/>
                <a:cs typeface="Poppins Light"/>
                <a:sym typeface="Poppins Light"/>
              </a:rPr>
              <a:t>kVa</a:t>
            </a:r>
            <a:endParaRPr lang="en-GB" sz="1200" noProof="0" dirty="0">
              <a:solidFill>
                <a:srgbClr val="064A71"/>
              </a:solidFill>
              <a:latin typeface="+mn-lt"/>
              <a:ea typeface="Poppins Light"/>
              <a:cs typeface="Poppins Light"/>
              <a:sym typeface="Poppins Light"/>
            </a:endParaRPr>
          </a:p>
          <a:p>
            <a:pPr marL="79375" lvl="2">
              <a:lnSpc>
                <a:spcPct val="150000"/>
              </a:lnSpc>
              <a:buClr>
                <a:srgbClr val="034C81"/>
              </a:buClr>
              <a:buSzPts val="1600"/>
              <a:tabLst>
                <a:tab pos="2874963" algn="l"/>
              </a:tabLst>
            </a:pPr>
            <a:endParaRPr lang="en-GB" sz="1200" noProof="0" dirty="0">
              <a:solidFill>
                <a:srgbClr val="064A71"/>
              </a:solidFill>
              <a:latin typeface="+mn-lt"/>
              <a:ea typeface="Poppins Light"/>
              <a:cs typeface="Poppins Light"/>
              <a:sym typeface="Poppins Light"/>
            </a:endParaRPr>
          </a:p>
          <a:p>
            <a:pPr lvl="0">
              <a:lnSpc>
                <a:spcPct val="150000"/>
              </a:lnSpc>
              <a:tabLst>
                <a:tab pos="2874963" algn="l"/>
              </a:tabLst>
            </a:pPr>
            <a:r>
              <a:rPr lang="en-GB" sz="1200" b="1" noProof="0" dirty="0">
                <a:solidFill>
                  <a:srgbClr val="064A71"/>
                </a:solidFill>
                <a:latin typeface="+mn-lt"/>
                <a:ea typeface="Poppins"/>
                <a:cs typeface="Poppins"/>
                <a:sym typeface="Poppins"/>
              </a:rPr>
              <a:t>Consumption</a:t>
            </a:r>
          </a:p>
          <a:p>
            <a:pPr marL="266700" lvl="0" indent="-187325">
              <a:lnSpc>
                <a:spcPct val="150000"/>
              </a:lnSpc>
              <a:buClr>
                <a:srgbClr val="034C81"/>
              </a:buClr>
              <a:buSzPts val="1600"/>
              <a:buFont typeface="Poppins Light"/>
              <a:buChar char="•"/>
              <a:tabLst>
                <a:tab pos="2874963" algn="l"/>
              </a:tabLst>
            </a:pPr>
            <a:r>
              <a:rPr lang="en-GB" sz="1200" noProof="0" dirty="0">
                <a:solidFill>
                  <a:srgbClr val="064A71"/>
                </a:solidFill>
                <a:latin typeface="+mn-lt"/>
                <a:ea typeface="Poppins Light"/>
                <a:cs typeface="Poppins Light"/>
                <a:sym typeface="Poppins Light"/>
              </a:rPr>
              <a:t>Total use	1,325 MWh/yr</a:t>
            </a:r>
          </a:p>
          <a:p>
            <a:pPr marL="266700" lvl="0" indent="-187325">
              <a:lnSpc>
                <a:spcPct val="150000"/>
              </a:lnSpc>
              <a:buClr>
                <a:srgbClr val="034C81"/>
              </a:buClr>
              <a:buSzPts val="1600"/>
              <a:buFont typeface="Poppins Light"/>
              <a:buChar char="•"/>
              <a:tabLst>
                <a:tab pos="2874963" algn="l"/>
              </a:tabLst>
            </a:pPr>
            <a:r>
              <a:rPr lang="en-GB" sz="1200" noProof="0" dirty="0">
                <a:solidFill>
                  <a:srgbClr val="064A71"/>
                </a:solidFill>
                <a:latin typeface="+mn-lt"/>
                <a:ea typeface="Poppins Light"/>
                <a:cs typeface="Poppins Light"/>
                <a:sym typeface="Poppins Light"/>
              </a:rPr>
              <a:t>Est. grid use	247 MWh/yr (18.6%)</a:t>
            </a:r>
          </a:p>
          <a:p>
            <a:pPr marL="266700" indent="-187325">
              <a:lnSpc>
                <a:spcPct val="150000"/>
              </a:lnSpc>
              <a:buClr>
                <a:srgbClr val="034C81"/>
              </a:buClr>
              <a:buSzPts val="1600"/>
              <a:buFont typeface="Poppins Light"/>
              <a:buChar char="•"/>
              <a:tabLst>
                <a:tab pos="2874963" algn="l"/>
              </a:tabLst>
            </a:pPr>
            <a:r>
              <a:rPr lang="en-GB" sz="1200" noProof="0" dirty="0">
                <a:solidFill>
                  <a:srgbClr val="064A71"/>
                </a:solidFill>
                <a:latin typeface="+mn-lt"/>
                <a:ea typeface="Poppins Light"/>
                <a:cs typeface="Poppins Light"/>
                <a:sym typeface="Poppins Light"/>
              </a:rPr>
              <a:t>Est PV use 	535 MWh/yr (40.4%)</a:t>
            </a:r>
          </a:p>
          <a:p>
            <a:pPr marL="266700" lvl="0" indent="-187325">
              <a:lnSpc>
                <a:spcPct val="150000"/>
              </a:lnSpc>
              <a:buClr>
                <a:srgbClr val="034C81"/>
              </a:buClr>
              <a:buSzPts val="1600"/>
              <a:buFont typeface="Poppins Light"/>
              <a:buChar char="•"/>
              <a:tabLst>
                <a:tab pos="2874963" algn="l"/>
              </a:tabLst>
            </a:pPr>
            <a:r>
              <a:rPr lang="en-GB" sz="1200" noProof="0" dirty="0">
                <a:solidFill>
                  <a:srgbClr val="064A71"/>
                </a:solidFill>
                <a:latin typeface="+mn-lt"/>
                <a:ea typeface="Poppins Light"/>
                <a:cs typeface="Poppins Light"/>
                <a:sym typeface="Poppins Light"/>
              </a:rPr>
              <a:t>Est. BESS use	301 MWh/yr (22.7%)</a:t>
            </a:r>
          </a:p>
          <a:p>
            <a:pPr marL="266700" lvl="0" indent="-187325">
              <a:lnSpc>
                <a:spcPct val="150000"/>
              </a:lnSpc>
              <a:buClr>
                <a:srgbClr val="034C81"/>
              </a:buClr>
              <a:buSzPts val="1600"/>
              <a:buFont typeface="Poppins Light"/>
              <a:buChar char="•"/>
              <a:tabLst>
                <a:tab pos="2874963" algn="l"/>
              </a:tabLst>
            </a:pPr>
            <a:r>
              <a:rPr lang="en-GB" sz="1200" noProof="0" dirty="0">
                <a:solidFill>
                  <a:srgbClr val="064A71"/>
                </a:solidFill>
                <a:latin typeface="+mn-lt"/>
                <a:ea typeface="Poppins Light"/>
                <a:cs typeface="Poppins Light"/>
                <a:sym typeface="Poppins Light"/>
              </a:rPr>
              <a:t>Est. generator use 	242 MWh/yr (18.3%)</a:t>
            </a:r>
            <a:endParaRPr lang="en-GB" sz="1200" b="1" noProof="0" dirty="0">
              <a:solidFill>
                <a:srgbClr val="064A71"/>
              </a:solidFill>
              <a:latin typeface="+mn-lt"/>
              <a:ea typeface="Poppins Light"/>
              <a:cs typeface="Poppins"/>
              <a:sym typeface="Poppins"/>
            </a:endParaRPr>
          </a:p>
          <a:p>
            <a:pPr marL="79375" lvl="0">
              <a:lnSpc>
                <a:spcPct val="150000"/>
              </a:lnSpc>
              <a:buClr>
                <a:srgbClr val="034C81"/>
              </a:buClr>
              <a:buSzPts val="1600"/>
              <a:tabLst>
                <a:tab pos="2874963" algn="l"/>
              </a:tabLst>
            </a:pPr>
            <a:endParaRPr lang="en-GB" sz="1200" b="1" noProof="0" dirty="0">
              <a:solidFill>
                <a:srgbClr val="064A71"/>
              </a:solidFill>
              <a:latin typeface="+mn-lt"/>
              <a:cs typeface="Poppins"/>
              <a:sym typeface="Poppins Light"/>
            </a:endParaRPr>
          </a:p>
          <a:p>
            <a:pPr marL="79375" lvl="0">
              <a:lnSpc>
                <a:spcPct val="150000"/>
              </a:lnSpc>
              <a:buClr>
                <a:srgbClr val="034C81"/>
              </a:buClr>
              <a:buSzPts val="1600"/>
              <a:tabLst>
                <a:tab pos="2874963" algn="l"/>
              </a:tabLst>
            </a:pPr>
            <a:r>
              <a:rPr lang="en-GB" sz="1200" b="1" noProof="0" dirty="0">
                <a:solidFill>
                  <a:srgbClr val="064A71"/>
                </a:solidFill>
                <a:latin typeface="+mn-lt"/>
                <a:cs typeface="Poppins"/>
                <a:sym typeface="Poppins Light"/>
              </a:rPr>
              <a:t>Production</a:t>
            </a:r>
          </a:p>
          <a:p>
            <a:pPr marL="266700" lvl="0" indent="-187325">
              <a:lnSpc>
                <a:spcPct val="150000"/>
              </a:lnSpc>
              <a:buClr>
                <a:srgbClr val="034C81"/>
              </a:buClr>
              <a:buSzPts val="1600"/>
              <a:buFont typeface="Poppins Light"/>
              <a:buChar char="•"/>
              <a:tabLst>
                <a:tab pos="2874963" algn="l"/>
              </a:tabLst>
            </a:pPr>
            <a:r>
              <a:rPr lang="en-GB" sz="1200" noProof="0" dirty="0">
                <a:solidFill>
                  <a:srgbClr val="064A71"/>
                </a:solidFill>
                <a:latin typeface="+mn-lt"/>
                <a:ea typeface="Poppins Light"/>
                <a:cs typeface="Poppins Light"/>
                <a:sym typeface="Poppins Light"/>
              </a:rPr>
              <a:t>Est. production solar PV	1,092 MWh/yr</a:t>
            </a:r>
          </a:p>
          <a:p>
            <a:pPr marL="266700" lvl="0" indent="-187325">
              <a:lnSpc>
                <a:spcPct val="150000"/>
              </a:lnSpc>
              <a:buClr>
                <a:srgbClr val="034C81"/>
              </a:buClr>
              <a:buSzPts val="1600"/>
              <a:buFont typeface="Poppins Light"/>
              <a:buChar char="•"/>
              <a:tabLst>
                <a:tab pos="2874963" algn="l"/>
              </a:tabLst>
            </a:pPr>
            <a:r>
              <a:rPr lang="en-GB" sz="1200" noProof="0" dirty="0">
                <a:solidFill>
                  <a:srgbClr val="064A71"/>
                </a:solidFill>
                <a:latin typeface="+mn-lt"/>
                <a:ea typeface="Poppins Light"/>
                <a:cs typeface="Poppins Light"/>
                <a:sym typeface="Poppins Light"/>
              </a:rPr>
              <a:t>Est. local use of solar PV	536 MWh/yr (49.5%)</a:t>
            </a:r>
          </a:p>
          <a:p>
            <a:pPr marL="266700" lvl="0" indent="-187325">
              <a:lnSpc>
                <a:spcPct val="150000"/>
              </a:lnSpc>
              <a:buClr>
                <a:srgbClr val="034C81"/>
              </a:buClr>
              <a:buSzPts val="1600"/>
              <a:buFont typeface="Poppins Light"/>
              <a:buChar char="•"/>
              <a:tabLst>
                <a:tab pos="2874963" algn="l"/>
              </a:tabLst>
            </a:pPr>
            <a:r>
              <a:rPr lang="en-GB" sz="1200" noProof="0" dirty="0">
                <a:solidFill>
                  <a:srgbClr val="064A71"/>
                </a:solidFill>
                <a:latin typeface="+mn-lt"/>
                <a:ea typeface="Poppins Light"/>
                <a:cs typeface="Poppins Light"/>
                <a:sym typeface="Poppins Light"/>
              </a:rPr>
              <a:t>Est stored in BESS	301 MWh/yr (27.8%)</a:t>
            </a:r>
          </a:p>
          <a:p>
            <a:pPr marL="266700" lvl="0" indent="-187325">
              <a:lnSpc>
                <a:spcPct val="150000"/>
              </a:lnSpc>
              <a:buClr>
                <a:srgbClr val="034C81"/>
              </a:buClr>
              <a:buSzPts val="1600"/>
              <a:buFont typeface="Poppins Light"/>
              <a:buChar char="•"/>
              <a:tabLst>
                <a:tab pos="2874963" algn="l"/>
              </a:tabLst>
            </a:pPr>
            <a:r>
              <a:rPr lang="en-GB" sz="1200" noProof="0" dirty="0">
                <a:solidFill>
                  <a:srgbClr val="064A71"/>
                </a:solidFill>
                <a:latin typeface="+mn-lt"/>
                <a:ea typeface="Poppins Light"/>
                <a:cs typeface="Poppins Light"/>
                <a:sym typeface="Poppins Light"/>
              </a:rPr>
              <a:t>Est. curtailment	245 MWh/yr (22.6%)</a:t>
            </a:r>
          </a:p>
        </p:txBody>
      </p:sp>
      <p:graphicFrame>
        <p:nvGraphicFramePr>
          <p:cNvPr id="3" name="Chart 4">
            <a:extLst>
              <a:ext uri="{FF2B5EF4-FFF2-40B4-BE49-F238E27FC236}">
                <a16:creationId xmlns:a16="http://schemas.microsoft.com/office/drawing/2014/main" id="{80470E98-4F43-C6FB-1312-C14850C061FA}"/>
              </a:ext>
            </a:extLst>
          </p:cNvPr>
          <p:cNvGraphicFramePr>
            <a:graphicFrameLocks/>
          </p:cNvGraphicFramePr>
          <p:nvPr>
            <p:extLst>
              <p:ext uri="{D42A27DB-BD31-4B8C-83A1-F6EECF244321}">
                <p14:modId xmlns:p14="http://schemas.microsoft.com/office/powerpoint/2010/main" val="2530472859"/>
              </p:ext>
            </p:extLst>
          </p:nvPr>
        </p:nvGraphicFramePr>
        <p:xfrm>
          <a:off x="6096000" y="899125"/>
          <a:ext cx="4983678" cy="271652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7">
            <a:extLst>
              <a:ext uri="{FF2B5EF4-FFF2-40B4-BE49-F238E27FC236}">
                <a16:creationId xmlns:a16="http://schemas.microsoft.com/office/drawing/2014/main" id="{E771A3B6-321C-AB42-B3DC-294FDD248C07}"/>
              </a:ext>
            </a:extLst>
          </p:cNvPr>
          <p:cNvGraphicFramePr>
            <a:graphicFrameLocks/>
          </p:cNvGraphicFramePr>
          <p:nvPr>
            <p:extLst>
              <p:ext uri="{D42A27DB-BD31-4B8C-83A1-F6EECF244321}">
                <p14:modId xmlns:p14="http://schemas.microsoft.com/office/powerpoint/2010/main" val="2761599839"/>
              </p:ext>
            </p:extLst>
          </p:nvPr>
        </p:nvGraphicFramePr>
        <p:xfrm>
          <a:off x="11024419" y="1135925"/>
          <a:ext cx="1076633" cy="196947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8">
            <a:extLst>
              <a:ext uri="{FF2B5EF4-FFF2-40B4-BE49-F238E27FC236}">
                <a16:creationId xmlns:a16="http://schemas.microsoft.com/office/drawing/2014/main" id="{4F5ADE66-ACC4-6A33-B4F0-AEFB08F550F7}"/>
              </a:ext>
            </a:extLst>
          </p:cNvPr>
          <p:cNvGraphicFramePr>
            <a:graphicFrameLocks/>
          </p:cNvGraphicFramePr>
          <p:nvPr>
            <p:extLst>
              <p:ext uri="{D42A27DB-BD31-4B8C-83A1-F6EECF244321}">
                <p14:modId xmlns:p14="http://schemas.microsoft.com/office/powerpoint/2010/main" val="4243156149"/>
              </p:ext>
            </p:extLst>
          </p:nvPr>
        </p:nvGraphicFramePr>
        <p:xfrm>
          <a:off x="6095999" y="3615645"/>
          <a:ext cx="4928419" cy="260817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Chart 9">
            <a:extLst>
              <a:ext uri="{FF2B5EF4-FFF2-40B4-BE49-F238E27FC236}">
                <a16:creationId xmlns:a16="http://schemas.microsoft.com/office/drawing/2014/main" id="{B73F0815-F4ED-433A-7369-D545D56DFAA7}"/>
              </a:ext>
            </a:extLst>
          </p:cNvPr>
          <p:cNvGraphicFramePr>
            <a:graphicFrameLocks/>
          </p:cNvGraphicFramePr>
          <p:nvPr>
            <p:extLst>
              <p:ext uri="{D42A27DB-BD31-4B8C-83A1-F6EECF244321}">
                <p14:modId xmlns:p14="http://schemas.microsoft.com/office/powerpoint/2010/main" val="3228980912"/>
              </p:ext>
            </p:extLst>
          </p:nvPr>
        </p:nvGraphicFramePr>
        <p:xfrm>
          <a:off x="10906432" y="3996813"/>
          <a:ext cx="1285567" cy="1659193"/>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427415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AB2B7-1C7A-4E78-B6C8-6376D24216B4}"/>
            </a:ext>
          </a:extLst>
        </p:cNvPr>
        <p:cNvGrpSpPr/>
        <p:nvPr/>
      </p:nvGrpSpPr>
      <p:grpSpPr>
        <a:xfrm>
          <a:off x="0" y="0"/>
          <a:ext cx="0" cy="0"/>
          <a:chOff x="0" y="0"/>
          <a:chExt cx="0" cy="0"/>
        </a:xfrm>
      </p:grpSpPr>
      <p:sp>
        <p:nvSpPr>
          <p:cNvPr id="70" name="Shape 6">
            <a:extLst>
              <a:ext uri="{FF2B5EF4-FFF2-40B4-BE49-F238E27FC236}">
                <a16:creationId xmlns:a16="http://schemas.microsoft.com/office/drawing/2014/main" id="{CC070F3D-396C-9581-3D8B-B4844C8D2B58}"/>
              </a:ext>
            </a:extLst>
          </p:cNvPr>
          <p:cNvSpPr/>
          <p:nvPr/>
        </p:nvSpPr>
        <p:spPr>
          <a:xfrm>
            <a:off x="609600" y="1269889"/>
            <a:ext cx="5701251" cy="5192078"/>
          </a:xfrm>
          <a:prstGeom prst="rect">
            <a:avLst/>
          </a:prstGeom>
          <a:solidFill>
            <a:srgbClr val="F4F7FA"/>
          </a:solidFill>
          <a:ln/>
          <a:effectLst>
            <a:outerShdw blurRad="50800" dist="12700" dir="8100000" algn="bl" rotWithShape="0">
              <a:srgbClr val="000000">
                <a:alpha val="8000"/>
              </a:srgbClr>
            </a:outerShdw>
          </a:effectLst>
        </p:spPr>
        <p:txBody>
          <a:bodyPr/>
          <a:lstStyle/>
          <a:p>
            <a:endParaRPr lang="en-US" sz="1867"/>
          </a:p>
        </p:txBody>
      </p:sp>
      <p:sp>
        <p:nvSpPr>
          <p:cNvPr id="6" name="Text 4">
            <a:extLst>
              <a:ext uri="{FF2B5EF4-FFF2-40B4-BE49-F238E27FC236}">
                <a16:creationId xmlns:a16="http://schemas.microsoft.com/office/drawing/2014/main" id="{92DA628A-7545-D32B-E118-296474895012}"/>
              </a:ext>
            </a:extLst>
          </p:cNvPr>
          <p:cNvSpPr/>
          <p:nvPr/>
        </p:nvSpPr>
        <p:spPr>
          <a:xfrm>
            <a:off x="609600" y="548640"/>
            <a:ext cx="8534400" cy="487680"/>
          </a:xfrm>
          <a:prstGeom prst="rect">
            <a:avLst/>
          </a:prstGeom>
          <a:noFill/>
          <a:ln/>
        </p:spPr>
        <p:txBody>
          <a:bodyPr wrap="square" lIns="0" tIns="0" rIns="0" bIns="0" rtlCol="0" anchor="ctr"/>
          <a:lstStyle/>
          <a:p>
            <a:endParaRPr lang="en-US" sz="2933"/>
          </a:p>
        </p:txBody>
      </p:sp>
      <p:sp>
        <p:nvSpPr>
          <p:cNvPr id="7" name="Text 5">
            <a:extLst>
              <a:ext uri="{FF2B5EF4-FFF2-40B4-BE49-F238E27FC236}">
                <a16:creationId xmlns:a16="http://schemas.microsoft.com/office/drawing/2014/main" id="{5B14CEE6-149C-8ACC-3941-D31B81853294}"/>
              </a:ext>
            </a:extLst>
          </p:cNvPr>
          <p:cNvSpPr/>
          <p:nvPr/>
        </p:nvSpPr>
        <p:spPr>
          <a:xfrm>
            <a:off x="609600" y="1076340"/>
            <a:ext cx="9753600" cy="304800"/>
          </a:xfrm>
          <a:prstGeom prst="rect">
            <a:avLst/>
          </a:prstGeom>
          <a:noFill/>
          <a:ln/>
        </p:spPr>
        <p:txBody>
          <a:bodyPr wrap="square" lIns="0" tIns="0" rIns="0" bIns="0" rtlCol="0" anchor="ctr"/>
          <a:lstStyle/>
          <a:p>
            <a:endParaRPr lang="en-US" sz="1333"/>
          </a:p>
        </p:txBody>
      </p:sp>
      <p:sp>
        <p:nvSpPr>
          <p:cNvPr id="8" name="Text 6">
            <a:extLst>
              <a:ext uri="{FF2B5EF4-FFF2-40B4-BE49-F238E27FC236}">
                <a16:creationId xmlns:a16="http://schemas.microsoft.com/office/drawing/2014/main" id="{91C647F9-33EB-5878-6905-4A95357378F4}"/>
              </a:ext>
            </a:extLst>
          </p:cNvPr>
          <p:cNvSpPr/>
          <p:nvPr/>
        </p:nvSpPr>
        <p:spPr>
          <a:xfrm>
            <a:off x="-974107" y="2169039"/>
            <a:ext cx="5242560" cy="341376"/>
          </a:xfrm>
          <a:prstGeom prst="rect">
            <a:avLst/>
          </a:prstGeom>
          <a:noFill/>
          <a:ln/>
        </p:spPr>
        <p:txBody>
          <a:bodyPr wrap="square" lIns="0" tIns="0" rIns="0" bIns="0" rtlCol="0" anchor="ctr"/>
          <a:lstStyle/>
          <a:p>
            <a:endParaRPr lang="en-US" sz="1467"/>
          </a:p>
        </p:txBody>
      </p:sp>
      <p:sp>
        <p:nvSpPr>
          <p:cNvPr id="18" name="Title 17">
            <a:extLst>
              <a:ext uri="{FF2B5EF4-FFF2-40B4-BE49-F238E27FC236}">
                <a16:creationId xmlns:a16="http://schemas.microsoft.com/office/drawing/2014/main" id="{929E106D-72A1-9D47-D7DE-AC1222E41C7C}"/>
              </a:ext>
            </a:extLst>
          </p:cNvPr>
          <p:cNvSpPr>
            <a:spLocks noGrp="1"/>
          </p:cNvSpPr>
          <p:nvPr>
            <p:ph type="title"/>
          </p:nvPr>
        </p:nvSpPr>
        <p:spPr/>
        <p:txBody>
          <a:bodyPr/>
          <a:lstStyle/>
          <a:p>
            <a:r>
              <a:rPr lang="en-US"/>
              <a:t>Scenario 2: Solution 2 observations</a:t>
            </a:r>
          </a:p>
        </p:txBody>
      </p:sp>
      <p:pic>
        <p:nvPicPr>
          <p:cNvPr id="72" name="Graphic 71">
            <a:extLst>
              <a:ext uri="{FF2B5EF4-FFF2-40B4-BE49-F238E27FC236}">
                <a16:creationId xmlns:a16="http://schemas.microsoft.com/office/drawing/2014/main" id="{43512133-243B-4A55-661A-6A01FF2625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423" y="1604172"/>
            <a:ext cx="195719" cy="195719"/>
          </a:xfrm>
          <a:prstGeom prst="rect">
            <a:avLst/>
          </a:prstGeom>
        </p:spPr>
      </p:pic>
      <p:sp>
        <p:nvSpPr>
          <p:cNvPr id="73" name="TextBox 49">
            <a:extLst>
              <a:ext uri="{FF2B5EF4-FFF2-40B4-BE49-F238E27FC236}">
                <a16:creationId xmlns:a16="http://schemas.microsoft.com/office/drawing/2014/main" id="{7C230A34-BC9E-8764-1ED6-52334A2B720B}"/>
              </a:ext>
            </a:extLst>
          </p:cNvPr>
          <p:cNvSpPr txBox="1"/>
          <p:nvPr/>
        </p:nvSpPr>
        <p:spPr>
          <a:xfrm>
            <a:off x="922142" y="1564768"/>
            <a:ext cx="5367126" cy="600164"/>
          </a:xfrm>
          <a:prstGeom prst="rect">
            <a:avLst/>
          </a:prstGeom>
          <a:noFill/>
        </p:spPr>
        <p:txBody>
          <a:bodyPr wrap="square">
            <a:spAutoFit/>
          </a:bodyPr>
          <a:lstStyle/>
          <a:p>
            <a:pPr lvl="0" eaLnBrk="0" fontAlgn="base" hangingPunct="0">
              <a:spcBef>
                <a:spcPct val="0"/>
              </a:spcBef>
              <a:spcAft>
                <a:spcPct val="0"/>
              </a:spcAft>
              <a:buClrTx/>
            </a:pPr>
            <a:r>
              <a:rPr lang="en-US" altLang="en-US" sz="1100" b="1" dirty="0">
                <a:solidFill>
                  <a:srgbClr val="00B050"/>
                </a:solidFill>
                <a:latin typeface="+mn-lt"/>
              </a:rPr>
              <a:t>This solution meets the requirements</a:t>
            </a:r>
            <a:r>
              <a:rPr lang="en-US" altLang="en-US" sz="1100" dirty="0">
                <a:solidFill>
                  <a:schemeClr val="tx1">
                    <a:lumMod val="65000"/>
                    <a:lumOff val="35000"/>
                  </a:schemeClr>
                </a:solidFill>
                <a:latin typeface="+mn-lt"/>
              </a:rPr>
              <a:t>, as sufficient energy is available during the winter months to reliably meet the operational power requirements.</a:t>
            </a:r>
          </a:p>
        </p:txBody>
      </p:sp>
      <p:cxnSp>
        <p:nvCxnSpPr>
          <p:cNvPr id="80" name="Straight Connector 50">
            <a:extLst>
              <a:ext uri="{FF2B5EF4-FFF2-40B4-BE49-F238E27FC236}">
                <a16:creationId xmlns:a16="http://schemas.microsoft.com/office/drawing/2014/main" id="{FE3E1F56-4734-08D3-4FFA-1F9558BB19D3}"/>
              </a:ext>
            </a:extLst>
          </p:cNvPr>
          <p:cNvCxnSpPr>
            <a:cxnSpLocks/>
          </p:cNvCxnSpPr>
          <p:nvPr/>
        </p:nvCxnSpPr>
        <p:spPr>
          <a:xfrm>
            <a:off x="943725" y="2189521"/>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5" name="Graphic 84">
            <a:extLst>
              <a:ext uri="{FF2B5EF4-FFF2-40B4-BE49-F238E27FC236}">
                <a16:creationId xmlns:a16="http://schemas.microsoft.com/office/drawing/2014/main" id="{CE452174-7AEF-EA83-894D-8FE53AE46F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423" y="2327112"/>
            <a:ext cx="195719" cy="195719"/>
          </a:xfrm>
          <a:prstGeom prst="rect">
            <a:avLst/>
          </a:prstGeom>
        </p:spPr>
      </p:pic>
      <p:sp>
        <p:nvSpPr>
          <p:cNvPr id="86" name="TextBox 49">
            <a:extLst>
              <a:ext uri="{FF2B5EF4-FFF2-40B4-BE49-F238E27FC236}">
                <a16:creationId xmlns:a16="http://schemas.microsoft.com/office/drawing/2014/main" id="{20A22560-870E-EF5D-11BF-4A4676F928CC}"/>
              </a:ext>
            </a:extLst>
          </p:cNvPr>
          <p:cNvSpPr txBox="1"/>
          <p:nvPr/>
        </p:nvSpPr>
        <p:spPr>
          <a:xfrm>
            <a:off x="922142" y="2287708"/>
            <a:ext cx="5367126" cy="600164"/>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The 55 kVA connection has limited capacity. If the rated load is exceeded, the fuses may trip and interrupt the connection. It is therefore important to ensure that the load is evenly distributed across all three phases..</a:t>
            </a:r>
          </a:p>
        </p:txBody>
      </p:sp>
      <p:cxnSp>
        <p:nvCxnSpPr>
          <p:cNvPr id="87" name="Straight Connector 50">
            <a:extLst>
              <a:ext uri="{FF2B5EF4-FFF2-40B4-BE49-F238E27FC236}">
                <a16:creationId xmlns:a16="http://schemas.microsoft.com/office/drawing/2014/main" id="{EF4D48C9-49EE-A4F8-D0EF-6898DDB0C57F}"/>
              </a:ext>
            </a:extLst>
          </p:cNvPr>
          <p:cNvCxnSpPr>
            <a:cxnSpLocks/>
          </p:cNvCxnSpPr>
          <p:nvPr/>
        </p:nvCxnSpPr>
        <p:spPr>
          <a:xfrm>
            <a:off x="922142" y="2887872"/>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191E311C-1466-628F-4CA8-1AC3D949EA1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8006" y="3036107"/>
            <a:ext cx="195719" cy="195719"/>
          </a:xfrm>
          <a:prstGeom prst="rect">
            <a:avLst/>
          </a:prstGeom>
        </p:spPr>
      </p:pic>
      <p:sp>
        <p:nvSpPr>
          <p:cNvPr id="89" name="TextBox 49">
            <a:extLst>
              <a:ext uri="{FF2B5EF4-FFF2-40B4-BE49-F238E27FC236}">
                <a16:creationId xmlns:a16="http://schemas.microsoft.com/office/drawing/2014/main" id="{3CD6AB4D-4E6D-D5F5-D250-5E068221C1EE}"/>
              </a:ext>
            </a:extLst>
          </p:cNvPr>
          <p:cNvSpPr txBox="1"/>
          <p:nvPr/>
        </p:nvSpPr>
        <p:spPr>
          <a:xfrm>
            <a:off x="943725" y="2996703"/>
            <a:ext cx="5367126" cy="769441"/>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If the 55 kVA connection is operated as a grid-forming source, this introduces additional operational risk. Sudden load steps, phase imbalances, or transient events would need to be accommodated within the limited capacity of the connection.</a:t>
            </a:r>
          </a:p>
        </p:txBody>
      </p:sp>
      <p:cxnSp>
        <p:nvCxnSpPr>
          <p:cNvPr id="90" name="Straight Connector 50">
            <a:extLst>
              <a:ext uri="{FF2B5EF4-FFF2-40B4-BE49-F238E27FC236}">
                <a16:creationId xmlns:a16="http://schemas.microsoft.com/office/drawing/2014/main" id="{111EE4EB-BC1A-DFB0-64A9-679F83A9E944}"/>
              </a:ext>
            </a:extLst>
          </p:cNvPr>
          <p:cNvCxnSpPr>
            <a:cxnSpLocks/>
          </p:cNvCxnSpPr>
          <p:nvPr/>
        </p:nvCxnSpPr>
        <p:spPr>
          <a:xfrm>
            <a:off x="943725" y="3750768"/>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1" name="Graphic 90">
            <a:extLst>
              <a:ext uri="{FF2B5EF4-FFF2-40B4-BE49-F238E27FC236}">
                <a16:creationId xmlns:a16="http://schemas.microsoft.com/office/drawing/2014/main" id="{3848DE23-DD73-40E0-0B1D-39497F34D4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423" y="3934103"/>
            <a:ext cx="195719" cy="195719"/>
          </a:xfrm>
          <a:prstGeom prst="rect">
            <a:avLst/>
          </a:prstGeom>
        </p:spPr>
      </p:pic>
      <p:sp>
        <p:nvSpPr>
          <p:cNvPr id="92" name="TextBox 49">
            <a:extLst>
              <a:ext uri="{FF2B5EF4-FFF2-40B4-BE49-F238E27FC236}">
                <a16:creationId xmlns:a16="http://schemas.microsoft.com/office/drawing/2014/main" id="{A438F789-0C28-DB93-12CB-D1DAA9EBFA87}"/>
              </a:ext>
            </a:extLst>
          </p:cNvPr>
          <p:cNvSpPr txBox="1"/>
          <p:nvPr/>
        </p:nvSpPr>
        <p:spPr>
          <a:xfrm>
            <a:off x="922142" y="3894699"/>
            <a:ext cx="5367126" cy="600164"/>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In the event of a grid outage, the 500 kVA generator is capable of accommodating the peak load demand and can therefore function as an emergency power supply.</a:t>
            </a:r>
          </a:p>
        </p:txBody>
      </p:sp>
      <p:cxnSp>
        <p:nvCxnSpPr>
          <p:cNvPr id="93" name="Straight Connector 50">
            <a:extLst>
              <a:ext uri="{FF2B5EF4-FFF2-40B4-BE49-F238E27FC236}">
                <a16:creationId xmlns:a16="http://schemas.microsoft.com/office/drawing/2014/main" id="{704710E2-97F4-9F41-7678-3D620A57F98E}"/>
              </a:ext>
            </a:extLst>
          </p:cNvPr>
          <p:cNvCxnSpPr>
            <a:cxnSpLocks/>
          </p:cNvCxnSpPr>
          <p:nvPr/>
        </p:nvCxnSpPr>
        <p:spPr>
          <a:xfrm>
            <a:off x="922142" y="4494863"/>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4" name="Rectangle 19">
            <a:extLst>
              <a:ext uri="{FF2B5EF4-FFF2-40B4-BE49-F238E27FC236}">
                <a16:creationId xmlns:a16="http://schemas.microsoft.com/office/drawing/2014/main" id="{E4D70C44-17B8-80B1-D9C2-C0B815C547D7}"/>
              </a:ext>
            </a:extLst>
          </p:cNvPr>
          <p:cNvSpPr/>
          <p:nvPr/>
        </p:nvSpPr>
        <p:spPr>
          <a:xfrm>
            <a:off x="6819112" y="882792"/>
            <a:ext cx="3221686"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ea typeface="Calibri" pitchFamily="34" charset="-122"/>
                <a:cs typeface="Calibri" pitchFamily="34" charset="-120"/>
              </a:rPr>
              <a:t>Operational risks</a:t>
            </a:r>
          </a:p>
        </p:txBody>
      </p:sp>
      <p:sp>
        <p:nvSpPr>
          <p:cNvPr id="95" name="Right Triangle 20">
            <a:extLst>
              <a:ext uri="{FF2B5EF4-FFF2-40B4-BE49-F238E27FC236}">
                <a16:creationId xmlns:a16="http://schemas.microsoft.com/office/drawing/2014/main" id="{3222DE28-25A6-3F67-0FC0-0E974D6EA166}"/>
              </a:ext>
            </a:extLst>
          </p:cNvPr>
          <p:cNvSpPr/>
          <p:nvPr/>
        </p:nvSpPr>
        <p:spPr>
          <a:xfrm flipH="1" flipV="1">
            <a:off x="6819112" y="1269888"/>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111;p14">
            <a:extLst>
              <a:ext uri="{FF2B5EF4-FFF2-40B4-BE49-F238E27FC236}">
                <a16:creationId xmlns:a16="http://schemas.microsoft.com/office/drawing/2014/main" id="{0801A0B4-73E5-44B9-A836-20CEF73D5722}"/>
              </a:ext>
            </a:extLst>
          </p:cNvPr>
          <p:cNvSpPr txBox="1"/>
          <p:nvPr/>
        </p:nvSpPr>
        <p:spPr>
          <a:xfrm>
            <a:off x="748007" y="5534994"/>
            <a:ext cx="5152276" cy="78479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nl-NL" sz="1000" dirty="0" err="1">
                <a:solidFill>
                  <a:srgbClr val="064A71"/>
                </a:solidFill>
                <a:latin typeface="Poppins Light"/>
                <a:cs typeface="Poppins Light"/>
                <a:sym typeface="Poppins"/>
              </a:rPr>
              <a:t>Note</a:t>
            </a:r>
            <a:r>
              <a:rPr lang="nl-NL" sz="1000" dirty="0">
                <a:solidFill>
                  <a:srgbClr val="064A71"/>
                </a:solidFill>
                <a:latin typeface="Poppins Light"/>
                <a:cs typeface="Poppins Light"/>
                <a:sym typeface="Poppins"/>
              </a:rPr>
              <a:t>: </a:t>
            </a:r>
            <a:r>
              <a:rPr lang="en-US" sz="1000" dirty="0">
                <a:solidFill>
                  <a:srgbClr val="064A71"/>
                </a:solidFill>
                <a:latin typeface="Poppins Light"/>
                <a:cs typeface="Poppins Light"/>
                <a:sym typeface="Poppins"/>
              </a:rPr>
              <a:t>EMS settings are essential for determining how an energy system will respond. Bluepeak has only checked whether sufficient energy is available during the different seasons.</a:t>
            </a:r>
            <a:endParaRPr sz="1000" dirty="0">
              <a:solidFill>
                <a:srgbClr val="064A71"/>
              </a:solidFill>
              <a:latin typeface="Poppins Light"/>
              <a:cs typeface="Poppins Light"/>
              <a:sym typeface="Poppins Light"/>
            </a:endParaRPr>
          </a:p>
        </p:txBody>
      </p:sp>
      <p:sp>
        <p:nvSpPr>
          <p:cNvPr id="5" name="Tekstvak 4">
            <a:extLst>
              <a:ext uri="{FF2B5EF4-FFF2-40B4-BE49-F238E27FC236}">
                <a16:creationId xmlns:a16="http://schemas.microsoft.com/office/drawing/2014/main" id="{30DE9146-0EDF-583C-D244-E69A73B71F35}"/>
              </a:ext>
            </a:extLst>
          </p:cNvPr>
          <p:cNvSpPr txBox="1"/>
          <p:nvPr/>
        </p:nvSpPr>
        <p:spPr>
          <a:xfrm>
            <a:off x="7025776" y="1169276"/>
            <a:ext cx="4439801" cy="2800767"/>
          </a:xfrm>
          <a:prstGeom prst="rect">
            <a:avLst/>
          </a:prstGeom>
          <a:noFill/>
          <a:ln>
            <a:solidFill>
              <a:srgbClr val="034C81"/>
            </a:solidFill>
          </a:ln>
        </p:spPr>
        <p:txBody>
          <a:bodyPr wrap="square">
            <a:spAutoFit/>
          </a:bodyPr>
          <a:lstStyle/>
          <a:p>
            <a:endParaRPr lang="en-US" sz="1100" b="1">
              <a:solidFill>
                <a:schemeClr val="tx1">
                  <a:lumMod val="65000"/>
                  <a:lumOff val="35000"/>
                </a:schemeClr>
              </a:solidFill>
              <a:latin typeface="+mn-lt"/>
            </a:endParaRPr>
          </a:p>
          <a:p>
            <a:r>
              <a:rPr lang="en-US" sz="1100" b="1">
                <a:solidFill>
                  <a:schemeClr val="tx1">
                    <a:lumMod val="65000"/>
                    <a:lumOff val="35000"/>
                  </a:schemeClr>
                </a:solidFill>
                <a:latin typeface="+mn-lt"/>
              </a:rPr>
              <a:t>Connection operating concept</a:t>
            </a:r>
          </a:p>
          <a:p>
            <a:endParaRPr lang="en-US" sz="1100">
              <a:solidFill>
                <a:schemeClr val="tx1">
                  <a:lumMod val="65000"/>
                  <a:lumOff val="35000"/>
                </a:schemeClr>
              </a:solidFill>
              <a:latin typeface="+mn-lt"/>
            </a:endParaRPr>
          </a:p>
          <a:p>
            <a:r>
              <a:rPr lang="en-US" sz="1100">
                <a:solidFill>
                  <a:schemeClr val="tx1">
                    <a:lumMod val="65000"/>
                    <a:lumOff val="35000"/>
                  </a:schemeClr>
                </a:solidFill>
                <a:latin typeface="+mn-lt"/>
              </a:rPr>
              <a:t>The 55 kVA grid connection has limited operational tolerance and may trip if voltage, current, or phase imbalance limits are exceeded. Operating the connection in grid-forming mode increases this risk, as it would be required to absorb load steps, inrush currents, and phase imbalances within a very limited capacity margin.</a:t>
            </a:r>
          </a:p>
          <a:p>
            <a:endParaRPr lang="en-US" sz="1100">
              <a:solidFill>
                <a:schemeClr val="tx1">
                  <a:lumMod val="65000"/>
                  <a:lumOff val="35000"/>
                </a:schemeClr>
              </a:solidFill>
              <a:latin typeface="+mn-lt"/>
            </a:endParaRPr>
          </a:p>
          <a:p>
            <a:r>
              <a:rPr lang="en-US" sz="1100">
                <a:solidFill>
                  <a:schemeClr val="tx1">
                    <a:lumMod val="65000"/>
                    <a:lumOff val="35000"/>
                  </a:schemeClr>
                </a:solidFill>
                <a:latin typeface="+mn-lt"/>
              </a:rPr>
              <a:t>A more robust configuration is to operate the BESS in grid-forming mode, providing local stabilization of voltage and frequency, while the 55 kVA grid connection remains in grid-following mode and operates within a defined power limit. This approach reduces operational stress on the connection and significantly lowers the risk of fuse tripping.</a:t>
            </a:r>
            <a:endParaRPr lang="nl-NL" sz="1100">
              <a:solidFill>
                <a:schemeClr val="tx1">
                  <a:lumMod val="65000"/>
                  <a:lumOff val="35000"/>
                </a:schemeClr>
              </a:solidFill>
              <a:latin typeface="+mn-lt"/>
            </a:endParaRPr>
          </a:p>
        </p:txBody>
      </p:sp>
    </p:spTree>
    <p:extLst>
      <p:ext uri="{BB962C8B-B14F-4D97-AF65-F5344CB8AC3E}">
        <p14:creationId xmlns:p14="http://schemas.microsoft.com/office/powerpoint/2010/main" val="689971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E6175-F889-92B2-822C-72DAC62C0D59}"/>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FCC34537-A5C9-E0D0-48C7-38215D117114}"/>
              </a:ext>
            </a:extLst>
          </p:cNvPr>
          <p:cNvSpPr/>
          <p:nvPr/>
        </p:nvSpPr>
        <p:spPr>
          <a:xfrm>
            <a:off x="609600" y="548640"/>
            <a:ext cx="8534400" cy="487680"/>
          </a:xfrm>
          <a:prstGeom prst="rect">
            <a:avLst/>
          </a:prstGeom>
          <a:noFill/>
          <a:ln/>
        </p:spPr>
        <p:txBody>
          <a:bodyPr wrap="square" lIns="0" tIns="0" rIns="0" bIns="0" rtlCol="0" anchor="ctr"/>
          <a:lstStyle/>
          <a:p>
            <a:endParaRPr lang="en-US" sz="2933"/>
          </a:p>
        </p:txBody>
      </p:sp>
      <p:sp>
        <p:nvSpPr>
          <p:cNvPr id="18" name="Title 17">
            <a:extLst>
              <a:ext uri="{FF2B5EF4-FFF2-40B4-BE49-F238E27FC236}">
                <a16:creationId xmlns:a16="http://schemas.microsoft.com/office/drawing/2014/main" id="{37BFF36B-0FE1-5F8F-2C10-46B1E184BD2B}"/>
              </a:ext>
            </a:extLst>
          </p:cNvPr>
          <p:cNvSpPr>
            <a:spLocks noGrp="1"/>
          </p:cNvSpPr>
          <p:nvPr>
            <p:ph type="title"/>
          </p:nvPr>
        </p:nvSpPr>
        <p:spPr/>
        <p:txBody>
          <a:bodyPr/>
          <a:lstStyle/>
          <a:p>
            <a:r>
              <a:rPr lang="en-US"/>
              <a:t>Scenario 3: Solution 2 with [Y] profile</a:t>
            </a:r>
          </a:p>
        </p:txBody>
      </p:sp>
      <p:sp>
        <p:nvSpPr>
          <p:cNvPr id="2" name="Google Shape;111;p14">
            <a:extLst>
              <a:ext uri="{FF2B5EF4-FFF2-40B4-BE49-F238E27FC236}">
                <a16:creationId xmlns:a16="http://schemas.microsoft.com/office/drawing/2014/main" id="{087CCF74-0C92-A947-5E8D-F5D88A83D4C6}"/>
              </a:ext>
            </a:extLst>
          </p:cNvPr>
          <p:cNvSpPr txBox="1"/>
          <p:nvPr/>
        </p:nvSpPr>
        <p:spPr>
          <a:xfrm>
            <a:off x="609600" y="855369"/>
            <a:ext cx="4703730" cy="5355272"/>
          </a:xfrm>
          <a:prstGeom prst="rect">
            <a:avLst/>
          </a:prstGeom>
          <a:noFill/>
          <a:ln>
            <a:noFill/>
          </a:ln>
        </p:spPr>
        <p:txBody>
          <a:bodyPr spcFirstLastPara="1" wrap="square" lIns="91425" tIns="45700" rIns="91425" bIns="45700" anchor="t" anchorCtr="0">
            <a:spAutoFit/>
          </a:bodyPr>
          <a:lstStyle/>
          <a:p>
            <a:pPr marL="0" marR="0" lvl="0" indent="0" algn="l" defTabSz="719138" rtl="0" eaLnBrk="1" fontAlgn="auto" latinLnBrk="0" hangingPunct="1">
              <a:lnSpc>
                <a:spcPct val="150000"/>
              </a:lnSpc>
              <a:spcBef>
                <a:spcPts val="0"/>
              </a:spcBef>
              <a:spcAft>
                <a:spcPts val="0"/>
              </a:spcAft>
              <a:buClr>
                <a:srgbClr val="000000"/>
              </a:buClr>
              <a:buSzTx/>
              <a:buFont typeface="Arial"/>
              <a:buNone/>
              <a:tabLst>
                <a:tab pos="2874963" algn="l"/>
              </a:tabLst>
              <a:defRPr/>
            </a:pPr>
            <a:r>
              <a:rPr kumimoji="0" lang="nl-NL" sz="1200" b="1" i="0" u="none" strike="noStrike" kern="0" cap="none" spc="0" normalizeH="0" baseline="0" noProof="0">
                <a:ln>
                  <a:noFill/>
                </a:ln>
                <a:solidFill>
                  <a:srgbClr val="064A71"/>
                </a:solidFill>
                <a:effectLst/>
                <a:uLnTx/>
                <a:uFillTx/>
                <a:latin typeface="+mn-lt"/>
                <a:ea typeface="Poppins"/>
                <a:cs typeface="Poppins"/>
                <a:sym typeface="Poppins"/>
              </a:rPr>
              <a:t>Technical </a:t>
            </a:r>
            <a:r>
              <a:rPr kumimoji="0" lang="nl-NL" sz="1200" b="1" i="0" u="none" strike="noStrike" kern="0" cap="none" spc="0" normalizeH="0" baseline="0" noProof="0" err="1">
                <a:ln>
                  <a:noFill/>
                </a:ln>
                <a:solidFill>
                  <a:srgbClr val="064A71"/>
                </a:solidFill>
                <a:effectLst/>
                <a:uLnTx/>
                <a:uFillTx/>
                <a:latin typeface="+mn-lt"/>
                <a:ea typeface="Poppins"/>
                <a:cs typeface="Poppins"/>
                <a:sym typeface="Poppins"/>
              </a:rPr>
              <a:t>installation</a:t>
            </a:r>
            <a:endParaRPr kumimoji="0" lang="nl-NL" sz="1200" b="1" i="0" u="none" strike="noStrike" kern="0" cap="none" spc="0" normalizeH="0" baseline="0" noProof="0">
              <a:ln>
                <a:noFill/>
              </a:ln>
              <a:solidFill>
                <a:srgbClr val="064A71"/>
              </a:solidFill>
              <a:effectLst/>
              <a:uLnTx/>
              <a:uFillTx/>
              <a:latin typeface="+mn-lt"/>
              <a:ea typeface="Poppins"/>
              <a:cs typeface="Poppins"/>
              <a:sym typeface="Poppins"/>
            </a:endParaRPr>
          </a:p>
          <a:p>
            <a:pPr marL="266700" marR="0" lvl="2" indent="-187325" algn="l" defTabSz="719138" rtl="0" eaLnBrk="1" fontAlgn="auto" latinLnBrk="0" hangingPunct="1">
              <a:lnSpc>
                <a:spcPct val="150000"/>
              </a:lnSpc>
              <a:spcBef>
                <a:spcPts val="0"/>
              </a:spcBef>
              <a:spcAft>
                <a:spcPts val="0"/>
              </a:spcAft>
              <a:buClr>
                <a:srgbClr val="034C81"/>
              </a:buClr>
              <a:buSzPts val="1600"/>
              <a:buFont typeface="Arial"/>
              <a:buChar char="•"/>
              <a:tabLst>
                <a:tab pos="2874963" algn="l"/>
              </a:tabLst>
              <a:defRPr/>
            </a:pP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Installed</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capacity</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PV(DC) 		1,499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kWp</a:t>
            </a:r>
            <a:endPar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endParaRPr>
          </a:p>
          <a:p>
            <a:pPr marL="266700" marR="0" lvl="2" indent="-187325" algn="l" defTabSz="719138" rtl="0" eaLnBrk="1" fontAlgn="auto" latinLnBrk="0" hangingPunct="1">
              <a:lnSpc>
                <a:spcPct val="150000"/>
              </a:lnSpc>
              <a:spcBef>
                <a:spcPts val="0"/>
              </a:spcBef>
              <a:spcAft>
                <a:spcPts val="0"/>
              </a:spcAft>
              <a:buClr>
                <a:srgbClr val="034C81"/>
              </a:buClr>
              <a:buSzPts val="1600"/>
              <a:buFont typeface="Arial"/>
              <a:buChar char="•"/>
              <a:tabLst>
                <a:tab pos="2874963" algn="l"/>
              </a:tabLst>
              <a:defRPr/>
            </a:pP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Installed</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capacity</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PV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inverters</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PV	1,000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kVa</a:t>
            </a:r>
            <a:endPar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endParaRPr>
          </a:p>
          <a:p>
            <a:pPr marL="266700" marR="0" lvl="2" indent="-187325" algn="l" defTabSz="719138" rtl="0" eaLnBrk="1" fontAlgn="auto" latinLnBrk="0" hangingPunct="1">
              <a:lnSpc>
                <a:spcPct val="150000"/>
              </a:lnSpc>
              <a:spcBef>
                <a:spcPts val="0"/>
              </a:spcBef>
              <a:spcAft>
                <a:spcPts val="0"/>
              </a:spcAft>
              <a:buClr>
                <a:srgbClr val="034C81"/>
              </a:buClr>
              <a:buSzPts val="1600"/>
              <a:buFont typeface="Arial"/>
              <a:buChar char="•"/>
              <a:tabLst>
                <a:tab pos="2874963" algn="l"/>
              </a:tabLst>
              <a:defRPr/>
            </a:pP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Installed</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capacity</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BESS		1,000 kW / 2,330 kWh</a:t>
            </a:r>
          </a:p>
          <a:p>
            <a:pPr marL="266700" marR="0" lvl="2" indent="-187325" algn="l" defTabSz="719138" rtl="0" eaLnBrk="1" fontAlgn="auto" latinLnBrk="0" hangingPunct="1">
              <a:lnSpc>
                <a:spcPct val="150000"/>
              </a:lnSpc>
              <a:spcBef>
                <a:spcPts val="0"/>
              </a:spcBef>
              <a:spcAft>
                <a:spcPts val="0"/>
              </a:spcAft>
              <a:buClr>
                <a:srgbClr val="034C81"/>
              </a:buClr>
              <a:buSzPts val="1600"/>
              <a:buFont typeface="Arial"/>
              <a:buChar char="•"/>
              <a:tabLst>
                <a:tab pos="2874963" algn="l"/>
              </a:tabLst>
              <a:defRPr/>
            </a:pP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Installed</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capacity</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generator	500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kVa</a:t>
            </a:r>
            <a:endPar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endParaRPr>
          </a:p>
          <a:p>
            <a:pPr marL="79375" marR="0" lvl="2" indent="0" algn="l" defTabSz="719138" rtl="0" eaLnBrk="1" fontAlgn="auto" latinLnBrk="0" hangingPunct="1">
              <a:lnSpc>
                <a:spcPct val="150000"/>
              </a:lnSpc>
              <a:spcBef>
                <a:spcPts val="0"/>
              </a:spcBef>
              <a:spcAft>
                <a:spcPts val="0"/>
              </a:spcAft>
              <a:buClr>
                <a:srgbClr val="034C81"/>
              </a:buClr>
              <a:buSzPts val="1600"/>
              <a:buFont typeface="Arial"/>
              <a:buNone/>
              <a:tabLst>
                <a:tab pos="2874963" algn="l"/>
              </a:tabLst>
              <a:defRPr/>
            </a:pPr>
            <a:endPar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endParaRPr>
          </a:p>
          <a:p>
            <a:pPr marL="0" marR="0" lvl="0" indent="0" algn="l" defTabSz="719138" rtl="0" eaLnBrk="1" fontAlgn="auto" latinLnBrk="0" hangingPunct="1">
              <a:lnSpc>
                <a:spcPct val="150000"/>
              </a:lnSpc>
              <a:spcBef>
                <a:spcPts val="0"/>
              </a:spcBef>
              <a:spcAft>
                <a:spcPts val="0"/>
              </a:spcAft>
              <a:buClr>
                <a:srgbClr val="000000"/>
              </a:buClr>
              <a:buSzTx/>
              <a:buFont typeface="Arial"/>
              <a:buNone/>
              <a:tabLst>
                <a:tab pos="2874963" algn="l"/>
              </a:tabLst>
              <a:defRPr/>
            </a:pPr>
            <a:r>
              <a:rPr kumimoji="0" lang="nl-NL" sz="1200" b="1" i="0" u="none" strike="noStrike" kern="0" cap="none" spc="0" normalizeH="0" baseline="0" noProof="0" err="1">
                <a:ln>
                  <a:noFill/>
                </a:ln>
                <a:solidFill>
                  <a:srgbClr val="064A71"/>
                </a:solidFill>
                <a:effectLst/>
                <a:uLnTx/>
                <a:uFillTx/>
                <a:latin typeface="+mn-lt"/>
                <a:ea typeface="Poppins"/>
                <a:cs typeface="Poppins"/>
                <a:sym typeface="Poppins"/>
              </a:rPr>
              <a:t>Consumption</a:t>
            </a:r>
            <a:endParaRPr kumimoji="0" lang="nl-NL" sz="1200" b="1" i="0" u="none" strike="noStrike" kern="0" cap="none" spc="0" normalizeH="0" baseline="0" noProof="0">
              <a:ln>
                <a:noFill/>
              </a:ln>
              <a:solidFill>
                <a:srgbClr val="064A71"/>
              </a:solidFill>
              <a:effectLst/>
              <a:uLnTx/>
              <a:uFillTx/>
              <a:latin typeface="+mn-lt"/>
              <a:ea typeface="Poppins"/>
              <a:cs typeface="Poppins"/>
              <a:sym typeface="Poppins"/>
            </a:endParaRPr>
          </a:p>
          <a:p>
            <a:pPr marL="266700" marR="0" lvl="0" indent="-187325" algn="l" defTabSz="719138" rtl="0" eaLnBrk="1" fontAlgn="auto" latinLnBrk="0" hangingPunct="1">
              <a:lnSpc>
                <a:spcPct val="150000"/>
              </a:lnSpc>
              <a:spcBef>
                <a:spcPts val="0"/>
              </a:spcBef>
              <a:spcAft>
                <a:spcPts val="0"/>
              </a:spcAft>
              <a:buClr>
                <a:srgbClr val="034C81"/>
              </a:buClr>
              <a:buSzPts val="1600"/>
              <a:buFont typeface="Poppins Light"/>
              <a:buChar char="•"/>
              <a:tabLst>
                <a:tab pos="2874963" algn="l"/>
              </a:tabLst>
              <a:defRPr/>
            </a:pP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Total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use</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760 MWh/</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yr</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a:t>
            </a:r>
          </a:p>
          <a:p>
            <a:pPr marL="266700" marR="0" lvl="0" indent="-187325" algn="l" defTabSz="719138" rtl="0" eaLnBrk="1" fontAlgn="auto" latinLnBrk="0" hangingPunct="1">
              <a:lnSpc>
                <a:spcPct val="150000"/>
              </a:lnSpc>
              <a:spcBef>
                <a:spcPts val="0"/>
              </a:spcBef>
              <a:spcAft>
                <a:spcPts val="0"/>
              </a:spcAft>
              <a:buClr>
                <a:srgbClr val="034C81"/>
              </a:buClr>
              <a:buSzPts val="1600"/>
              <a:buFont typeface="Poppins Light"/>
              <a:buChar char="•"/>
              <a:tabLst>
                <a:tab pos="2874963" algn="l"/>
              </a:tabLst>
              <a:defRPr/>
            </a:pP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Est.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grid</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use</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152 MWh/</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yr</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(20.0%)</a:t>
            </a:r>
          </a:p>
          <a:p>
            <a:pPr marL="266700" marR="0" lvl="0" indent="-187325" algn="l" defTabSz="719138" rtl="0" eaLnBrk="1" fontAlgn="auto" latinLnBrk="0" hangingPunct="1">
              <a:lnSpc>
                <a:spcPct val="150000"/>
              </a:lnSpc>
              <a:spcBef>
                <a:spcPts val="0"/>
              </a:spcBef>
              <a:spcAft>
                <a:spcPts val="0"/>
              </a:spcAft>
              <a:buClr>
                <a:srgbClr val="034C81"/>
              </a:buClr>
              <a:buSzPts val="1600"/>
              <a:buFont typeface="Poppins Light"/>
              <a:buChar char="•"/>
              <a:tabLst>
                <a:tab pos="2874963" algn="l"/>
              </a:tabLst>
              <a:defRPr/>
            </a:pP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Est PV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use</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352 MWh/</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yr</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(46.3%)</a:t>
            </a:r>
          </a:p>
          <a:p>
            <a:pPr marL="266700" marR="0" lvl="0" indent="-187325" algn="l" defTabSz="719138" rtl="0" eaLnBrk="1" fontAlgn="auto" latinLnBrk="0" hangingPunct="1">
              <a:lnSpc>
                <a:spcPct val="150000"/>
              </a:lnSpc>
              <a:spcBef>
                <a:spcPts val="0"/>
              </a:spcBef>
              <a:spcAft>
                <a:spcPts val="0"/>
              </a:spcAft>
              <a:buClr>
                <a:srgbClr val="034C81"/>
              </a:buClr>
              <a:buSzPts val="1600"/>
              <a:buFont typeface="Poppins Light"/>
              <a:buChar char="•"/>
              <a:tabLst>
                <a:tab pos="2874963" algn="l"/>
              </a:tabLst>
              <a:defRPr/>
            </a:pP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Est. BESS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use</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227 MWh/</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yr</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(29.8%)</a:t>
            </a:r>
          </a:p>
          <a:p>
            <a:pPr marL="266700" marR="0" lvl="0" indent="-187325" algn="l" defTabSz="719138" rtl="0" eaLnBrk="1" fontAlgn="auto" latinLnBrk="0" hangingPunct="1">
              <a:lnSpc>
                <a:spcPct val="150000"/>
              </a:lnSpc>
              <a:spcBef>
                <a:spcPts val="0"/>
              </a:spcBef>
              <a:spcAft>
                <a:spcPts val="0"/>
              </a:spcAft>
              <a:buClr>
                <a:srgbClr val="034C81"/>
              </a:buClr>
              <a:buSzPts val="1600"/>
              <a:buFont typeface="Poppins Light"/>
              <a:buChar char="•"/>
              <a:tabLst>
                <a:tab pos="2874963" algn="l"/>
              </a:tabLst>
              <a:defRPr/>
            </a:pP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Est. generator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use</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29 MWh/</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yr</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(3.8%)</a:t>
            </a:r>
            <a:endParaRPr kumimoji="0" lang="nl-NL" sz="1200" b="1" i="0" u="none" strike="noStrike" kern="0" cap="none" spc="0" normalizeH="0" baseline="0" noProof="0">
              <a:ln>
                <a:noFill/>
              </a:ln>
              <a:solidFill>
                <a:srgbClr val="064A71"/>
              </a:solidFill>
              <a:effectLst/>
              <a:uLnTx/>
              <a:uFillTx/>
              <a:latin typeface="+mn-lt"/>
              <a:ea typeface="Poppins Light"/>
              <a:cs typeface="Poppins"/>
              <a:sym typeface="Poppins"/>
            </a:endParaRPr>
          </a:p>
          <a:p>
            <a:pPr marL="79375" marR="0" lvl="0" indent="0" algn="l" defTabSz="719138" rtl="0" eaLnBrk="1" fontAlgn="auto" latinLnBrk="0" hangingPunct="1">
              <a:lnSpc>
                <a:spcPct val="150000"/>
              </a:lnSpc>
              <a:spcBef>
                <a:spcPts val="0"/>
              </a:spcBef>
              <a:spcAft>
                <a:spcPts val="0"/>
              </a:spcAft>
              <a:buClr>
                <a:srgbClr val="034C81"/>
              </a:buClr>
              <a:buSzPts val="1600"/>
              <a:buFont typeface="Arial"/>
              <a:buNone/>
              <a:tabLst>
                <a:tab pos="2874963" algn="l"/>
              </a:tabLst>
              <a:defRPr/>
            </a:pPr>
            <a:endParaRPr kumimoji="0" lang="nl-NL" sz="1200" b="1" i="0" u="none" strike="noStrike" kern="0" cap="none" spc="0" normalizeH="0" baseline="0" noProof="0">
              <a:ln>
                <a:noFill/>
              </a:ln>
              <a:solidFill>
                <a:srgbClr val="064A71"/>
              </a:solidFill>
              <a:effectLst/>
              <a:uLnTx/>
              <a:uFillTx/>
              <a:latin typeface="+mn-lt"/>
              <a:cs typeface="Poppins"/>
              <a:sym typeface="Poppins Light"/>
            </a:endParaRPr>
          </a:p>
          <a:p>
            <a:pPr marL="79375" marR="0" lvl="0" indent="0" algn="l" defTabSz="719138" rtl="0" eaLnBrk="1" fontAlgn="auto" latinLnBrk="0" hangingPunct="1">
              <a:lnSpc>
                <a:spcPct val="150000"/>
              </a:lnSpc>
              <a:spcBef>
                <a:spcPts val="0"/>
              </a:spcBef>
              <a:spcAft>
                <a:spcPts val="0"/>
              </a:spcAft>
              <a:buClr>
                <a:srgbClr val="034C81"/>
              </a:buClr>
              <a:buSzPts val="1600"/>
              <a:buFont typeface="Arial"/>
              <a:buNone/>
              <a:tabLst>
                <a:tab pos="2874963" algn="l"/>
              </a:tabLst>
              <a:defRPr/>
            </a:pPr>
            <a:r>
              <a:rPr kumimoji="0" lang="nl-NL" sz="1200" b="1" i="0" u="none" strike="noStrike" kern="0" cap="none" spc="0" normalizeH="0" baseline="0" noProof="0" err="1">
                <a:ln>
                  <a:noFill/>
                </a:ln>
                <a:solidFill>
                  <a:srgbClr val="064A71"/>
                </a:solidFill>
                <a:effectLst/>
                <a:uLnTx/>
                <a:uFillTx/>
                <a:latin typeface="+mn-lt"/>
                <a:cs typeface="Poppins"/>
                <a:sym typeface="Poppins Light"/>
              </a:rPr>
              <a:t>Production</a:t>
            </a:r>
            <a:endParaRPr kumimoji="0" lang="nl-NL" sz="1200" b="1" i="0" u="none" strike="noStrike" kern="0" cap="none" spc="0" normalizeH="0" baseline="0" noProof="0">
              <a:ln>
                <a:noFill/>
              </a:ln>
              <a:solidFill>
                <a:srgbClr val="064A71"/>
              </a:solidFill>
              <a:effectLst/>
              <a:uLnTx/>
              <a:uFillTx/>
              <a:latin typeface="+mn-lt"/>
              <a:cs typeface="Poppins"/>
              <a:sym typeface="Poppins Light"/>
            </a:endParaRPr>
          </a:p>
          <a:p>
            <a:pPr marL="266700" marR="0" lvl="0" indent="-187325" algn="l" defTabSz="719138" rtl="0" eaLnBrk="1" fontAlgn="auto" latinLnBrk="0" hangingPunct="1">
              <a:lnSpc>
                <a:spcPct val="150000"/>
              </a:lnSpc>
              <a:spcBef>
                <a:spcPts val="0"/>
              </a:spcBef>
              <a:spcAft>
                <a:spcPts val="0"/>
              </a:spcAft>
              <a:buClr>
                <a:srgbClr val="034C81"/>
              </a:buClr>
              <a:buSzPts val="1600"/>
              <a:buFont typeface="Poppins Light"/>
              <a:buChar char="•"/>
              <a:tabLst>
                <a:tab pos="2874963" algn="l"/>
              </a:tabLst>
              <a:defRPr/>
            </a:pP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Est.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production</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solar</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PV		1,092 MWh/</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yr</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a:t>
            </a:r>
          </a:p>
          <a:p>
            <a:pPr marL="266700" marR="0" lvl="0" indent="-187325" algn="l" defTabSz="719138" rtl="0" eaLnBrk="1" fontAlgn="auto" latinLnBrk="0" hangingPunct="1">
              <a:lnSpc>
                <a:spcPct val="150000"/>
              </a:lnSpc>
              <a:spcBef>
                <a:spcPts val="0"/>
              </a:spcBef>
              <a:spcAft>
                <a:spcPts val="0"/>
              </a:spcAft>
              <a:buClr>
                <a:srgbClr val="034C81"/>
              </a:buClr>
              <a:buSzPts val="1600"/>
              <a:buFont typeface="Poppins Light"/>
              <a:buChar char="•"/>
              <a:tabLst>
                <a:tab pos="2874963" algn="l"/>
              </a:tabLst>
              <a:defRPr/>
            </a:pP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Est.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local</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use</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of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solar</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PV		352 MWh/</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yr</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(32.2%)</a:t>
            </a:r>
          </a:p>
          <a:p>
            <a:pPr marL="266700" marR="0" lvl="0" indent="-187325" algn="l" defTabSz="719138" rtl="0" eaLnBrk="1" fontAlgn="auto" latinLnBrk="0" hangingPunct="1">
              <a:lnSpc>
                <a:spcPct val="150000"/>
              </a:lnSpc>
              <a:spcBef>
                <a:spcPts val="0"/>
              </a:spcBef>
              <a:spcAft>
                <a:spcPts val="0"/>
              </a:spcAft>
              <a:buClr>
                <a:srgbClr val="034C81"/>
              </a:buClr>
              <a:buSzPts val="1600"/>
              <a:buFont typeface="Poppins Light"/>
              <a:buChar char="•"/>
              <a:tabLst>
                <a:tab pos="2874963" algn="l"/>
              </a:tabLst>
              <a:defRPr/>
            </a:pP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Est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stored</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in BESS		227 MWh/</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yr</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(20.7%)</a:t>
            </a:r>
          </a:p>
          <a:p>
            <a:pPr marL="266700" marR="0" lvl="0" indent="-187325" algn="l" defTabSz="719138" rtl="0" eaLnBrk="1" fontAlgn="auto" latinLnBrk="0" hangingPunct="1">
              <a:lnSpc>
                <a:spcPct val="150000"/>
              </a:lnSpc>
              <a:spcBef>
                <a:spcPts val="0"/>
              </a:spcBef>
              <a:spcAft>
                <a:spcPts val="0"/>
              </a:spcAft>
              <a:buClr>
                <a:srgbClr val="034C81"/>
              </a:buClr>
              <a:buSzPts val="1600"/>
              <a:buFont typeface="Poppins Light"/>
              <a:buChar char="•"/>
              <a:tabLst>
                <a:tab pos="2874963" algn="l"/>
              </a:tabLst>
              <a:defRPr/>
            </a:pP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Est. </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curtailment</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514 MWh/</a:t>
            </a:r>
            <a:r>
              <a:rPr kumimoji="0" lang="nl-NL" sz="1200" b="0" i="0" u="none" strike="noStrike" kern="0" cap="none" spc="0" normalizeH="0" baseline="0" noProof="0" err="1">
                <a:ln>
                  <a:noFill/>
                </a:ln>
                <a:solidFill>
                  <a:srgbClr val="064A71"/>
                </a:solidFill>
                <a:effectLst/>
                <a:uLnTx/>
                <a:uFillTx/>
                <a:latin typeface="+mn-lt"/>
                <a:ea typeface="Poppins Light"/>
                <a:cs typeface="Poppins Light"/>
                <a:sym typeface="Poppins Light"/>
              </a:rPr>
              <a:t>yr</a:t>
            </a:r>
            <a:r>
              <a:rPr kumimoji="0" lang="nl-NL" sz="1200" b="0" i="0" u="none" strike="noStrike" kern="0" cap="none" spc="0" normalizeH="0" baseline="0" noProof="0">
                <a:ln>
                  <a:noFill/>
                </a:ln>
                <a:solidFill>
                  <a:srgbClr val="064A71"/>
                </a:solidFill>
                <a:effectLst/>
                <a:uLnTx/>
                <a:uFillTx/>
                <a:latin typeface="+mn-lt"/>
                <a:ea typeface="Poppins Light"/>
                <a:cs typeface="Poppins Light"/>
                <a:sym typeface="Poppins Light"/>
              </a:rPr>
              <a:t> (47.0%)</a:t>
            </a:r>
          </a:p>
          <a:p>
            <a:pPr marL="79375" lvl="0">
              <a:lnSpc>
                <a:spcPct val="150000"/>
              </a:lnSpc>
              <a:buClr>
                <a:srgbClr val="034C81"/>
              </a:buClr>
              <a:buSzPts val="1600"/>
              <a:tabLst>
                <a:tab pos="2874963" algn="l"/>
              </a:tabLst>
            </a:pPr>
            <a:endParaRPr lang="nl-NL" sz="1200">
              <a:solidFill>
                <a:srgbClr val="064A71"/>
              </a:solidFill>
              <a:latin typeface="+mn-lt"/>
              <a:ea typeface="Poppins Light"/>
              <a:cs typeface="Poppins Light"/>
              <a:sym typeface="Poppins Light"/>
            </a:endParaRPr>
          </a:p>
        </p:txBody>
      </p:sp>
      <p:graphicFrame>
        <p:nvGraphicFramePr>
          <p:cNvPr id="5" name="Chart 1">
            <a:extLst>
              <a:ext uri="{FF2B5EF4-FFF2-40B4-BE49-F238E27FC236}">
                <a16:creationId xmlns:a16="http://schemas.microsoft.com/office/drawing/2014/main" id="{4090860D-1A47-F408-51B7-8DAB748A8D45}"/>
              </a:ext>
            </a:extLst>
          </p:cNvPr>
          <p:cNvGraphicFramePr>
            <a:graphicFrameLocks/>
          </p:cNvGraphicFramePr>
          <p:nvPr>
            <p:extLst>
              <p:ext uri="{D42A27DB-BD31-4B8C-83A1-F6EECF244321}">
                <p14:modId xmlns:p14="http://schemas.microsoft.com/office/powerpoint/2010/main" val="1996421385"/>
              </p:ext>
            </p:extLst>
          </p:nvPr>
        </p:nvGraphicFramePr>
        <p:xfrm>
          <a:off x="6095999" y="650693"/>
          <a:ext cx="4928419" cy="29649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3">
            <a:extLst>
              <a:ext uri="{FF2B5EF4-FFF2-40B4-BE49-F238E27FC236}">
                <a16:creationId xmlns:a16="http://schemas.microsoft.com/office/drawing/2014/main" id="{C2BEF74B-0D7E-D965-A303-A453FCBDB4DB}"/>
              </a:ext>
            </a:extLst>
          </p:cNvPr>
          <p:cNvGraphicFramePr>
            <a:graphicFrameLocks/>
          </p:cNvGraphicFramePr>
          <p:nvPr>
            <p:extLst>
              <p:ext uri="{D42A27DB-BD31-4B8C-83A1-F6EECF244321}">
                <p14:modId xmlns:p14="http://schemas.microsoft.com/office/powerpoint/2010/main" val="2323238461"/>
              </p:ext>
            </p:extLst>
          </p:nvPr>
        </p:nvGraphicFramePr>
        <p:xfrm>
          <a:off x="10906432" y="973394"/>
          <a:ext cx="1285444" cy="226108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5">
            <a:extLst>
              <a:ext uri="{FF2B5EF4-FFF2-40B4-BE49-F238E27FC236}">
                <a16:creationId xmlns:a16="http://schemas.microsoft.com/office/drawing/2014/main" id="{48FE0FC6-2D73-B83B-945D-419EFBE535BC}"/>
              </a:ext>
            </a:extLst>
          </p:cNvPr>
          <p:cNvGraphicFramePr>
            <a:graphicFrameLocks/>
          </p:cNvGraphicFramePr>
          <p:nvPr>
            <p:extLst>
              <p:ext uri="{D42A27DB-BD31-4B8C-83A1-F6EECF244321}">
                <p14:modId xmlns:p14="http://schemas.microsoft.com/office/powerpoint/2010/main" val="246646944"/>
              </p:ext>
            </p:extLst>
          </p:nvPr>
        </p:nvGraphicFramePr>
        <p:xfrm>
          <a:off x="6095998" y="3546680"/>
          <a:ext cx="4928419" cy="249278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6">
            <a:extLst>
              <a:ext uri="{FF2B5EF4-FFF2-40B4-BE49-F238E27FC236}">
                <a16:creationId xmlns:a16="http://schemas.microsoft.com/office/drawing/2014/main" id="{57FD63CD-684F-97D7-B065-FFE815262894}"/>
              </a:ext>
            </a:extLst>
          </p:cNvPr>
          <p:cNvGraphicFramePr>
            <a:graphicFrameLocks/>
          </p:cNvGraphicFramePr>
          <p:nvPr>
            <p:extLst>
              <p:ext uri="{D42A27DB-BD31-4B8C-83A1-F6EECF244321}">
                <p14:modId xmlns:p14="http://schemas.microsoft.com/office/powerpoint/2010/main" val="2653408370"/>
              </p:ext>
            </p:extLst>
          </p:nvPr>
        </p:nvGraphicFramePr>
        <p:xfrm>
          <a:off x="10958051" y="3546680"/>
          <a:ext cx="1233825" cy="213697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923899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83C7B-7679-31E2-BBE5-87961629D0BD}"/>
            </a:ext>
          </a:extLst>
        </p:cNvPr>
        <p:cNvGrpSpPr/>
        <p:nvPr/>
      </p:nvGrpSpPr>
      <p:grpSpPr>
        <a:xfrm>
          <a:off x="0" y="0"/>
          <a:ext cx="0" cy="0"/>
          <a:chOff x="0" y="0"/>
          <a:chExt cx="0" cy="0"/>
        </a:xfrm>
      </p:grpSpPr>
      <p:sp>
        <p:nvSpPr>
          <p:cNvPr id="70" name="Shape 6">
            <a:extLst>
              <a:ext uri="{FF2B5EF4-FFF2-40B4-BE49-F238E27FC236}">
                <a16:creationId xmlns:a16="http://schemas.microsoft.com/office/drawing/2014/main" id="{AC9E25F8-D37D-AB58-B8C7-DD889A05F75E}"/>
              </a:ext>
            </a:extLst>
          </p:cNvPr>
          <p:cNvSpPr/>
          <p:nvPr/>
        </p:nvSpPr>
        <p:spPr>
          <a:xfrm>
            <a:off x="609600" y="1269889"/>
            <a:ext cx="5701251" cy="5192078"/>
          </a:xfrm>
          <a:prstGeom prst="rect">
            <a:avLst/>
          </a:prstGeom>
          <a:solidFill>
            <a:srgbClr val="F4F7FA"/>
          </a:solidFill>
          <a:ln/>
          <a:effectLst>
            <a:outerShdw blurRad="50800" dist="12700" dir="8100000" algn="bl" rotWithShape="0">
              <a:srgbClr val="000000">
                <a:alpha val="8000"/>
              </a:srgbClr>
            </a:outerShdw>
          </a:effectLst>
        </p:spPr>
        <p:txBody>
          <a:bodyPr/>
          <a:lstStyle/>
          <a:p>
            <a:endParaRPr lang="en-US" sz="1867"/>
          </a:p>
        </p:txBody>
      </p:sp>
      <p:sp>
        <p:nvSpPr>
          <p:cNvPr id="6" name="Text 4">
            <a:extLst>
              <a:ext uri="{FF2B5EF4-FFF2-40B4-BE49-F238E27FC236}">
                <a16:creationId xmlns:a16="http://schemas.microsoft.com/office/drawing/2014/main" id="{5491B96E-4E50-1F2F-0CF2-C7066882DAD2}"/>
              </a:ext>
            </a:extLst>
          </p:cNvPr>
          <p:cNvSpPr/>
          <p:nvPr/>
        </p:nvSpPr>
        <p:spPr>
          <a:xfrm>
            <a:off x="609600" y="548640"/>
            <a:ext cx="8534400" cy="487680"/>
          </a:xfrm>
          <a:prstGeom prst="rect">
            <a:avLst/>
          </a:prstGeom>
          <a:noFill/>
          <a:ln/>
        </p:spPr>
        <p:txBody>
          <a:bodyPr wrap="square" lIns="0" tIns="0" rIns="0" bIns="0" rtlCol="0" anchor="ctr"/>
          <a:lstStyle/>
          <a:p>
            <a:endParaRPr lang="en-US" sz="2933"/>
          </a:p>
        </p:txBody>
      </p:sp>
      <p:sp>
        <p:nvSpPr>
          <p:cNvPr id="7" name="Text 5">
            <a:extLst>
              <a:ext uri="{FF2B5EF4-FFF2-40B4-BE49-F238E27FC236}">
                <a16:creationId xmlns:a16="http://schemas.microsoft.com/office/drawing/2014/main" id="{BC4AA71F-347B-4E66-5C89-1E49385CA321}"/>
              </a:ext>
            </a:extLst>
          </p:cNvPr>
          <p:cNvSpPr/>
          <p:nvPr/>
        </p:nvSpPr>
        <p:spPr>
          <a:xfrm>
            <a:off x="609600" y="1076340"/>
            <a:ext cx="9753600" cy="304800"/>
          </a:xfrm>
          <a:prstGeom prst="rect">
            <a:avLst/>
          </a:prstGeom>
          <a:noFill/>
          <a:ln/>
        </p:spPr>
        <p:txBody>
          <a:bodyPr wrap="square" lIns="0" tIns="0" rIns="0" bIns="0" rtlCol="0" anchor="ctr"/>
          <a:lstStyle/>
          <a:p>
            <a:endParaRPr lang="en-US" sz="1333"/>
          </a:p>
        </p:txBody>
      </p:sp>
      <p:sp>
        <p:nvSpPr>
          <p:cNvPr id="8" name="Text 6">
            <a:extLst>
              <a:ext uri="{FF2B5EF4-FFF2-40B4-BE49-F238E27FC236}">
                <a16:creationId xmlns:a16="http://schemas.microsoft.com/office/drawing/2014/main" id="{983D3F37-7E36-A118-CBA6-93FB88903AB6}"/>
              </a:ext>
            </a:extLst>
          </p:cNvPr>
          <p:cNvSpPr/>
          <p:nvPr/>
        </p:nvSpPr>
        <p:spPr>
          <a:xfrm>
            <a:off x="-974107" y="2169039"/>
            <a:ext cx="5242560" cy="341376"/>
          </a:xfrm>
          <a:prstGeom prst="rect">
            <a:avLst/>
          </a:prstGeom>
          <a:noFill/>
          <a:ln/>
        </p:spPr>
        <p:txBody>
          <a:bodyPr wrap="square" lIns="0" tIns="0" rIns="0" bIns="0" rtlCol="0" anchor="ctr"/>
          <a:lstStyle/>
          <a:p>
            <a:endParaRPr lang="en-US" sz="1467"/>
          </a:p>
        </p:txBody>
      </p:sp>
      <p:sp>
        <p:nvSpPr>
          <p:cNvPr id="18" name="Title 17">
            <a:extLst>
              <a:ext uri="{FF2B5EF4-FFF2-40B4-BE49-F238E27FC236}">
                <a16:creationId xmlns:a16="http://schemas.microsoft.com/office/drawing/2014/main" id="{17CC0D07-95A1-0A74-BF97-3EF656979066}"/>
              </a:ext>
            </a:extLst>
          </p:cNvPr>
          <p:cNvSpPr>
            <a:spLocks noGrp="1"/>
          </p:cNvSpPr>
          <p:nvPr>
            <p:ph type="title"/>
          </p:nvPr>
        </p:nvSpPr>
        <p:spPr/>
        <p:txBody>
          <a:bodyPr/>
          <a:lstStyle/>
          <a:p>
            <a:r>
              <a:rPr lang="en-US"/>
              <a:t>Scenario 3: Solution 2 observations</a:t>
            </a:r>
          </a:p>
        </p:txBody>
      </p:sp>
      <p:pic>
        <p:nvPicPr>
          <p:cNvPr id="72" name="Graphic 71">
            <a:extLst>
              <a:ext uri="{FF2B5EF4-FFF2-40B4-BE49-F238E27FC236}">
                <a16:creationId xmlns:a16="http://schemas.microsoft.com/office/drawing/2014/main" id="{3EF55545-60B9-2A0E-4C82-1E1EB0DFB2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423" y="1604172"/>
            <a:ext cx="195719" cy="195719"/>
          </a:xfrm>
          <a:prstGeom prst="rect">
            <a:avLst/>
          </a:prstGeom>
        </p:spPr>
      </p:pic>
      <p:sp>
        <p:nvSpPr>
          <p:cNvPr id="73" name="TextBox 49">
            <a:extLst>
              <a:ext uri="{FF2B5EF4-FFF2-40B4-BE49-F238E27FC236}">
                <a16:creationId xmlns:a16="http://schemas.microsoft.com/office/drawing/2014/main" id="{0907D58A-08B4-8FEA-55B9-F52996672FB4}"/>
              </a:ext>
            </a:extLst>
          </p:cNvPr>
          <p:cNvSpPr txBox="1"/>
          <p:nvPr/>
        </p:nvSpPr>
        <p:spPr>
          <a:xfrm>
            <a:off x="922142" y="1564768"/>
            <a:ext cx="5367126" cy="600164"/>
          </a:xfrm>
          <a:prstGeom prst="rect">
            <a:avLst/>
          </a:prstGeom>
          <a:noFill/>
        </p:spPr>
        <p:txBody>
          <a:bodyPr wrap="square">
            <a:spAutoFit/>
          </a:bodyPr>
          <a:lstStyle/>
          <a:p>
            <a:pPr lvl="0" eaLnBrk="0" fontAlgn="base" hangingPunct="0">
              <a:spcBef>
                <a:spcPct val="0"/>
              </a:spcBef>
              <a:spcAft>
                <a:spcPct val="0"/>
              </a:spcAft>
              <a:buClrTx/>
            </a:pPr>
            <a:r>
              <a:rPr lang="en-US" altLang="en-US" sz="1100" b="1" dirty="0">
                <a:solidFill>
                  <a:srgbClr val="00B050"/>
                </a:solidFill>
                <a:latin typeface="+mn-lt"/>
              </a:rPr>
              <a:t>This solution meets the requirements.</a:t>
            </a:r>
            <a:r>
              <a:rPr lang="en-US" altLang="en-US" sz="1100" dirty="0">
                <a:solidFill>
                  <a:schemeClr val="tx1">
                    <a:lumMod val="65000"/>
                    <a:lumOff val="35000"/>
                  </a:schemeClr>
                </a:solidFill>
                <a:latin typeface="+mn-lt"/>
              </a:rPr>
              <a:t>, as sufficient energy is available during the winter months to reliably meet the operational power requirements.</a:t>
            </a:r>
          </a:p>
        </p:txBody>
      </p:sp>
      <p:cxnSp>
        <p:nvCxnSpPr>
          <p:cNvPr id="80" name="Straight Connector 50">
            <a:extLst>
              <a:ext uri="{FF2B5EF4-FFF2-40B4-BE49-F238E27FC236}">
                <a16:creationId xmlns:a16="http://schemas.microsoft.com/office/drawing/2014/main" id="{ABA0151D-37DA-7C96-E85D-D9B404858B13}"/>
              </a:ext>
            </a:extLst>
          </p:cNvPr>
          <p:cNvCxnSpPr>
            <a:cxnSpLocks/>
          </p:cNvCxnSpPr>
          <p:nvPr/>
        </p:nvCxnSpPr>
        <p:spPr>
          <a:xfrm>
            <a:off x="943725" y="2209802"/>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5" name="Graphic 84">
            <a:extLst>
              <a:ext uri="{FF2B5EF4-FFF2-40B4-BE49-F238E27FC236}">
                <a16:creationId xmlns:a16="http://schemas.microsoft.com/office/drawing/2014/main" id="{CD5867EC-DB5A-AF6B-729C-739706F337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423" y="2347393"/>
            <a:ext cx="195719" cy="195719"/>
          </a:xfrm>
          <a:prstGeom prst="rect">
            <a:avLst/>
          </a:prstGeom>
        </p:spPr>
      </p:pic>
      <p:sp>
        <p:nvSpPr>
          <p:cNvPr id="86" name="TextBox 49">
            <a:extLst>
              <a:ext uri="{FF2B5EF4-FFF2-40B4-BE49-F238E27FC236}">
                <a16:creationId xmlns:a16="http://schemas.microsoft.com/office/drawing/2014/main" id="{CF81ECE2-936F-A9C3-4D19-521E76F656C6}"/>
              </a:ext>
            </a:extLst>
          </p:cNvPr>
          <p:cNvSpPr txBox="1"/>
          <p:nvPr/>
        </p:nvSpPr>
        <p:spPr>
          <a:xfrm>
            <a:off x="922142" y="2307989"/>
            <a:ext cx="5367126" cy="600164"/>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The 55 kVA connection has limited capacity. If the rated load is exceeded, the fuses may trip and interrupt the connection. It is therefore important to ensure that the load is evenly distributed across all three phases.</a:t>
            </a:r>
          </a:p>
        </p:txBody>
      </p:sp>
      <p:cxnSp>
        <p:nvCxnSpPr>
          <p:cNvPr id="87" name="Straight Connector 50">
            <a:extLst>
              <a:ext uri="{FF2B5EF4-FFF2-40B4-BE49-F238E27FC236}">
                <a16:creationId xmlns:a16="http://schemas.microsoft.com/office/drawing/2014/main" id="{973F1982-FE39-B13D-31CE-FDC41EB6B03F}"/>
              </a:ext>
            </a:extLst>
          </p:cNvPr>
          <p:cNvCxnSpPr>
            <a:cxnSpLocks/>
          </p:cNvCxnSpPr>
          <p:nvPr/>
        </p:nvCxnSpPr>
        <p:spPr>
          <a:xfrm>
            <a:off x="922142" y="2908153"/>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8" name="Graphic 87">
            <a:extLst>
              <a:ext uri="{FF2B5EF4-FFF2-40B4-BE49-F238E27FC236}">
                <a16:creationId xmlns:a16="http://schemas.microsoft.com/office/drawing/2014/main" id="{6B55506E-EA7A-F8B8-3B70-716AB3E76F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8006" y="3056388"/>
            <a:ext cx="195719" cy="195719"/>
          </a:xfrm>
          <a:prstGeom prst="rect">
            <a:avLst/>
          </a:prstGeom>
        </p:spPr>
      </p:pic>
      <p:sp>
        <p:nvSpPr>
          <p:cNvPr id="89" name="TextBox 49">
            <a:extLst>
              <a:ext uri="{FF2B5EF4-FFF2-40B4-BE49-F238E27FC236}">
                <a16:creationId xmlns:a16="http://schemas.microsoft.com/office/drawing/2014/main" id="{CFA3C39D-E691-51EF-9891-82F0476CC4A3}"/>
              </a:ext>
            </a:extLst>
          </p:cNvPr>
          <p:cNvSpPr txBox="1"/>
          <p:nvPr/>
        </p:nvSpPr>
        <p:spPr>
          <a:xfrm>
            <a:off x="943725" y="3016984"/>
            <a:ext cx="5367126" cy="769441"/>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If the 55 kVA connection is operated as a grid-forming source, this introduces additional operational risk. Sudden load steps, phase imbalances, or transient events would need to be accommodated within the limited capacity of the connection.</a:t>
            </a:r>
          </a:p>
        </p:txBody>
      </p:sp>
      <p:cxnSp>
        <p:nvCxnSpPr>
          <p:cNvPr id="90" name="Straight Connector 50">
            <a:extLst>
              <a:ext uri="{FF2B5EF4-FFF2-40B4-BE49-F238E27FC236}">
                <a16:creationId xmlns:a16="http://schemas.microsoft.com/office/drawing/2014/main" id="{518499D0-7A8D-45E1-ACF3-633E4332193A}"/>
              </a:ext>
            </a:extLst>
          </p:cNvPr>
          <p:cNvCxnSpPr>
            <a:cxnSpLocks/>
          </p:cNvCxnSpPr>
          <p:nvPr/>
        </p:nvCxnSpPr>
        <p:spPr>
          <a:xfrm>
            <a:off x="943725" y="3771049"/>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1" name="Graphic 90">
            <a:extLst>
              <a:ext uri="{FF2B5EF4-FFF2-40B4-BE49-F238E27FC236}">
                <a16:creationId xmlns:a16="http://schemas.microsoft.com/office/drawing/2014/main" id="{5A07651B-6F74-6CF8-7E4A-3652169F14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6423" y="3954384"/>
            <a:ext cx="195719" cy="195719"/>
          </a:xfrm>
          <a:prstGeom prst="rect">
            <a:avLst/>
          </a:prstGeom>
        </p:spPr>
      </p:pic>
      <p:sp>
        <p:nvSpPr>
          <p:cNvPr id="92" name="TextBox 49">
            <a:extLst>
              <a:ext uri="{FF2B5EF4-FFF2-40B4-BE49-F238E27FC236}">
                <a16:creationId xmlns:a16="http://schemas.microsoft.com/office/drawing/2014/main" id="{88932274-A987-660F-FCD7-630D3FA0A427}"/>
              </a:ext>
            </a:extLst>
          </p:cNvPr>
          <p:cNvSpPr txBox="1"/>
          <p:nvPr/>
        </p:nvSpPr>
        <p:spPr>
          <a:xfrm>
            <a:off x="922142" y="3914980"/>
            <a:ext cx="5367126" cy="600164"/>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In the event of a grid outage, the 500 kVA generator is capable of accommodating the peak load demand and can therefore function as an emergency power supply.</a:t>
            </a:r>
          </a:p>
        </p:txBody>
      </p:sp>
      <p:cxnSp>
        <p:nvCxnSpPr>
          <p:cNvPr id="93" name="Straight Connector 50">
            <a:extLst>
              <a:ext uri="{FF2B5EF4-FFF2-40B4-BE49-F238E27FC236}">
                <a16:creationId xmlns:a16="http://schemas.microsoft.com/office/drawing/2014/main" id="{B00DA9CB-B5AC-56D1-2CC5-5F22134D1B3F}"/>
              </a:ext>
            </a:extLst>
          </p:cNvPr>
          <p:cNvCxnSpPr>
            <a:cxnSpLocks/>
          </p:cNvCxnSpPr>
          <p:nvPr/>
        </p:nvCxnSpPr>
        <p:spPr>
          <a:xfrm>
            <a:off x="922142" y="4669045"/>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4" name="Rectangle 19">
            <a:extLst>
              <a:ext uri="{FF2B5EF4-FFF2-40B4-BE49-F238E27FC236}">
                <a16:creationId xmlns:a16="http://schemas.microsoft.com/office/drawing/2014/main" id="{1E4975EE-F2E2-7E37-B8AE-D66FCD46D465}"/>
              </a:ext>
            </a:extLst>
          </p:cNvPr>
          <p:cNvSpPr/>
          <p:nvPr/>
        </p:nvSpPr>
        <p:spPr>
          <a:xfrm>
            <a:off x="6819112" y="882792"/>
            <a:ext cx="3221686"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ea typeface="Calibri" pitchFamily="34" charset="-122"/>
                <a:cs typeface="Calibri" pitchFamily="34" charset="-120"/>
              </a:rPr>
              <a:t>Operational risks</a:t>
            </a:r>
          </a:p>
        </p:txBody>
      </p:sp>
      <p:sp>
        <p:nvSpPr>
          <p:cNvPr id="95" name="Right Triangle 20">
            <a:extLst>
              <a:ext uri="{FF2B5EF4-FFF2-40B4-BE49-F238E27FC236}">
                <a16:creationId xmlns:a16="http://schemas.microsoft.com/office/drawing/2014/main" id="{03E0CFA3-E9C1-CD00-68A2-AECC5E4F5427}"/>
              </a:ext>
            </a:extLst>
          </p:cNvPr>
          <p:cNvSpPr/>
          <p:nvPr/>
        </p:nvSpPr>
        <p:spPr>
          <a:xfrm flipH="1" flipV="1">
            <a:off x="6819112" y="1269888"/>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111;p14">
            <a:extLst>
              <a:ext uri="{FF2B5EF4-FFF2-40B4-BE49-F238E27FC236}">
                <a16:creationId xmlns:a16="http://schemas.microsoft.com/office/drawing/2014/main" id="{2E3731DD-54B9-035F-4BC4-C2FB4039006F}"/>
              </a:ext>
            </a:extLst>
          </p:cNvPr>
          <p:cNvSpPr txBox="1"/>
          <p:nvPr/>
        </p:nvSpPr>
        <p:spPr>
          <a:xfrm>
            <a:off x="748006" y="5534994"/>
            <a:ext cx="5367125" cy="78479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nl-NL" sz="1000" dirty="0" err="1">
                <a:solidFill>
                  <a:srgbClr val="064A71"/>
                </a:solidFill>
                <a:latin typeface="Poppins Light"/>
                <a:cs typeface="Poppins Light"/>
                <a:sym typeface="Poppins"/>
              </a:rPr>
              <a:t>Note</a:t>
            </a:r>
            <a:r>
              <a:rPr lang="nl-NL" sz="1000" dirty="0">
                <a:solidFill>
                  <a:srgbClr val="064A71"/>
                </a:solidFill>
                <a:latin typeface="Poppins Light"/>
                <a:cs typeface="Poppins Light"/>
                <a:sym typeface="Poppins"/>
              </a:rPr>
              <a:t>: </a:t>
            </a:r>
            <a:r>
              <a:rPr lang="en-US" sz="1000" dirty="0">
                <a:solidFill>
                  <a:srgbClr val="064A71"/>
                </a:solidFill>
                <a:latin typeface="Poppins Light"/>
                <a:cs typeface="Poppins Light"/>
                <a:sym typeface="Poppins"/>
              </a:rPr>
              <a:t>EMS settings are essential for determining how an energy system will respond. Bluepeak has only checked whether sufficient energy is available during the different seasons.</a:t>
            </a:r>
            <a:endParaRPr sz="1000" dirty="0">
              <a:solidFill>
                <a:srgbClr val="064A71"/>
              </a:solidFill>
              <a:latin typeface="Poppins Light"/>
              <a:cs typeface="Poppins Light"/>
              <a:sym typeface="Poppins Light"/>
            </a:endParaRPr>
          </a:p>
        </p:txBody>
      </p:sp>
      <p:sp>
        <p:nvSpPr>
          <p:cNvPr id="2" name="Tekstvak 1">
            <a:extLst>
              <a:ext uri="{FF2B5EF4-FFF2-40B4-BE49-F238E27FC236}">
                <a16:creationId xmlns:a16="http://schemas.microsoft.com/office/drawing/2014/main" id="{DA926D5A-4491-6D5F-AD1E-C78832368B9B}"/>
              </a:ext>
            </a:extLst>
          </p:cNvPr>
          <p:cNvSpPr txBox="1"/>
          <p:nvPr/>
        </p:nvSpPr>
        <p:spPr>
          <a:xfrm>
            <a:off x="7025776" y="1219830"/>
            <a:ext cx="4439801" cy="3816429"/>
          </a:xfrm>
          <a:prstGeom prst="rect">
            <a:avLst/>
          </a:prstGeom>
          <a:noFill/>
          <a:ln>
            <a:solidFill>
              <a:srgbClr val="034C81"/>
            </a:solidFill>
          </a:ln>
        </p:spPr>
        <p:txBody>
          <a:bodyPr wrap="square">
            <a:spAutoFit/>
          </a:bodyPr>
          <a:lstStyle/>
          <a:p>
            <a:endParaRPr lang="en-US" sz="1100" b="1">
              <a:solidFill>
                <a:schemeClr val="tx1">
                  <a:lumMod val="65000"/>
                  <a:lumOff val="35000"/>
                </a:schemeClr>
              </a:solidFill>
              <a:latin typeface="+mn-lt"/>
            </a:endParaRPr>
          </a:p>
          <a:p>
            <a:r>
              <a:rPr lang="en-US" sz="1100" b="1">
                <a:solidFill>
                  <a:schemeClr val="tx1">
                    <a:lumMod val="65000"/>
                    <a:lumOff val="35000"/>
                  </a:schemeClr>
                </a:solidFill>
                <a:latin typeface="+mn-lt"/>
              </a:rPr>
              <a:t>Connection limitations and operating concept</a:t>
            </a:r>
          </a:p>
          <a:p>
            <a:r>
              <a:rPr lang="en-US" sz="1100">
                <a:solidFill>
                  <a:schemeClr val="tx1">
                    <a:lumMod val="65000"/>
                    <a:lumOff val="35000"/>
                  </a:schemeClr>
                </a:solidFill>
                <a:latin typeface="+mn-lt"/>
              </a:rPr>
              <a:t>The 55 kVA grid connection has limited operational tolerance and may trip if voltage, current, or phase imbalance limits are exceeded. Operating this connection in grid-forming mode increases the associated risk, as the connection would need to absorb load steps, inrush currents, and phase imbalances within a very limited capacity margin.</a:t>
            </a:r>
          </a:p>
          <a:p>
            <a:endParaRPr lang="en-US" sz="1100">
              <a:solidFill>
                <a:schemeClr val="tx1">
                  <a:lumMod val="65000"/>
                  <a:lumOff val="35000"/>
                </a:schemeClr>
              </a:solidFill>
              <a:latin typeface="+mn-lt"/>
            </a:endParaRPr>
          </a:p>
          <a:p>
            <a:r>
              <a:rPr lang="en-US" sz="1100">
                <a:solidFill>
                  <a:schemeClr val="tx1">
                    <a:lumMod val="65000"/>
                    <a:lumOff val="35000"/>
                  </a:schemeClr>
                </a:solidFill>
                <a:latin typeface="+mn-lt"/>
              </a:rPr>
              <a:t>A more robust configuration is to operate the BESS in grid-forming mode, providing local stabilization of voltage and frequency, while the 55 kVA connection remains in grid-following mode and operates within a defined power limit. This approach reduces operational stress on the grid connection and significantly lowers the risk of fuse tripping.</a:t>
            </a:r>
          </a:p>
          <a:p>
            <a:endParaRPr lang="en-US" sz="1100">
              <a:solidFill>
                <a:schemeClr val="tx1">
                  <a:lumMod val="65000"/>
                  <a:lumOff val="35000"/>
                </a:schemeClr>
              </a:solidFill>
              <a:latin typeface="+mn-lt"/>
            </a:endParaRPr>
          </a:p>
          <a:p>
            <a:r>
              <a:rPr lang="en-US" sz="1100" b="1">
                <a:solidFill>
                  <a:schemeClr val="tx1">
                    <a:lumMod val="65000"/>
                    <a:lumOff val="35000"/>
                  </a:schemeClr>
                </a:solidFill>
                <a:latin typeface="+mn-lt"/>
              </a:rPr>
              <a:t>BESS sizing option</a:t>
            </a:r>
          </a:p>
          <a:p>
            <a:r>
              <a:rPr lang="en-US" sz="1100">
                <a:solidFill>
                  <a:schemeClr val="tx1">
                    <a:lumMod val="65000"/>
                    <a:lumOff val="35000"/>
                  </a:schemeClr>
                </a:solidFill>
                <a:latin typeface="+mn-lt"/>
              </a:rPr>
              <a:t>For the [Y] consumption profile, a smaller BESS configuration of 500 kVA / 1,000 kWh is technically feasible. In this configuration, generator utilization is expected to increase to approximately 46.2 MWh, while PV curtailment is projected to increase by approximately 5%.</a:t>
            </a:r>
          </a:p>
        </p:txBody>
      </p:sp>
    </p:spTree>
    <p:extLst>
      <p:ext uri="{BB962C8B-B14F-4D97-AF65-F5344CB8AC3E}">
        <p14:creationId xmlns:p14="http://schemas.microsoft.com/office/powerpoint/2010/main" val="1049329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0318D-3AD5-24F7-5876-18F734E4D976}"/>
            </a:ext>
          </a:extLst>
        </p:cNvPr>
        <p:cNvGrpSpPr/>
        <p:nvPr/>
      </p:nvGrpSpPr>
      <p:grpSpPr>
        <a:xfrm>
          <a:off x="0" y="0"/>
          <a:ext cx="0" cy="0"/>
          <a:chOff x="0" y="0"/>
          <a:chExt cx="0" cy="0"/>
        </a:xfrm>
      </p:grpSpPr>
      <p:sp>
        <p:nvSpPr>
          <p:cNvPr id="48" name="Shape 6">
            <a:extLst>
              <a:ext uri="{FF2B5EF4-FFF2-40B4-BE49-F238E27FC236}">
                <a16:creationId xmlns:a16="http://schemas.microsoft.com/office/drawing/2014/main" id="{EB50D0DB-9C08-4385-43A3-2FE059C9FBF6}"/>
              </a:ext>
            </a:extLst>
          </p:cNvPr>
          <p:cNvSpPr/>
          <p:nvPr/>
        </p:nvSpPr>
        <p:spPr>
          <a:xfrm>
            <a:off x="825659" y="1327416"/>
            <a:ext cx="6704417" cy="5165454"/>
          </a:xfrm>
          <a:prstGeom prst="rect">
            <a:avLst/>
          </a:prstGeom>
          <a:solidFill>
            <a:srgbClr val="F4F7FA"/>
          </a:solidFill>
          <a:ln/>
          <a:effectLst>
            <a:outerShdw blurRad="50800" dist="12700" dir="8100000" algn="bl" rotWithShape="0">
              <a:srgbClr val="000000">
                <a:alpha val="8000"/>
              </a:srgbClr>
            </a:outerShdw>
          </a:effectLst>
        </p:spPr>
        <p:txBody>
          <a:bodyPr/>
          <a:lstStyle/>
          <a:p>
            <a:endParaRPr lang="en-US" sz="1867"/>
          </a:p>
        </p:txBody>
      </p:sp>
      <p:sp>
        <p:nvSpPr>
          <p:cNvPr id="20" name="Rectangle 19">
            <a:extLst>
              <a:ext uri="{FF2B5EF4-FFF2-40B4-BE49-F238E27FC236}">
                <a16:creationId xmlns:a16="http://schemas.microsoft.com/office/drawing/2014/main" id="{69CCB1AD-6BAE-5F64-1EC9-E5E8EDE6568F}"/>
              </a:ext>
            </a:extLst>
          </p:cNvPr>
          <p:cNvSpPr/>
          <p:nvPr/>
        </p:nvSpPr>
        <p:spPr>
          <a:xfrm>
            <a:off x="618995" y="1076340"/>
            <a:ext cx="3221686"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ea typeface="Calibri" pitchFamily="34" charset="-122"/>
                <a:cs typeface="Calibri" pitchFamily="34" charset="-120"/>
              </a:rPr>
              <a:t>Considerations</a:t>
            </a:r>
            <a:endParaRPr lang="en-US">
              <a:solidFill>
                <a:schemeClr val="bg1"/>
              </a:solidFill>
              <a:latin typeface="+mj-lt"/>
            </a:endParaRPr>
          </a:p>
        </p:txBody>
      </p:sp>
      <p:sp>
        <p:nvSpPr>
          <p:cNvPr id="21" name="Right Triangle 20">
            <a:extLst>
              <a:ext uri="{FF2B5EF4-FFF2-40B4-BE49-F238E27FC236}">
                <a16:creationId xmlns:a16="http://schemas.microsoft.com/office/drawing/2014/main" id="{195A6C16-6F98-F074-93A7-37C6E41EFF1B}"/>
              </a:ext>
            </a:extLst>
          </p:cNvPr>
          <p:cNvSpPr/>
          <p:nvPr/>
        </p:nvSpPr>
        <p:spPr>
          <a:xfrm flipH="1" flipV="1">
            <a:off x="618995" y="1463436"/>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4">
            <a:extLst>
              <a:ext uri="{FF2B5EF4-FFF2-40B4-BE49-F238E27FC236}">
                <a16:creationId xmlns:a16="http://schemas.microsoft.com/office/drawing/2014/main" id="{C91AAE0E-A54E-122C-EA4B-15B420D3B6FC}"/>
              </a:ext>
            </a:extLst>
          </p:cNvPr>
          <p:cNvSpPr/>
          <p:nvPr/>
        </p:nvSpPr>
        <p:spPr>
          <a:xfrm>
            <a:off x="609600" y="548640"/>
            <a:ext cx="8534400" cy="487680"/>
          </a:xfrm>
          <a:prstGeom prst="rect">
            <a:avLst/>
          </a:prstGeom>
          <a:noFill/>
          <a:ln/>
        </p:spPr>
        <p:txBody>
          <a:bodyPr wrap="square" lIns="0" tIns="0" rIns="0" bIns="0" rtlCol="0" anchor="ctr"/>
          <a:lstStyle/>
          <a:p>
            <a:endParaRPr lang="en-US" sz="2933"/>
          </a:p>
        </p:txBody>
      </p:sp>
      <p:sp>
        <p:nvSpPr>
          <p:cNvPr id="7" name="Text 5">
            <a:extLst>
              <a:ext uri="{FF2B5EF4-FFF2-40B4-BE49-F238E27FC236}">
                <a16:creationId xmlns:a16="http://schemas.microsoft.com/office/drawing/2014/main" id="{0403D7F2-B1FF-A8D0-39C8-FCD3A71D96CE}"/>
              </a:ext>
            </a:extLst>
          </p:cNvPr>
          <p:cNvSpPr/>
          <p:nvPr/>
        </p:nvSpPr>
        <p:spPr>
          <a:xfrm>
            <a:off x="609600" y="1332626"/>
            <a:ext cx="9753600" cy="304800"/>
          </a:xfrm>
          <a:prstGeom prst="rect">
            <a:avLst/>
          </a:prstGeom>
          <a:noFill/>
          <a:ln/>
        </p:spPr>
        <p:txBody>
          <a:bodyPr wrap="square" lIns="0" tIns="0" rIns="0" bIns="0" rtlCol="0" anchor="ctr"/>
          <a:lstStyle/>
          <a:p>
            <a:endParaRPr lang="en-US" sz="1333"/>
          </a:p>
        </p:txBody>
      </p:sp>
      <p:sp>
        <p:nvSpPr>
          <p:cNvPr id="18" name="Title 17">
            <a:extLst>
              <a:ext uri="{FF2B5EF4-FFF2-40B4-BE49-F238E27FC236}">
                <a16:creationId xmlns:a16="http://schemas.microsoft.com/office/drawing/2014/main" id="{5C3BD16B-3EA1-EE09-4637-A096DFC44D79}"/>
              </a:ext>
            </a:extLst>
          </p:cNvPr>
          <p:cNvSpPr>
            <a:spLocks noGrp="1"/>
          </p:cNvSpPr>
          <p:nvPr>
            <p:ph type="title"/>
          </p:nvPr>
        </p:nvSpPr>
        <p:spPr/>
        <p:txBody>
          <a:bodyPr/>
          <a:lstStyle/>
          <a:p>
            <a:r>
              <a:rPr lang="en-US"/>
              <a:t> Remarks and appendices</a:t>
            </a:r>
          </a:p>
        </p:txBody>
      </p:sp>
      <p:pic>
        <p:nvPicPr>
          <p:cNvPr id="49" name="Graphic 48">
            <a:extLst>
              <a:ext uri="{FF2B5EF4-FFF2-40B4-BE49-F238E27FC236}">
                <a16:creationId xmlns:a16="http://schemas.microsoft.com/office/drawing/2014/main" id="{1F65249F-A81F-0AE7-9F6E-60866DFBC5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1058" y="1621548"/>
            <a:ext cx="195719" cy="195719"/>
          </a:xfrm>
          <a:prstGeom prst="rect">
            <a:avLst/>
          </a:prstGeom>
        </p:spPr>
      </p:pic>
      <p:sp>
        <p:nvSpPr>
          <p:cNvPr id="50" name="TextBox 49">
            <a:extLst>
              <a:ext uri="{FF2B5EF4-FFF2-40B4-BE49-F238E27FC236}">
                <a16:creationId xmlns:a16="http://schemas.microsoft.com/office/drawing/2014/main" id="{CED8F055-C040-143E-CB5C-B89017D5FB72}"/>
              </a:ext>
            </a:extLst>
          </p:cNvPr>
          <p:cNvSpPr txBox="1"/>
          <p:nvPr/>
        </p:nvSpPr>
        <p:spPr>
          <a:xfrm>
            <a:off x="1136776" y="1595259"/>
            <a:ext cx="6372280" cy="600164"/>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Additional scenarios with a larger BESS and an expanded solar PV system were briefly evaluated. These options result in substantially higher CAPEX, while providing only limited improvement in the local energy utilization profile.</a:t>
            </a:r>
          </a:p>
        </p:txBody>
      </p:sp>
      <p:cxnSp>
        <p:nvCxnSpPr>
          <p:cNvPr id="51" name="Straight Connector 50">
            <a:extLst>
              <a:ext uri="{FF2B5EF4-FFF2-40B4-BE49-F238E27FC236}">
                <a16:creationId xmlns:a16="http://schemas.microsoft.com/office/drawing/2014/main" id="{2C550464-D183-C2D7-32A9-493DD4BC7D41}"/>
              </a:ext>
            </a:extLst>
          </p:cNvPr>
          <p:cNvCxnSpPr>
            <a:cxnSpLocks/>
          </p:cNvCxnSpPr>
          <p:nvPr/>
        </p:nvCxnSpPr>
        <p:spPr>
          <a:xfrm>
            <a:off x="1136777" y="2244046"/>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Shape 6">
            <a:extLst>
              <a:ext uri="{FF2B5EF4-FFF2-40B4-BE49-F238E27FC236}">
                <a16:creationId xmlns:a16="http://schemas.microsoft.com/office/drawing/2014/main" id="{79B24077-F011-80B0-FA5D-89D365778F60}"/>
              </a:ext>
            </a:extLst>
          </p:cNvPr>
          <p:cNvSpPr/>
          <p:nvPr/>
        </p:nvSpPr>
        <p:spPr>
          <a:xfrm>
            <a:off x="8232588" y="1335454"/>
            <a:ext cx="3519803" cy="1170672"/>
          </a:xfrm>
          <a:prstGeom prst="rect">
            <a:avLst/>
          </a:prstGeom>
          <a:solidFill>
            <a:srgbClr val="F4F7FA"/>
          </a:solidFill>
          <a:ln/>
          <a:effectLst>
            <a:outerShdw blurRad="50800" dist="12700" dir="8100000" algn="bl" rotWithShape="0">
              <a:srgbClr val="000000">
                <a:alpha val="8000"/>
              </a:srgbClr>
            </a:outerShdw>
          </a:effectLst>
        </p:spPr>
        <p:txBody>
          <a:bodyPr/>
          <a:lstStyle/>
          <a:p>
            <a:endParaRPr lang="en-US" sz="1867"/>
          </a:p>
        </p:txBody>
      </p:sp>
      <p:sp>
        <p:nvSpPr>
          <p:cNvPr id="27" name="Rectangle 22">
            <a:extLst>
              <a:ext uri="{FF2B5EF4-FFF2-40B4-BE49-F238E27FC236}">
                <a16:creationId xmlns:a16="http://schemas.microsoft.com/office/drawing/2014/main" id="{887F9A92-CBC6-5B8D-A91A-7707A9B59358}"/>
              </a:ext>
            </a:extLst>
          </p:cNvPr>
          <p:cNvSpPr/>
          <p:nvPr/>
        </p:nvSpPr>
        <p:spPr>
          <a:xfrm>
            <a:off x="8029143" y="1078623"/>
            <a:ext cx="1718622" cy="38709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216000" rtlCol="0" anchor="ctr"/>
          <a:lstStyle/>
          <a:p>
            <a:r>
              <a:rPr lang="en-US" b="1">
                <a:solidFill>
                  <a:schemeClr val="bg1"/>
                </a:solidFill>
                <a:latin typeface="+mj-lt"/>
                <a:cs typeface="Calibri" pitchFamily="34" charset="-120"/>
                <a:sym typeface="Poppins Light"/>
              </a:rPr>
              <a:t>Attachments</a:t>
            </a:r>
          </a:p>
        </p:txBody>
      </p:sp>
      <p:sp>
        <p:nvSpPr>
          <p:cNvPr id="30" name="Right Triangle 23">
            <a:extLst>
              <a:ext uri="{FF2B5EF4-FFF2-40B4-BE49-F238E27FC236}">
                <a16:creationId xmlns:a16="http://schemas.microsoft.com/office/drawing/2014/main" id="{BDEF1B74-DCD1-2787-7054-BD6535B40CA0}"/>
              </a:ext>
            </a:extLst>
          </p:cNvPr>
          <p:cNvSpPr/>
          <p:nvPr/>
        </p:nvSpPr>
        <p:spPr>
          <a:xfrm flipH="1" flipV="1">
            <a:off x="8029143" y="1465719"/>
            <a:ext cx="206664" cy="242098"/>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a:extLst>
              <a:ext uri="{FF2B5EF4-FFF2-40B4-BE49-F238E27FC236}">
                <a16:creationId xmlns:a16="http://schemas.microsoft.com/office/drawing/2014/main" id="{4165243D-6B96-89BA-1ADA-66B65EC4D8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47987" y="1629585"/>
            <a:ext cx="195719" cy="195719"/>
          </a:xfrm>
          <a:prstGeom prst="rect">
            <a:avLst/>
          </a:prstGeom>
        </p:spPr>
      </p:pic>
      <p:sp>
        <p:nvSpPr>
          <p:cNvPr id="36" name="TextBox 49">
            <a:extLst>
              <a:ext uri="{FF2B5EF4-FFF2-40B4-BE49-F238E27FC236}">
                <a16:creationId xmlns:a16="http://schemas.microsoft.com/office/drawing/2014/main" id="{25135C8F-64EC-7B7E-E76E-1480230B0BF6}"/>
              </a:ext>
            </a:extLst>
          </p:cNvPr>
          <p:cNvSpPr txBox="1"/>
          <p:nvPr/>
        </p:nvSpPr>
        <p:spPr>
          <a:xfrm>
            <a:off x="8755894" y="1590182"/>
            <a:ext cx="3734657" cy="261610"/>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Energy load profile [X] (.xlsx)</a:t>
            </a:r>
          </a:p>
        </p:txBody>
      </p:sp>
      <p:cxnSp>
        <p:nvCxnSpPr>
          <p:cNvPr id="37" name="Straight Connector 50">
            <a:extLst>
              <a:ext uri="{FF2B5EF4-FFF2-40B4-BE49-F238E27FC236}">
                <a16:creationId xmlns:a16="http://schemas.microsoft.com/office/drawing/2014/main" id="{A1DEAE94-3BCA-28B8-9709-56669308B393}"/>
              </a:ext>
            </a:extLst>
          </p:cNvPr>
          <p:cNvCxnSpPr>
            <a:cxnSpLocks/>
          </p:cNvCxnSpPr>
          <p:nvPr/>
        </p:nvCxnSpPr>
        <p:spPr>
          <a:xfrm>
            <a:off x="8755895" y="1918734"/>
            <a:ext cx="283831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8" name="Graphic 37">
            <a:extLst>
              <a:ext uri="{FF2B5EF4-FFF2-40B4-BE49-F238E27FC236}">
                <a16:creationId xmlns:a16="http://schemas.microsoft.com/office/drawing/2014/main" id="{691C0327-59F4-E854-98EC-E2F33CB3B6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47986" y="2061648"/>
            <a:ext cx="195719" cy="195719"/>
          </a:xfrm>
          <a:prstGeom prst="rect">
            <a:avLst/>
          </a:prstGeom>
        </p:spPr>
      </p:pic>
      <p:sp>
        <p:nvSpPr>
          <p:cNvPr id="39" name="TextBox 49">
            <a:extLst>
              <a:ext uri="{FF2B5EF4-FFF2-40B4-BE49-F238E27FC236}">
                <a16:creationId xmlns:a16="http://schemas.microsoft.com/office/drawing/2014/main" id="{0282FC46-B232-767B-AEAC-46991BE46232}"/>
              </a:ext>
            </a:extLst>
          </p:cNvPr>
          <p:cNvSpPr txBox="1"/>
          <p:nvPr/>
        </p:nvSpPr>
        <p:spPr>
          <a:xfrm>
            <a:off x="8755893" y="2022245"/>
            <a:ext cx="3734657" cy="261610"/>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Energy load profile [Y] 2(.xlsx</a:t>
            </a:r>
            <a:endParaRPr lang="pl-PL" altLang="en-US" sz="1100">
              <a:solidFill>
                <a:schemeClr val="tx1">
                  <a:lumMod val="65000"/>
                  <a:lumOff val="35000"/>
                </a:schemeClr>
              </a:solidFill>
              <a:latin typeface="+mn-lt"/>
            </a:endParaRPr>
          </a:p>
        </p:txBody>
      </p:sp>
      <p:cxnSp>
        <p:nvCxnSpPr>
          <p:cNvPr id="40" name="Straight Connector 50">
            <a:extLst>
              <a:ext uri="{FF2B5EF4-FFF2-40B4-BE49-F238E27FC236}">
                <a16:creationId xmlns:a16="http://schemas.microsoft.com/office/drawing/2014/main" id="{D53D47D2-3439-7337-4845-C883020C05BA}"/>
              </a:ext>
            </a:extLst>
          </p:cNvPr>
          <p:cNvCxnSpPr>
            <a:cxnSpLocks/>
          </p:cNvCxnSpPr>
          <p:nvPr/>
        </p:nvCxnSpPr>
        <p:spPr>
          <a:xfrm>
            <a:off x="8755894" y="2350797"/>
            <a:ext cx="2838320" cy="5021"/>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33CAC5C9-9DAA-0DDB-C4A9-B913421190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1058" y="2379824"/>
            <a:ext cx="195719" cy="195719"/>
          </a:xfrm>
          <a:prstGeom prst="rect">
            <a:avLst/>
          </a:prstGeom>
        </p:spPr>
      </p:pic>
      <p:sp>
        <p:nvSpPr>
          <p:cNvPr id="10" name="TextBox 49">
            <a:extLst>
              <a:ext uri="{FF2B5EF4-FFF2-40B4-BE49-F238E27FC236}">
                <a16:creationId xmlns:a16="http://schemas.microsoft.com/office/drawing/2014/main" id="{D9FF0066-1B6F-D79B-CC67-D76A52A00B17}"/>
              </a:ext>
            </a:extLst>
          </p:cNvPr>
          <p:cNvSpPr txBox="1"/>
          <p:nvPr/>
        </p:nvSpPr>
        <p:spPr>
          <a:xfrm>
            <a:off x="1136776" y="2353535"/>
            <a:ext cx="6357651" cy="430887"/>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Further optimization becomes financially viable only if the local consumption profile changes significantly and/or additional grid feed-in capacity becomes available.</a:t>
            </a:r>
          </a:p>
        </p:txBody>
      </p:sp>
      <p:cxnSp>
        <p:nvCxnSpPr>
          <p:cNvPr id="11" name="Straight Connector 50">
            <a:extLst>
              <a:ext uri="{FF2B5EF4-FFF2-40B4-BE49-F238E27FC236}">
                <a16:creationId xmlns:a16="http://schemas.microsoft.com/office/drawing/2014/main" id="{E8DD5E7E-BEB9-8CFB-A9F0-0ABFD219C5AC}"/>
              </a:ext>
            </a:extLst>
          </p:cNvPr>
          <p:cNvCxnSpPr>
            <a:cxnSpLocks/>
          </p:cNvCxnSpPr>
          <p:nvPr/>
        </p:nvCxnSpPr>
        <p:spPr>
          <a:xfrm>
            <a:off x="1136775" y="2806756"/>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A4BBB8E1-5F38-18E4-183D-10D3DC5697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1057" y="2968823"/>
            <a:ext cx="195719" cy="195719"/>
          </a:xfrm>
          <a:prstGeom prst="rect">
            <a:avLst/>
          </a:prstGeom>
        </p:spPr>
      </p:pic>
      <p:sp>
        <p:nvSpPr>
          <p:cNvPr id="14" name="TextBox 49">
            <a:extLst>
              <a:ext uri="{FF2B5EF4-FFF2-40B4-BE49-F238E27FC236}">
                <a16:creationId xmlns:a16="http://schemas.microsoft.com/office/drawing/2014/main" id="{C1AE39A2-3A4E-7986-7455-FA7146F29712}"/>
              </a:ext>
            </a:extLst>
          </p:cNvPr>
          <p:cNvSpPr txBox="1"/>
          <p:nvPr/>
        </p:nvSpPr>
        <p:spPr>
          <a:xfrm>
            <a:off x="1136775" y="2942534"/>
            <a:ext cx="6357651" cy="769441"/>
          </a:xfrm>
          <a:prstGeom prst="rect">
            <a:avLst/>
          </a:prstGeom>
          <a:noFill/>
        </p:spPr>
        <p:txBody>
          <a:bodyPr wrap="square" lIns="91440" tIns="45720" rIns="91440" bIns="45720" anchor="t">
            <a:spAutoFit/>
          </a:bodyPr>
          <a:lstStyle/>
          <a:p>
            <a:pPr>
              <a:spcBef>
                <a:spcPct val="0"/>
              </a:spcBef>
              <a:spcAft>
                <a:spcPct val="0"/>
              </a:spcAft>
            </a:pPr>
            <a:r>
              <a:rPr lang="en-US" sz="1100" dirty="0">
                <a:solidFill>
                  <a:schemeClr val="tx1">
                    <a:lumMod val="65000"/>
                    <a:lumOff val="35000"/>
                  </a:schemeClr>
                </a:solidFill>
                <a:latin typeface="+mn-lt"/>
                <a:cs typeface="Poppins Light"/>
              </a:rPr>
              <a:t>We note that, if desired, we can contribute to assessing the value of the locally consumed solar energy and the associated grid capacity utilized. Based on this assessment, it can be explored how this value can be translated into a transparent and workable arrangement or allocation mechanism with the tenant.</a:t>
            </a:r>
            <a:endParaRPr lang="en-US" dirty="0">
              <a:cs typeface="Poppins Light"/>
            </a:endParaRPr>
          </a:p>
        </p:txBody>
      </p:sp>
      <p:cxnSp>
        <p:nvCxnSpPr>
          <p:cNvPr id="15" name="Straight Connector 50">
            <a:extLst>
              <a:ext uri="{FF2B5EF4-FFF2-40B4-BE49-F238E27FC236}">
                <a16:creationId xmlns:a16="http://schemas.microsoft.com/office/drawing/2014/main" id="{1D5998BA-CBF9-2F91-20D8-21CA2F415C64}"/>
              </a:ext>
            </a:extLst>
          </p:cNvPr>
          <p:cNvCxnSpPr>
            <a:cxnSpLocks/>
          </p:cNvCxnSpPr>
          <p:nvPr/>
        </p:nvCxnSpPr>
        <p:spPr>
          <a:xfrm>
            <a:off x="1136775" y="3776596"/>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6B2B24BC-D907-24AD-761A-8AA96FD7FC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1056" y="3939819"/>
            <a:ext cx="195719" cy="195719"/>
          </a:xfrm>
          <a:prstGeom prst="rect">
            <a:avLst/>
          </a:prstGeom>
        </p:spPr>
      </p:pic>
      <p:sp>
        <p:nvSpPr>
          <p:cNvPr id="25" name="TextBox 49">
            <a:extLst>
              <a:ext uri="{FF2B5EF4-FFF2-40B4-BE49-F238E27FC236}">
                <a16:creationId xmlns:a16="http://schemas.microsoft.com/office/drawing/2014/main" id="{1D1731B3-0525-F15B-DAC3-9D37DE2BB397}"/>
              </a:ext>
            </a:extLst>
          </p:cNvPr>
          <p:cNvSpPr txBox="1"/>
          <p:nvPr/>
        </p:nvSpPr>
        <p:spPr>
          <a:xfrm>
            <a:off x="1136775" y="3913530"/>
            <a:ext cx="6357650" cy="600164"/>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The financial performance of the system is highly dependent on the local consumption profile. Changes in operational demand or additional electrified loads could significantly increase on-site utilization of solar generation and improve the overall business case.</a:t>
            </a:r>
          </a:p>
        </p:txBody>
      </p:sp>
      <p:cxnSp>
        <p:nvCxnSpPr>
          <p:cNvPr id="26" name="Straight Connector 50">
            <a:extLst>
              <a:ext uri="{FF2B5EF4-FFF2-40B4-BE49-F238E27FC236}">
                <a16:creationId xmlns:a16="http://schemas.microsoft.com/office/drawing/2014/main" id="{84DD2C89-B5EC-4B4C-CB56-059FACFBEF09}"/>
              </a:ext>
            </a:extLst>
          </p:cNvPr>
          <p:cNvCxnSpPr>
            <a:cxnSpLocks/>
          </p:cNvCxnSpPr>
          <p:nvPr/>
        </p:nvCxnSpPr>
        <p:spPr>
          <a:xfrm>
            <a:off x="1136773" y="4595196"/>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8" name="Graphic 27">
            <a:extLst>
              <a:ext uri="{FF2B5EF4-FFF2-40B4-BE49-F238E27FC236}">
                <a16:creationId xmlns:a16="http://schemas.microsoft.com/office/drawing/2014/main" id="{0E61CEDC-57C2-7057-D12C-5A2A928EA7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1056" y="4767827"/>
            <a:ext cx="195719" cy="195719"/>
          </a:xfrm>
          <a:prstGeom prst="rect">
            <a:avLst/>
          </a:prstGeom>
        </p:spPr>
      </p:pic>
      <p:sp>
        <p:nvSpPr>
          <p:cNvPr id="29" name="TextBox 49">
            <a:extLst>
              <a:ext uri="{FF2B5EF4-FFF2-40B4-BE49-F238E27FC236}">
                <a16:creationId xmlns:a16="http://schemas.microsoft.com/office/drawing/2014/main" id="{80737978-1D31-CE63-75DF-AF53F23AEDF0}"/>
              </a:ext>
            </a:extLst>
          </p:cNvPr>
          <p:cNvSpPr txBox="1"/>
          <p:nvPr/>
        </p:nvSpPr>
        <p:spPr>
          <a:xfrm>
            <a:off x="1136774" y="4741538"/>
            <a:ext cx="6357649" cy="600164"/>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The limited grid connection capacity remains a primary design constraint. System operation and component sizing should therefore prioritize local balancing of generation and demand to minimize overload risks and maintain operational stability.</a:t>
            </a:r>
          </a:p>
        </p:txBody>
      </p:sp>
      <p:cxnSp>
        <p:nvCxnSpPr>
          <p:cNvPr id="31" name="Straight Connector 50">
            <a:extLst>
              <a:ext uri="{FF2B5EF4-FFF2-40B4-BE49-F238E27FC236}">
                <a16:creationId xmlns:a16="http://schemas.microsoft.com/office/drawing/2014/main" id="{CE5B6E92-1DDC-CA87-6A92-7011138BAE64}"/>
              </a:ext>
            </a:extLst>
          </p:cNvPr>
          <p:cNvCxnSpPr>
            <a:cxnSpLocks/>
          </p:cNvCxnSpPr>
          <p:nvPr/>
        </p:nvCxnSpPr>
        <p:spPr>
          <a:xfrm>
            <a:off x="1136773" y="5514003"/>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2" name="Graphic 31">
            <a:extLst>
              <a:ext uri="{FF2B5EF4-FFF2-40B4-BE49-F238E27FC236}">
                <a16:creationId xmlns:a16="http://schemas.microsoft.com/office/drawing/2014/main" id="{50F88630-5E7D-DA5F-BA44-A35A163F35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1056" y="5674392"/>
            <a:ext cx="195719" cy="195719"/>
          </a:xfrm>
          <a:prstGeom prst="rect">
            <a:avLst/>
          </a:prstGeom>
        </p:spPr>
      </p:pic>
      <p:sp>
        <p:nvSpPr>
          <p:cNvPr id="34" name="TextBox 49">
            <a:extLst>
              <a:ext uri="{FF2B5EF4-FFF2-40B4-BE49-F238E27FC236}">
                <a16:creationId xmlns:a16="http://schemas.microsoft.com/office/drawing/2014/main" id="{363F92EC-8257-43A2-D93D-111F800FC75B}"/>
              </a:ext>
            </a:extLst>
          </p:cNvPr>
          <p:cNvSpPr txBox="1"/>
          <p:nvPr/>
        </p:nvSpPr>
        <p:spPr>
          <a:xfrm>
            <a:off x="1136775" y="5648103"/>
            <a:ext cx="6357648" cy="430887"/>
          </a:xfrm>
          <a:prstGeom prst="rect">
            <a:avLst/>
          </a:prstGeom>
          <a:noFill/>
        </p:spPr>
        <p:txBody>
          <a:bodyPr wrap="square">
            <a:spAutoFit/>
          </a:bodyPr>
          <a:lstStyle/>
          <a:p>
            <a:pPr lvl="0" eaLnBrk="0" fontAlgn="base" hangingPunct="0">
              <a:spcBef>
                <a:spcPct val="0"/>
              </a:spcBef>
              <a:spcAft>
                <a:spcPct val="0"/>
              </a:spcAft>
              <a:buClrTx/>
            </a:pPr>
            <a:r>
              <a:rPr lang="en-US" altLang="en-US" sz="1100">
                <a:solidFill>
                  <a:schemeClr val="tx1">
                    <a:lumMod val="65000"/>
                    <a:lumOff val="35000"/>
                  </a:schemeClr>
                </a:solidFill>
                <a:latin typeface="+mn-lt"/>
              </a:rPr>
              <a:t>The proposed configuration allows for future optimization if grid conditions change, additional feed-in capacity becomes available, or the site’s energy demand evolves.</a:t>
            </a:r>
          </a:p>
        </p:txBody>
      </p:sp>
      <p:cxnSp>
        <p:nvCxnSpPr>
          <p:cNvPr id="35" name="Straight Connector 50">
            <a:extLst>
              <a:ext uri="{FF2B5EF4-FFF2-40B4-BE49-F238E27FC236}">
                <a16:creationId xmlns:a16="http://schemas.microsoft.com/office/drawing/2014/main" id="{6B024767-B82B-9B91-3AC9-A94EA6E572D3}"/>
              </a:ext>
            </a:extLst>
          </p:cNvPr>
          <p:cNvCxnSpPr>
            <a:cxnSpLocks/>
          </p:cNvCxnSpPr>
          <p:nvPr/>
        </p:nvCxnSpPr>
        <p:spPr>
          <a:xfrm>
            <a:off x="1136773" y="6248267"/>
            <a:ext cx="3406416"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4831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24D68-8A36-7422-E38B-9D1E30E6CAA7}"/>
            </a:ext>
          </a:extLst>
        </p:cNvPr>
        <p:cNvGrpSpPr/>
        <p:nvPr/>
      </p:nvGrpSpPr>
      <p:grpSpPr>
        <a:xfrm>
          <a:off x="0" y="0"/>
          <a:ext cx="0" cy="0"/>
          <a:chOff x="0" y="0"/>
          <a:chExt cx="0" cy="0"/>
        </a:xfrm>
      </p:grpSpPr>
      <p:sp>
        <p:nvSpPr>
          <p:cNvPr id="2" name="Google Shape;250;g3b6bfccb84b_0_395">
            <a:extLst>
              <a:ext uri="{FF2B5EF4-FFF2-40B4-BE49-F238E27FC236}">
                <a16:creationId xmlns:a16="http://schemas.microsoft.com/office/drawing/2014/main" id="{5C35A0AC-7E98-C876-581C-CC3047DB4507}"/>
              </a:ext>
            </a:extLst>
          </p:cNvPr>
          <p:cNvSpPr txBox="1"/>
          <p:nvPr/>
        </p:nvSpPr>
        <p:spPr>
          <a:xfrm>
            <a:off x="574500" y="1420908"/>
            <a:ext cx="10484134" cy="3693278"/>
          </a:xfrm>
          <a:prstGeom prst="rect">
            <a:avLst/>
          </a:prstGeom>
          <a:noFill/>
          <a:ln>
            <a:noFill/>
          </a:ln>
        </p:spPr>
        <p:txBody>
          <a:bodyPr spcFirstLastPara="1" wrap="square" lIns="91425" tIns="45700" rIns="91425" bIns="45700" anchor="t" anchorCtr="0">
            <a:spAutoFit/>
          </a:bodyPr>
          <a:lstStyle/>
          <a:p>
            <a:pPr marL="3175" marR="0" lvl="0" indent="0" algn="l" rtl="0">
              <a:lnSpc>
                <a:spcPct val="100000"/>
              </a:lnSpc>
              <a:spcBef>
                <a:spcPts val="0"/>
              </a:spcBef>
              <a:spcAft>
                <a:spcPts val="0"/>
              </a:spcAft>
              <a:buNone/>
            </a:pPr>
            <a:r>
              <a:rPr lang="en-US" sz="1100" b="1" i="0" u="none" strike="noStrike" cap="none" dirty="0">
                <a:solidFill>
                  <a:schemeClr val="tx1">
                    <a:lumMod val="65000"/>
                    <a:lumOff val="35000"/>
                  </a:schemeClr>
                </a:solidFill>
                <a:latin typeface="+mn-lt"/>
                <a:ea typeface="Poppins Light"/>
                <a:cs typeface="Poppins Light"/>
                <a:sym typeface="Poppins Light"/>
              </a:rPr>
              <a:t>Copyright Notice© </a:t>
            </a:r>
            <a:endParaRPr sz="2400" dirty="0">
              <a:solidFill>
                <a:schemeClr val="tx1">
                  <a:lumMod val="65000"/>
                  <a:lumOff val="35000"/>
                </a:schemeClr>
              </a:solidFill>
              <a:latin typeface="+mn-lt"/>
            </a:endParaRPr>
          </a:p>
          <a:p>
            <a:pPr marL="3175" marR="0" lvl="0" indent="0" algn="l" rtl="0">
              <a:lnSpc>
                <a:spcPct val="100000"/>
              </a:lnSpc>
              <a:spcBef>
                <a:spcPts val="0"/>
              </a:spcBef>
              <a:spcAft>
                <a:spcPts val="0"/>
              </a:spcAft>
              <a:buNone/>
            </a:pPr>
            <a:endParaRPr sz="1100" b="1" i="0" u="none" strike="noStrike" cap="none" dirty="0">
              <a:solidFill>
                <a:schemeClr val="tx1">
                  <a:lumMod val="65000"/>
                  <a:lumOff val="35000"/>
                </a:schemeClr>
              </a:solidFill>
              <a:latin typeface="+mn-lt"/>
              <a:ea typeface="Poppins Light"/>
              <a:cs typeface="Poppins Light"/>
              <a:sym typeface="Poppins Light"/>
            </a:endParaRPr>
          </a:p>
          <a:p>
            <a:pPr marL="3175" marR="0" lvl="0" indent="0" algn="l" rtl="0">
              <a:lnSpc>
                <a:spcPct val="100000"/>
              </a:lnSpc>
              <a:spcBef>
                <a:spcPts val="0"/>
              </a:spcBef>
              <a:spcAft>
                <a:spcPts val="0"/>
              </a:spcAft>
              <a:buNone/>
            </a:pPr>
            <a:r>
              <a:rPr lang="en-US" sz="1100" b="0" i="0" u="none" strike="noStrike" cap="none" dirty="0" err="1">
                <a:solidFill>
                  <a:schemeClr val="tx1">
                    <a:lumMod val="65000"/>
                    <a:lumOff val="35000"/>
                  </a:schemeClr>
                </a:solidFill>
                <a:latin typeface="+mn-lt"/>
                <a:ea typeface="Poppins Light"/>
                <a:cs typeface="Poppins Light"/>
                <a:sym typeface="Poppins Light"/>
              </a:rPr>
              <a:t>bluepeak.energy</a:t>
            </a:r>
            <a:r>
              <a:rPr lang="en-US" sz="1100" b="0" i="0" u="none" strike="noStrike" cap="none" dirty="0">
                <a:solidFill>
                  <a:schemeClr val="tx1">
                    <a:lumMod val="65000"/>
                    <a:lumOff val="35000"/>
                  </a:schemeClr>
                </a:solidFill>
                <a:latin typeface="+mn-lt"/>
                <a:ea typeface="Poppins Light"/>
                <a:cs typeface="Poppins Light"/>
                <a:sym typeface="Poppins Light"/>
              </a:rPr>
              <a:t> B.V. All rights reserved.</a:t>
            </a:r>
            <a:endParaRPr sz="2400" dirty="0">
              <a:solidFill>
                <a:schemeClr val="tx1">
                  <a:lumMod val="65000"/>
                  <a:lumOff val="35000"/>
                </a:schemeClr>
              </a:solidFill>
              <a:latin typeface="+mn-lt"/>
            </a:endParaRPr>
          </a:p>
          <a:p>
            <a:pPr marL="3175" marR="0" lvl="0" indent="0" algn="l" rtl="0">
              <a:lnSpc>
                <a:spcPct val="100000"/>
              </a:lnSpc>
              <a:spcBef>
                <a:spcPts val="0"/>
              </a:spcBef>
              <a:spcAft>
                <a:spcPts val="0"/>
              </a:spcAft>
              <a:buNone/>
            </a:pPr>
            <a:endParaRPr sz="1100" b="0" i="0" u="none" strike="noStrike" cap="none" dirty="0">
              <a:solidFill>
                <a:schemeClr val="tx1">
                  <a:lumMod val="65000"/>
                  <a:lumOff val="35000"/>
                </a:schemeClr>
              </a:solidFill>
              <a:latin typeface="+mn-lt"/>
              <a:ea typeface="Poppins Light"/>
              <a:cs typeface="Poppins Light"/>
              <a:sym typeface="Poppins Light"/>
            </a:endParaRPr>
          </a:p>
          <a:p>
            <a:pPr marL="3175" marR="0" lvl="0" indent="0" algn="l" rtl="0">
              <a:lnSpc>
                <a:spcPct val="100000"/>
              </a:lnSpc>
              <a:spcBef>
                <a:spcPts val="0"/>
              </a:spcBef>
              <a:spcAft>
                <a:spcPts val="0"/>
              </a:spcAft>
              <a:buNone/>
            </a:pPr>
            <a:r>
              <a:rPr lang="en-US" sz="1100" b="0" i="0" u="none" strike="noStrike" cap="none" dirty="0">
                <a:solidFill>
                  <a:schemeClr val="tx1">
                    <a:lumMod val="65000"/>
                    <a:lumOff val="35000"/>
                  </a:schemeClr>
                </a:solidFill>
                <a:latin typeface="+mn-lt"/>
                <a:ea typeface="Poppins Light"/>
                <a:cs typeface="Poppins Light"/>
                <a:sym typeface="Poppins Light"/>
              </a:rPr>
              <a:t>This document and its contents are confidential and proprietary to </a:t>
            </a:r>
            <a:r>
              <a:rPr lang="en-US" sz="1100" b="0" i="0" u="none" strike="noStrike" cap="none" dirty="0" err="1">
                <a:solidFill>
                  <a:schemeClr val="tx1">
                    <a:lumMod val="65000"/>
                    <a:lumOff val="35000"/>
                  </a:schemeClr>
                </a:solidFill>
                <a:latin typeface="+mn-lt"/>
                <a:ea typeface="Poppins Light"/>
                <a:cs typeface="Poppins Light"/>
                <a:sym typeface="Poppins Light"/>
              </a:rPr>
              <a:t>bluepeak.energy</a:t>
            </a:r>
            <a:r>
              <a:rPr lang="en-US" sz="1100" b="0" i="0" u="none" strike="noStrike" cap="none" dirty="0">
                <a:solidFill>
                  <a:schemeClr val="tx1">
                    <a:lumMod val="65000"/>
                    <a:lumOff val="35000"/>
                  </a:schemeClr>
                </a:solidFill>
                <a:latin typeface="+mn-lt"/>
                <a:ea typeface="Poppins Light"/>
                <a:cs typeface="Poppins Light"/>
                <a:sym typeface="Poppins Light"/>
              </a:rPr>
              <a:t> B.V. (“Bluepeak”).No part of this document may be reproduced, distributed, transmitted, or disclosed to third parties, in whole or in part, without the prior written consent of Bluepeak, except as required by law or explicitly agreed otherwise.</a:t>
            </a:r>
            <a:endParaRPr sz="2400" dirty="0">
              <a:solidFill>
                <a:schemeClr val="tx1">
                  <a:lumMod val="65000"/>
                  <a:lumOff val="35000"/>
                </a:schemeClr>
              </a:solidFill>
              <a:latin typeface="+mn-lt"/>
            </a:endParaRPr>
          </a:p>
          <a:p>
            <a:pPr marL="3175" marR="0" lvl="0" indent="0" algn="l" rtl="0">
              <a:lnSpc>
                <a:spcPct val="100000"/>
              </a:lnSpc>
              <a:spcBef>
                <a:spcPts val="0"/>
              </a:spcBef>
              <a:spcAft>
                <a:spcPts val="0"/>
              </a:spcAft>
              <a:buNone/>
            </a:pPr>
            <a:endParaRPr sz="1100" b="1" i="0" u="none" strike="noStrike" cap="none" dirty="0">
              <a:solidFill>
                <a:schemeClr val="tx1">
                  <a:lumMod val="65000"/>
                  <a:lumOff val="35000"/>
                </a:schemeClr>
              </a:solidFill>
              <a:latin typeface="+mn-lt"/>
              <a:ea typeface="Poppins Light"/>
              <a:cs typeface="Poppins Light"/>
              <a:sym typeface="Poppins Light"/>
            </a:endParaRPr>
          </a:p>
          <a:p>
            <a:pPr marL="3175" marR="0" lvl="0" indent="0" algn="l" rtl="0">
              <a:lnSpc>
                <a:spcPct val="100000"/>
              </a:lnSpc>
              <a:spcBef>
                <a:spcPts val="0"/>
              </a:spcBef>
              <a:spcAft>
                <a:spcPts val="0"/>
              </a:spcAft>
              <a:buNone/>
            </a:pPr>
            <a:endParaRPr sz="1100" b="1" i="0" u="none" strike="noStrike" cap="none" dirty="0">
              <a:solidFill>
                <a:schemeClr val="tx1">
                  <a:lumMod val="65000"/>
                  <a:lumOff val="35000"/>
                </a:schemeClr>
              </a:solidFill>
              <a:latin typeface="+mn-lt"/>
              <a:ea typeface="Poppins Light"/>
              <a:cs typeface="Poppins Light"/>
              <a:sym typeface="Poppins Light"/>
            </a:endParaRPr>
          </a:p>
          <a:p>
            <a:pPr marL="3175" marR="0" lvl="0" indent="0" algn="l" rtl="0">
              <a:lnSpc>
                <a:spcPct val="100000"/>
              </a:lnSpc>
              <a:spcBef>
                <a:spcPts val="0"/>
              </a:spcBef>
              <a:spcAft>
                <a:spcPts val="0"/>
              </a:spcAft>
              <a:buNone/>
            </a:pPr>
            <a:r>
              <a:rPr lang="en-US" sz="1100" b="1" i="0" u="none" strike="noStrike" cap="none" dirty="0">
                <a:solidFill>
                  <a:schemeClr val="tx1">
                    <a:lumMod val="65000"/>
                    <a:lumOff val="35000"/>
                  </a:schemeClr>
                </a:solidFill>
                <a:latin typeface="+mn-lt"/>
                <a:ea typeface="Poppins Light"/>
                <a:cs typeface="Poppins Light"/>
                <a:sym typeface="Poppins Light"/>
              </a:rPr>
              <a:t>Disclaimer</a:t>
            </a:r>
            <a:endParaRPr sz="2400" dirty="0">
              <a:solidFill>
                <a:schemeClr val="tx1">
                  <a:lumMod val="65000"/>
                  <a:lumOff val="35000"/>
                </a:schemeClr>
              </a:solidFill>
              <a:latin typeface="+mn-lt"/>
            </a:endParaRPr>
          </a:p>
          <a:p>
            <a:pPr marL="3175" marR="0" lvl="0" indent="0" algn="l" rtl="0">
              <a:lnSpc>
                <a:spcPct val="100000"/>
              </a:lnSpc>
              <a:spcBef>
                <a:spcPts val="0"/>
              </a:spcBef>
              <a:spcAft>
                <a:spcPts val="0"/>
              </a:spcAft>
              <a:buNone/>
            </a:pPr>
            <a:r>
              <a:rPr lang="en-US" sz="1100" b="0" i="0" u="none" strike="noStrike" cap="none" dirty="0">
                <a:solidFill>
                  <a:schemeClr val="tx1">
                    <a:lumMod val="65000"/>
                    <a:lumOff val="35000"/>
                  </a:schemeClr>
                </a:solidFill>
                <a:latin typeface="+mn-lt"/>
                <a:ea typeface="Poppins Light"/>
                <a:cs typeface="Poppins Light"/>
                <a:sym typeface="Poppins Light"/>
              </a:rPr>
              <a:t>This document has been prepared by Bluepeak for informational and advisory purposes only and is based on information made available at the time of preparation. While Bluepeak has exercised reasonable care and professional diligence in the compilation and analysis of the information contained herein, no representation or warranty, express or implied, is made as to the accuracy, completeness, or suitability of the information for any specific purpose.</a:t>
            </a:r>
            <a:endParaRPr sz="2400" dirty="0">
              <a:solidFill>
                <a:schemeClr val="tx1">
                  <a:lumMod val="65000"/>
                  <a:lumOff val="35000"/>
                </a:schemeClr>
              </a:solidFill>
              <a:latin typeface="+mn-lt"/>
            </a:endParaRPr>
          </a:p>
          <a:p>
            <a:pPr marL="3175" marR="0" lvl="0" indent="0" algn="l" rtl="0">
              <a:lnSpc>
                <a:spcPct val="100000"/>
              </a:lnSpc>
              <a:spcBef>
                <a:spcPts val="0"/>
              </a:spcBef>
              <a:spcAft>
                <a:spcPts val="0"/>
              </a:spcAft>
              <a:buNone/>
            </a:pPr>
            <a:endParaRPr sz="1100" b="0" i="0" u="none" strike="noStrike" cap="none" dirty="0">
              <a:solidFill>
                <a:schemeClr val="tx1">
                  <a:lumMod val="65000"/>
                  <a:lumOff val="35000"/>
                </a:schemeClr>
              </a:solidFill>
              <a:latin typeface="+mn-lt"/>
              <a:ea typeface="Poppins Light"/>
              <a:cs typeface="Poppins Light"/>
              <a:sym typeface="Poppins Light"/>
            </a:endParaRPr>
          </a:p>
          <a:p>
            <a:pPr marL="3175" marR="0" lvl="0" indent="0" algn="l" rtl="0">
              <a:lnSpc>
                <a:spcPct val="100000"/>
              </a:lnSpc>
              <a:spcBef>
                <a:spcPts val="0"/>
              </a:spcBef>
              <a:spcAft>
                <a:spcPts val="0"/>
              </a:spcAft>
              <a:buNone/>
            </a:pPr>
            <a:r>
              <a:rPr lang="en-US" sz="1100" b="0" i="0" u="none" strike="noStrike" cap="none" dirty="0">
                <a:solidFill>
                  <a:schemeClr val="tx1">
                    <a:lumMod val="65000"/>
                    <a:lumOff val="35000"/>
                  </a:schemeClr>
                </a:solidFill>
                <a:latin typeface="+mn-lt"/>
                <a:ea typeface="Poppins Light"/>
                <a:cs typeface="Poppins Light"/>
                <a:sym typeface="Poppins Light"/>
              </a:rPr>
              <a:t>The analyses, findings, recommendations, and scenarios presented are indicative and should not be construed as legal, financial, tax, or investment advice. Decisions taken based on this document are the sole responsibility of the recipient. Bluepeak shall not be liable for any direct or indirect loss, damage, or expense arising from the use of, or reliance on, this document or its contents.</a:t>
            </a:r>
            <a:endParaRPr sz="2400" dirty="0">
              <a:solidFill>
                <a:schemeClr val="tx1">
                  <a:lumMod val="65000"/>
                  <a:lumOff val="35000"/>
                </a:schemeClr>
              </a:solidFill>
              <a:latin typeface="+mn-lt"/>
            </a:endParaRPr>
          </a:p>
          <a:p>
            <a:pPr marL="3175" marR="0" lvl="0" indent="0" algn="l" rtl="0">
              <a:lnSpc>
                <a:spcPct val="100000"/>
              </a:lnSpc>
              <a:spcBef>
                <a:spcPts val="0"/>
              </a:spcBef>
              <a:spcAft>
                <a:spcPts val="0"/>
              </a:spcAft>
              <a:buNone/>
            </a:pPr>
            <a:endParaRPr sz="1100" b="0" i="0" u="none" strike="noStrike" cap="none" dirty="0">
              <a:solidFill>
                <a:schemeClr val="tx1">
                  <a:lumMod val="65000"/>
                  <a:lumOff val="35000"/>
                </a:schemeClr>
              </a:solidFill>
              <a:latin typeface="+mn-lt"/>
              <a:ea typeface="Poppins Light"/>
              <a:cs typeface="Poppins Light"/>
              <a:sym typeface="Poppins Light"/>
            </a:endParaRPr>
          </a:p>
          <a:p>
            <a:pPr marL="3175" marR="0" lvl="0" indent="0" algn="l" rtl="0">
              <a:lnSpc>
                <a:spcPct val="100000"/>
              </a:lnSpc>
              <a:spcBef>
                <a:spcPts val="0"/>
              </a:spcBef>
              <a:spcAft>
                <a:spcPts val="0"/>
              </a:spcAft>
              <a:buNone/>
            </a:pPr>
            <a:r>
              <a:rPr lang="en-US" sz="1100" b="0" i="0" u="none" strike="noStrike" cap="none" dirty="0">
                <a:solidFill>
                  <a:schemeClr val="tx1">
                    <a:lumMod val="65000"/>
                    <a:lumOff val="35000"/>
                  </a:schemeClr>
                </a:solidFill>
                <a:latin typeface="+mn-lt"/>
                <a:ea typeface="Poppins Light"/>
                <a:cs typeface="Poppins Light"/>
                <a:sym typeface="Poppins Light"/>
              </a:rPr>
              <a:t>This document does not constitute a binding offer, commitment, or agreement. Any engagement, implementation, or commercial arrangement shall be subject to separate contractual agreements.</a:t>
            </a:r>
            <a:endParaRPr sz="1600" b="1" i="0" u="none" strike="noStrike" cap="none" dirty="0">
              <a:solidFill>
                <a:schemeClr val="tx1">
                  <a:lumMod val="65000"/>
                  <a:lumOff val="35000"/>
                </a:schemeClr>
              </a:solidFill>
              <a:latin typeface="+mn-lt"/>
              <a:ea typeface="Poppins Light"/>
              <a:cs typeface="Poppins Light"/>
              <a:sym typeface="Poppins Light"/>
            </a:endParaRPr>
          </a:p>
        </p:txBody>
      </p:sp>
      <p:sp>
        <p:nvSpPr>
          <p:cNvPr id="3" name="Title 2">
            <a:extLst>
              <a:ext uri="{FF2B5EF4-FFF2-40B4-BE49-F238E27FC236}">
                <a16:creationId xmlns:a16="http://schemas.microsoft.com/office/drawing/2014/main" id="{43C7FE03-E17F-729F-E1AA-8ED1A4EF366B}"/>
              </a:ext>
            </a:extLst>
          </p:cNvPr>
          <p:cNvSpPr>
            <a:spLocks noGrp="1"/>
          </p:cNvSpPr>
          <p:nvPr>
            <p:ph type="title"/>
          </p:nvPr>
        </p:nvSpPr>
        <p:spPr/>
        <p:txBody>
          <a:bodyPr/>
          <a:lstStyle/>
          <a:p>
            <a:r>
              <a:rPr lang="en-US"/>
              <a:t>Disclaimer</a:t>
            </a:r>
          </a:p>
        </p:txBody>
      </p:sp>
    </p:spTree>
    <p:extLst>
      <p:ext uri="{BB962C8B-B14F-4D97-AF65-F5344CB8AC3E}">
        <p14:creationId xmlns:p14="http://schemas.microsoft.com/office/powerpoint/2010/main" val="873740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a:extLst>
            <a:ext uri="{FF2B5EF4-FFF2-40B4-BE49-F238E27FC236}">
              <a16:creationId xmlns:a16="http://schemas.microsoft.com/office/drawing/2014/main" id="{CEF9DF36-191E-E3CE-B678-DABBBC8C9273}"/>
            </a:ext>
          </a:extLst>
        </p:cNvPr>
        <p:cNvGrpSpPr/>
        <p:nvPr/>
      </p:nvGrpSpPr>
      <p:grpSpPr>
        <a:xfrm>
          <a:off x="0" y="0"/>
          <a:ext cx="0" cy="0"/>
          <a:chOff x="0" y="0"/>
          <a:chExt cx="0" cy="0"/>
        </a:xfrm>
      </p:grpSpPr>
      <p:pic>
        <p:nvPicPr>
          <p:cNvPr id="242" name="Google Shape;242;g3b6bfccb84b_0_395">
            <a:extLst>
              <a:ext uri="{FF2B5EF4-FFF2-40B4-BE49-F238E27FC236}">
                <a16:creationId xmlns:a16="http://schemas.microsoft.com/office/drawing/2014/main" id="{ED79F7D7-94F7-E676-17CF-CE190344D1AC}"/>
              </a:ext>
            </a:extLst>
          </p:cNvPr>
          <p:cNvPicPr preferRelativeResize="0"/>
          <p:nvPr/>
        </p:nvPicPr>
        <p:blipFill>
          <a:blip r:embed="rId3">
            <a:alphaModFix/>
          </a:blip>
          <a:srcRect l="20225" r="12638"/>
          <a:stretch>
            <a:fillRect/>
          </a:stretch>
        </p:blipFill>
        <p:spPr>
          <a:xfrm>
            <a:off x="0" y="559"/>
            <a:ext cx="6906011" cy="6857641"/>
          </a:xfrm>
          <a:prstGeom prst="rect">
            <a:avLst/>
          </a:prstGeom>
          <a:noFill/>
          <a:ln>
            <a:noFill/>
          </a:ln>
        </p:spPr>
      </p:pic>
      <p:sp>
        <p:nvSpPr>
          <p:cNvPr id="243" name="Google Shape;243;g3b6bfccb84b_0_395">
            <a:extLst>
              <a:ext uri="{FF2B5EF4-FFF2-40B4-BE49-F238E27FC236}">
                <a16:creationId xmlns:a16="http://schemas.microsoft.com/office/drawing/2014/main" id="{EADEC528-DC51-238D-D554-CA15A18E3C1A}"/>
              </a:ext>
            </a:extLst>
          </p:cNvPr>
          <p:cNvSpPr/>
          <p:nvPr/>
        </p:nvSpPr>
        <p:spPr>
          <a:xfrm>
            <a:off x="2329800" y="0"/>
            <a:ext cx="9862200" cy="6870900"/>
          </a:xfrm>
          <a:prstGeom prst="rect">
            <a:avLst/>
          </a:prstGeom>
          <a:gradFill>
            <a:gsLst>
              <a:gs pos="0">
                <a:srgbClr val="034C81"/>
              </a:gs>
              <a:gs pos="52999">
                <a:srgbClr val="034C81"/>
              </a:gs>
              <a:gs pos="100000">
                <a:srgbClr val="034C81">
                  <a:alpha val="0"/>
                </a:srgbClr>
              </a:gs>
            </a:gsLst>
            <a:lin ang="10800025"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g3b6bfccb84b_0_395">
            <a:extLst>
              <a:ext uri="{FF2B5EF4-FFF2-40B4-BE49-F238E27FC236}">
                <a16:creationId xmlns:a16="http://schemas.microsoft.com/office/drawing/2014/main" id="{CC108FF8-1780-8E73-C813-3938A80F0243}"/>
              </a:ext>
            </a:extLst>
          </p:cNvPr>
          <p:cNvSpPr/>
          <p:nvPr/>
        </p:nvSpPr>
        <p:spPr>
          <a:xfrm>
            <a:off x="7030426" y="3293363"/>
            <a:ext cx="101893" cy="662325"/>
          </a:xfrm>
          <a:prstGeom prst="rect">
            <a:avLst/>
          </a:prstGeom>
          <a:solidFill>
            <a:srgbClr val="1D9E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Light"/>
              <a:ea typeface="Poppins Light"/>
              <a:cs typeface="Poppins Light"/>
              <a:sym typeface="Poppins Light"/>
            </a:endParaRPr>
          </a:p>
        </p:txBody>
      </p:sp>
      <p:grpSp>
        <p:nvGrpSpPr>
          <p:cNvPr id="245" name="Google Shape;245;g3b6bfccb84b_0_395">
            <a:extLst>
              <a:ext uri="{FF2B5EF4-FFF2-40B4-BE49-F238E27FC236}">
                <a16:creationId xmlns:a16="http://schemas.microsoft.com/office/drawing/2014/main" id="{41AE05FD-1393-C702-4000-4061922744E1}"/>
              </a:ext>
            </a:extLst>
          </p:cNvPr>
          <p:cNvGrpSpPr/>
          <p:nvPr/>
        </p:nvGrpSpPr>
        <p:grpSpPr>
          <a:xfrm>
            <a:off x="7381149" y="3293363"/>
            <a:ext cx="4189059" cy="1617816"/>
            <a:chOff x="7541255" y="2865623"/>
            <a:chExt cx="5038792" cy="1096613"/>
          </a:xfrm>
        </p:grpSpPr>
        <p:sp>
          <p:nvSpPr>
            <p:cNvPr id="246" name="Google Shape;246;g3b6bfccb84b_0_395">
              <a:extLst>
                <a:ext uri="{FF2B5EF4-FFF2-40B4-BE49-F238E27FC236}">
                  <a16:creationId xmlns:a16="http://schemas.microsoft.com/office/drawing/2014/main" id="{3CDB1783-3DB2-5741-774D-745BFDAA74E6}"/>
                </a:ext>
              </a:extLst>
            </p:cNvPr>
            <p:cNvSpPr/>
            <p:nvPr/>
          </p:nvSpPr>
          <p:spPr>
            <a:xfrm>
              <a:off x="7541255" y="2865623"/>
              <a:ext cx="5038792" cy="44894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2000" b="1" i="0" u="none" strike="noStrike" cap="none">
                  <a:solidFill>
                    <a:schemeClr val="accent5"/>
                  </a:solidFill>
                  <a:latin typeface="+mj-lt"/>
                  <a:ea typeface="Poppins"/>
                  <a:cs typeface="Poppins"/>
                  <a:sym typeface="Poppins"/>
                </a:rPr>
                <a:t>Let’s reshape energy as a business asset by asset</a:t>
              </a:r>
              <a:endParaRPr sz="2000" b="0" i="0" u="none" strike="noStrike" cap="none">
                <a:solidFill>
                  <a:schemeClr val="accent5"/>
                </a:solidFill>
                <a:latin typeface="+mj-lt"/>
                <a:ea typeface="Poppins"/>
                <a:cs typeface="Poppins"/>
                <a:sym typeface="Poppins"/>
              </a:endParaRPr>
            </a:p>
          </p:txBody>
        </p:sp>
        <p:sp>
          <p:nvSpPr>
            <p:cNvPr id="247" name="Google Shape;247;g3b6bfccb84b_0_395">
              <a:extLst>
                <a:ext uri="{FF2B5EF4-FFF2-40B4-BE49-F238E27FC236}">
                  <a16:creationId xmlns:a16="http://schemas.microsoft.com/office/drawing/2014/main" id="{6EDF981F-8D37-FC6B-3267-ABA0B55ACBA1}"/>
                </a:ext>
              </a:extLst>
            </p:cNvPr>
            <p:cNvSpPr/>
            <p:nvPr/>
          </p:nvSpPr>
          <p:spPr>
            <a:xfrm>
              <a:off x="7541255" y="3439036"/>
              <a:ext cx="3689400" cy="52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FFFFFF"/>
                  </a:solidFill>
                  <a:latin typeface="+mn-lt"/>
                  <a:ea typeface="Poppins"/>
                  <a:cs typeface="Poppins"/>
                  <a:sym typeface="Poppins"/>
                </a:rPr>
                <a:t>Contact</a:t>
              </a:r>
              <a:endParaRPr sz="1400" b="1" i="0" u="none" strike="noStrike" cap="none" dirty="0">
                <a:solidFill>
                  <a:srgbClr val="FFFFFF"/>
                </a:solidFill>
                <a:latin typeface="+mn-lt"/>
                <a:ea typeface="Poppins"/>
                <a:cs typeface="Poppins"/>
                <a:sym typeface="Poppin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FFFF"/>
                  </a:solidFill>
                  <a:latin typeface="+mn-lt"/>
                  <a:ea typeface="Poppins"/>
                  <a:cs typeface="Poppins"/>
                  <a:sym typeface="Poppins"/>
                </a:rPr>
                <a:t>www.bluepeak.energy</a:t>
              </a:r>
              <a:endParaRPr sz="1400" b="0" i="0" u="none" strike="noStrike" cap="none" dirty="0">
                <a:solidFill>
                  <a:srgbClr val="FFFFFF"/>
                </a:solidFill>
                <a:latin typeface="+mn-lt"/>
                <a:ea typeface="Poppins"/>
                <a:cs typeface="Poppins"/>
                <a:sym typeface="Poppin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err="1">
                  <a:solidFill>
                    <a:srgbClr val="FFFFFF"/>
                  </a:solidFill>
                  <a:latin typeface="+mn-lt"/>
                  <a:ea typeface="Poppins"/>
                  <a:cs typeface="Poppins"/>
                  <a:sym typeface="Poppins"/>
                </a:rPr>
                <a:t>info@bluepeak.energy</a:t>
              </a:r>
              <a:endParaRPr sz="1400" b="0" i="0" u="none" strike="noStrike" cap="none" dirty="0">
                <a:solidFill>
                  <a:srgbClr val="FFFFFF"/>
                </a:solidFill>
                <a:latin typeface="+mn-lt"/>
                <a:ea typeface="Poppins"/>
                <a:cs typeface="Poppins"/>
                <a:sym typeface="Poppins"/>
              </a:endParaRPr>
            </a:p>
          </p:txBody>
        </p:sp>
      </p:grpSp>
      <p:pic>
        <p:nvPicPr>
          <p:cNvPr id="248" name="Google Shape;248;g3b6bfccb84b_0_395">
            <a:extLst>
              <a:ext uri="{FF2B5EF4-FFF2-40B4-BE49-F238E27FC236}">
                <a16:creationId xmlns:a16="http://schemas.microsoft.com/office/drawing/2014/main" id="{3AFE4239-5751-F6F3-5100-57E872F23E22}"/>
              </a:ext>
            </a:extLst>
          </p:cNvPr>
          <p:cNvPicPr preferRelativeResize="0"/>
          <p:nvPr/>
        </p:nvPicPr>
        <p:blipFill rotWithShape="1">
          <a:blip r:embed="rId4">
            <a:alphaModFix/>
          </a:blip>
          <a:srcRect/>
          <a:stretch/>
        </p:blipFill>
        <p:spPr>
          <a:xfrm>
            <a:off x="6886554" y="2302457"/>
            <a:ext cx="4361626" cy="662325"/>
          </a:xfrm>
          <a:prstGeom prst="rect">
            <a:avLst/>
          </a:prstGeom>
          <a:gradFill>
            <a:gsLst>
              <a:gs pos="0">
                <a:srgbClr val="034C81"/>
              </a:gs>
              <a:gs pos="64000">
                <a:srgbClr val="034C81"/>
              </a:gs>
              <a:gs pos="89000">
                <a:srgbClr val="034C81">
                  <a:alpha val="16078"/>
                </a:srgbClr>
              </a:gs>
              <a:gs pos="100000">
                <a:srgbClr val="034C81">
                  <a:alpha val="16078"/>
                </a:srgbClr>
              </a:gs>
            </a:gsLst>
            <a:lin ang="0" scaled="0"/>
          </a:gradFill>
          <a:ln>
            <a:noFill/>
          </a:ln>
        </p:spPr>
      </p:pic>
    </p:spTree>
    <p:extLst>
      <p:ext uri="{BB962C8B-B14F-4D97-AF65-F5344CB8AC3E}">
        <p14:creationId xmlns:p14="http://schemas.microsoft.com/office/powerpoint/2010/main" val="2139314760"/>
      </p:ext>
    </p:extLst>
  </p:cSld>
  <p:clrMapOvr>
    <a:masterClrMapping/>
  </p:clrMapOvr>
</p:sld>
</file>

<file path=ppt/theme/theme1.xml><?xml version="1.0" encoding="utf-8"?>
<a:theme xmlns:a="http://schemas.openxmlformats.org/drawingml/2006/main" name="Kantoorthema">
  <a:themeElements>
    <a:clrScheme name="Custom 388">
      <a:dk1>
        <a:srgbClr val="000000"/>
      </a:dk1>
      <a:lt1>
        <a:srgbClr val="FFFFFF"/>
      </a:lt1>
      <a:dk2>
        <a:srgbClr val="000000"/>
      </a:dk2>
      <a:lt2>
        <a:srgbClr val="FFFFFF"/>
      </a:lt2>
      <a:accent1>
        <a:srgbClr val="034C81"/>
      </a:accent1>
      <a:accent2>
        <a:srgbClr val="034C81"/>
      </a:accent2>
      <a:accent3>
        <a:srgbClr val="3280AB"/>
      </a:accent3>
      <a:accent4>
        <a:srgbClr val="3280AB"/>
      </a:accent4>
      <a:accent5>
        <a:srgbClr val="89C3DE"/>
      </a:accent5>
      <a:accent6>
        <a:srgbClr val="89C3DE"/>
      </a:accent6>
      <a:hlink>
        <a:srgbClr val="034C81"/>
      </a:hlink>
      <a:folHlink>
        <a:srgbClr val="034C81"/>
      </a:folHlink>
    </a:clrScheme>
    <a:fontScheme name="Custom 33">
      <a:majorFont>
        <a:latin typeface="Poppins"/>
        <a:ea typeface=""/>
        <a:cs typeface=""/>
      </a:majorFont>
      <a:minorFont>
        <a:latin typeface="Poppi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260224 Bluepeak template reports" id="{0018656C-E97D-4D82-B891-FFFC744EF2D2}" vid="{4F81DBD0-F7D1-406D-BB60-642F5B4601FC}"/>
    </a:ext>
  </a:extLst>
</a:theme>
</file>

<file path=ppt/theme/theme2.xml><?xml version="1.0" encoding="utf-8"?>
<a:theme xmlns:a="http://schemas.openxmlformats.org/drawingml/2006/main" name="Office Theme">
  <a:themeElements>
    <a:clrScheme name="Office">
      <a:dk1>
        <a:srgbClr val="000000"/>
      </a:dk1>
      <a:lt1>
        <a:srgbClr val="FFFFFF"/>
      </a:lt1>
      <a:dk2>
        <a:srgbClr val="000000"/>
      </a:dk2>
      <a:lt2>
        <a:srgbClr val="FFFFFF"/>
      </a:lt2>
      <a:accent1>
        <a:srgbClr val="034C81"/>
      </a:accent1>
      <a:accent2>
        <a:srgbClr val="034C81"/>
      </a:accent2>
      <a:accent3>
        <a:srgbClr val="3280AB"/>
      </a:accent3>
      <a:accent4>
        <a:srgbClr val="3280AB"/>
      </a:accent4>
      <a:accent5>
        <a:srgbClr val="89C3DE"/>
      </a:accent5>
      <a:accent6>
        <a:srgbClr val="89C3DE"/>
      </a:accent6>
      <a:hlink>
        <a:srgbClr val="034C81"/>
      </a:hlink>
      <a:folHlink>
        <a:srgbClr val="034C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6A6225E-2504-4AF9-9D81-7BB95A3169D0}">
  <we:reference id="WA200010001" version="1.0.0.1" store="en-us" storeType="omex"/>
  <we:alternateReferences>
    <we:reference id="WA200010001" version="1.0.0.1" store="en-us" storeType="omex"/>
  </we:alternateReferences>
  <we:properties/>
  <we:bindings/>
  <we:snapshot xmlns:r="http://schemas.openxmlformats.org/officeDocument/2006/relationships"/>
  <we:extLst>
    <a:ext xmlns:a="http://schemas.openxmlformats.org/drawingml/2006/main" uri="{0858819E-0033-43BF-8937-05EC82904868}">
      <we:backgroundApp state="0" runtimeId="Taskpane.Url"/>
    </a:ext>
  </we:extLst>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F8B6BCFD8F154396971D6A8E21DCFA" ma:contentTypeVersion="12" ma:contentTypeDescription="Een nieuw document maken." ma:contentTypeScope="" ma:versionID="45a0cd0acbe3706e36220a12ff11cb6f">
  <xsd:schema xmlns:xsd="http://www.w3.org/2001/XMLSchema" xmlns:xs="http://www.w3.org/2001/XMLSchema" xmlns:p="http://schemas.microsoft.com/office/2006/metadata/properties" xmlns:ns2="c7fc2f2d-1b56-42d4-94df-eb6e917a5e38" xmlns:ns3="786f1374-e74c-4cc1-b043-c59cf2a02f8c" targetNamespace="http://schemas.microsoft.com/office/2006/metadata/properties" ma:root="true" ma:fieldsID="d3f306a11c5e415b1efc72e1b6c8a327" ns2:_="" ns3:_="">
    <xsd:import namespace="c7fc2f2d-1b56-42d4-94df-eb6e917a5e38"/>
    <xsd:import namespace="786f1374-e74c-4cc1-b043-c59cf2a02f8c"/>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fc2f2d-1b56-42d4-94df-eb6e917a5e38"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15" nillable="true" ma:displayName="Taxonomy Catch All Column" ma:hidden="true" ma:list="{e056180d-2a19-4854-942a-9f0aa2fff52f}" ma:internalName="TaxCatchAll" ma:showField="CatchAllData" ma:web="c7fc2f2d-1b56-42d4-94df-eb6e917a5e3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86f1374-e74c-4cc1-b043-c59cf2a02f8c"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Afbeeldingtags" ma:readOnly="false" ma:fieldId="{5cf76f15-5ced-4ddc-b409-7134ff3c332f}" ma:taxonomyMulti="true" ma:sspId="c25a6d81-1944-4a83-bd1f-15d55f768ad0"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86f1374-e74c-4cc1-b043-c59cf2a02f8c">
      <Terms xmlns="http://schemas.microsoft.com/office/infopath/2007/PartnerControls"/>
    </lcf76f155ced4ddcb4097134ff3c332f>
    <TaxCatchAll xmlns="c7fc2f2d-1b56-42d4-94df-eb6e917a5e38" xsi:nil="true"/>
  </documentManagement>
</p:properties>
</file>

<file path=customXml/itemProps1.xml><?xml version="1.0" encoding="utf-8"?>
<ds:datastoreItem xmlns:ds="http://schemas.openxmlformats.org/officeDocument/2006/customXml" ds:itemID="{6FC88373-5146-482B-9380-24EA7615899E}"/>
</file>

<file path=customXml/itemProps2.xml><?xml version="1.0" encoding="utf-8"?>
<ds:datastoreItem xmlns:ds="http://schemas.openxmlformats.org/officeDocument/2006/customXml" ds:itemID="{9DFA812A-368B-4DFE-91B5-15477C6E8F61}">
  <ds:schemaRefs>
    <ds:schemaRef ds:uri="http://schemas.microsoft.com/sharepoint/v3/contenttype/forms"/>
  </ds:schemaRefs>
</ds:datastoreItem>
</file>

<file path=customXml/itemProps3.xml><?xml version="1.0" encoding="utf-8"?>
<ds:datastoreItem xmlns:ds="http://schemas.openxmlformats.org/officeDocument/2006/customXml" ds:itemID="{E5C113A9-A2FA-426D-BE80-1F72F89751F7}">
  <ds:schemaRefs>
    <ds:schemaRef ds:uri="786f1374-e74c-4cc1-b043-c59cf2a02f8c"/>
    <ds:schemaRef ds:uri="c7fc2f2d-1b56-42d4-94df-eb6e917a5e3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defa4170-0d19-0005-0004-bc88714345d2}" enabled="1" method="Standard" siteId="{290abf79-c003-4cdb-b278-78150e370e45}" removed="0"/>
</clbl:labelList>
</file>

<file path=docProps/app.xml><?xml version="1.0" encoding="utf-8"?>
<Properties xmlns="http://schemas.openxmlformats.org/officeDocument/2006/extended-properties" xmlns:vt="http://schemas.openxmlformats.org/officeDocument/2006/docPropsVTypes">
  <Template/>
  <TotalTime>2</TotalTime>
  <Words>2935</Words>
  <Application>Microsoft Office PowerPoint</Application>
  <PresentationFormat>Widescreen</PresentationFormat>
  <Paragraphs>252</Paragraphs>
  <Slides>14</Slides>
  <Notes>13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Kantoorthema</vt:lpstr>
      <vt:lpstr>PowerPoint Presentation</vt:lpstr>
      <vt:lpstr>Executive Summary</vt:lpstr>
      <vt:lpstr>Assignment</vt:lpstr>
      <vt:lpstr>Assignment</vt:lpstr>
      <vt:lpstr>Case description</vt:lpstr>
      <vt:lpstr>Scenario 1: Solution 1 with [X] profile</vt:lpstr>
      <vt:lpstr>Scenario 1: Solution 1 observations</vt:lpstr>
      <vt:lpstr>Scenario 2: Solution 1 with [X] profile</vt:lpstr>
      <vt:lpstr>Scenario 2: Solution 2 observations</vt:lpstr>
      <vt:lpstr>Scenario 3: Solution 2 with [Y] profile</vt:lpstr>
      <vt:lpstr>Scenario 3: Solution 2 observations</vt:lpstr>
      <vt:lpstr> Remarks and appendices</vt:lpstr>
      <vt:lpstr>Disclaimer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Komal</dc:creator>
  <cp:lastModifiedBy>Joost Haverkamp</cp:lastModifiedBy>
  <cp:revision>79</cp:revision>
  <dcterms:modified xsi:type="dcterms:W3CDTF">2026-03-26T14:30:42Z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0x01010092F8B6BCFD8F154396971D6A8E21DCFA</vt:lpwstr>
  </property>
  <property fmtid="{D5CDD505-2E9C-101B-9397-08002B2CF9AE}" pid="3" name="MediaServiceImageTags">
    <vt:lpwstr/>
  </property>
</Properties>
</file>